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72" r:id="rId4"/>
    <p:sldId id="273" r:id="rId5"/>
    <p:sldId id="258" r:id="rId6"/>
    <p:sldId id="259" r:id="rId7"/>
    <p:sldId id="275" r:id="rId8"/>
    <p:sldId id="260" r:id="rId9"/>
    <p:sldId id="261" r:id="rId10"/>
    <p:sldId id="262" r:id="rId11"/>
    <p:sldId id="263" r:id="rId12"/>
    <p:sldId id="264" r:id="rId13"/>
    <p:sldId id="265" r:id="rId14"/>
    <p:sldId id="266" r:id="rId15"/>
    <p:sldId id="267" r:id="rId16"/>
    <p:sldId id="276" r:id="rId17"/>
    <p:sldId id="268" r:id="rId18"/>
    <p:sldId id="269" r:id="rId19"/>
    <p:sldId id="270" r:id="rId20"/>
    <p:sldId id="271" r:id="rId21"/>
    <p:sldId id="274"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A378D"/>
    <a:srgbClr val="FF0600"/>
    <a:srgbClr val="FFC7C2"/>
    <a:srgbClr val="3A6BC7"/>
    <a:srgbClr val="03BFC4"/>
    <a:srgbClr val="EAD7FF"/>
    <a:srgbClr val="BD95ED"/>
    <a:srgbClr val="FF887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364"/>
    <p:restoredTop sz="94610"/>
  </p:normalViewPr>
  <p:slideViewPr>
    <p:cSldViewPr snapToGrid="0" snapToObjects="1">
      <p:cViewPr>
        <p:scale>
          <a:sx n="61" d="100"/>
          <a:sy n="61" d="100"/>
        </p:scale>
        <p:origin x="1248" y="16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5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Classes</c:v>
                </c:pt>
              </c:strCache>
            </c:strRef>
          </c:tx>
          <c:dPt>
            <c:idx val="0"/>
            <c:bubble3D val="0"/>
            <c:spPr>
              <a:solidFill>
                <a:schemeClr val="accent1"/>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1-E850-F944-8C3F-8FD45C9CBC07}"/>
              </c:ext>
            </c:extLst>
          </c:dPt>
          <c:dPt>
            <c:idx val="1"/>
            <c:bubble3D val="0"/>
            <c:spPr>
              <a:solidFill>
                <a:schemeClr val="accent2"/>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3-E850-F944-8C3F-8FD45C9CBC07}"/>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Sheet1!$A$2:$A$3</c:f>
              <c:strCache>
                <c:ptCount val="2"/>
                <c:pt idx="0">
                  <c:v>Guard</c:v>
                </c:pt>
                <c:pt idx="1">
                  <c:v>NonGuard</c:v>
                </c:pt>
              </c:strCache>
            </c:strRef>
          </c:cat>
          <c:val>
            <c:numRef>
              <c:f>Sheet1!$B$2:$B$3</c:f>
              <c:numCache>
                <c:formatCode>General</c:formatCode>
                <c:ptCount val="2"/>
                <c:pt idx="0">
                  <c:v>373</c:v>
                </c:pt>
                <c:pt idx="1">
                  <c:v>227</c:v>
                </c:pt>
              </c:numCache>
            </c:numRef>
          </c:val>
          <c:extLst>
            <c:ext xmlns:c16="http://schemas.microsoft.com/office/drawing/2014/chart" uri="{C3380CC4-5D6E-409C-BE32-E72D297353CC}">
              <c16:uniqueId val="{00000004-E850-F944-8C3F-8FD45C9CBC07}"/>
            </c:ext>
          </c:extLst>
        </c:ser>
        <c:dLbls>
          <c:showLegendKey val="0"/>
          <c:showVal val="0"/>
          <c:showCatName val="0"/>
          <c:showSerName val="0"/>
          <c:showPercent val="1"/>
          <c:showBubbleSize val="0"/>
          <c:showLeaderLines val="1"/>
        </c:dLbls>
      </c:pie3DChart>
      <c:spPr>
        <a:noFill/>
        <a:ln>
          <a:solidFill>
            <a:schemeClr val="tx1"/>
          </a:solid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span"/>
    <c:showDLblsOverMax val="1"/>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57150" cap="flat" cmpd="sng" algn="ctr">
      <a:solidFill>
        <a:schemeClr val="tx1"/>
      </a:solid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7"/>
    </mc:Choice>
    <mc:Fallback>
      <c:style val="7"/>
    </mc:Fallback>
  </mc:AlternateContent>
  <c:chart>
    <c:title>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Test accuracy</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Lbl>
              <c:idx val="0"/>
              <c:tx>
                <c:rich>
                  <a:bodyPr/>
                  <a:lstStyle/>
                  <a:p>
                    <a:fld id="{2B3A76D8-C80F-994F-9532-CCEF0D0550E2}" type="VALUE">
                      <a:rPr lang="en-US" smtClean="0"/>
                      <a:pPr/>
                      <a:t>[VALUE]</a:t>
                    </a:fld>
                    <a:r>
                      <a:rPr lang="en-US"/>
                      <a:t>.08</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E09A-204C-BB50-6F6FAE6B5E9B}"/>
                </c:ext>
              </c:extLst>
            </c:dLbl>
            <c:dLbl>
              <c:idx val="1"/>
              <c:tx>
                <c:rich>
                  <a:bodyPr/>
                  <a:lstStyle/>
                  <a:p>
                    <a:r>
                      <a:rPr lang="en-US" sz="1200" b="0" i="0" u="none" strike="noStrike" baseline="0" dirty="0"/>
                      <a:t>89.92</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E09A-204C-BB50-6F6FAE6B5E9B}"/>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KNN</c:v>
                </c:pt>
                <c:pt idx="1">
                  <c:v>SVM</c:v>
                </c:pt>
              </c:strCache>
            </c:strRef>
          </c:cat>
          <c:val>
            <c:numRef>
              <c:f>Sheet1!$B$2:$B$3</c:f>
              <c:numCache>
                <c:formatCode>General</c:formatCode>
                <c:ptCount val="2"/>
                <c:pt idx="0">
                  <c:v>89.08</c:v>
                </c:pt>
                <c:pt idx="1">
                  <c:v>89.92</c:v>
                </c:pt>
              </c:numCache>
            </c:numRef>
          </c:val>
          <c:extLst>
            <c:ext xmlns:c16="http://schemas.microsoft.com/office/drawing/2014/chart" uri="{C3380CC4-5D6E-409C-BE32-E72D297353CC}">
              <c16:uniqueId val="{00000000-E09A-204C-BB50-6F6FAE6B5E9B}"/>
            </c:ext>
          </c:extLst>
        </c:ser>
        <c:dLbls>
          <c:showLegendKey val="0"/>
          <c:showVal val="1"/>
          <c:showCatName val="0"/>
          <c:showSerName val="0"/>
          <c:showPercent val="0"/>
          <c:showBubbleSize val="0"/>
        </c:dLbls>
        <c:gapWidth val="115"/>
        <c:overlap val="-20"/>
        <c:axId val="2094734554"/>
        <c:axId val="2094734552"/>
      </c:barChart>
      <c:catAx>
        <c:axId val="2094734554"/>
        <c:scaling>
          <c:orientation val="minMax"/>
        </c:scaling>
        <c:delete val="0"/>
        <c:axPos val="l"/>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2094734552"/>
        <c:crosses val="autoZero"/>
        <c:auto val="1"/>
        <c:lblAlgn val="ctr"/>
        <c:lblOffset val="100"/>
        <c:noMultiLvlLbl val="1"/>
      </c:catAx>
      <c:valAx>
        <c:axId val="2094734552"/>
        <c:scaling>
          <c:orientation val="minMax"/>
          <c:max val="92"/>
          <c:min val="80"/>
        </c:scaling>
        <c:delete val="0"/>
        <c:axPos val="b"/>
        <c:majorGridlines>
          <c:spPr>
            <a:ln w="9525" cap="flat" cmpd="sng" algn="ctr">
              <a:solidFill>
                <a:schemeClr val="lt1">
                  <a:lumMod val="95000"/>
                  <a:alpha val="10000"/>
                </a:schemeClr>
              </a:solidFill>
              <a:round/>
            </a:ln>
            <a:effectLst/>
          </c:spPr>
        </c:majorGridlines>
        <c:numFmt formatCode="General" sourceLinked="0"/>
        <c:majorTickMark val="none"/>
        <c:minorTickMark val="none"/>
        <c:tickLblPos val="low"/>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209473455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legend>
    <c:plotVisOnly val="1"/>
    <c:dispBlanksAs val="span"/>
    <c:showDLblsOverMax val="1"/>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Silhouette</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Lbl>
              <c:idx val="0"/>
              <c:tx>
                <c:rich>
                  <a:bodyPr/>
                  <a:lstStyle/>
                  <a:p>
                    <a:r>
                      <a:rPr lang="en-US" dirty="0"/>
                      <a:t>0.174</a:t>
                    </a:r>
                  </a:p>
                </c:rich>
              </c:tx>
              <c:showLegendKey val="0"/>
              <c:showVal val="1"/>
              <c:showCatName val="0"/>
              <c:showSerName val="0"/>
              <c:showPercent val="0"/>
              <c:showBubbleSize val="0"/>
              <c:separator>, </c:separator>
              <c:extLst>
                <c:ext xmlns:c15="http://schemas.microsoft.com/office/drawing/2012/chart" uri="{CE6537A1-D6FC-4f65-9D91-7224C49458BB}">
                  <c15:showDataLabelsRange val="0"/>
                </c:ext>
                <c:ext xmlns:c16="http://schemas.microsoft.com/office/drawing/2014/chart" uri="{C3380CC4-5D6E-409C-BE32-E72D297353CC}">
                  <c16:uniqueId val="{00000001-F434-5545-934E-4253CC53F301}"/>
                </c:ext>
              </c:extLst>
            </c:dLbl>
            <c:dLbl>
              <c:idx val="1"/>
              <c:tx>
                <c:rich>
                  <a:bodyPr/>
                  <a:lstStyle/>
                  <a:p>
                    <a:fld id="{B0185BA8-907E-A24F-AEF1-DE3EEF8D8028}" type="VALUE">
                      <a:rPr lang="en-US" smtClean="0"/>
                      <a:pPr/>
                      <a:t>[VALUE]</a:t>
                    </a:fld>
                    <a:r>
                      <a:rPr lang="en-US"/>
                      <a:t>.208</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F434-5545-934E-4253CC53F301}"/>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K-means</c:v>
                </c:pt>
                <c:pt idx="1">
                  <c:v>Hierarchical</c:v>
                </c:pt>
              </c:strCache>
            </c:strRef>
          </c:cat>
          <c:val>
            <c:numRef>
              <c:f>Sheet1!$B$2:$B$3</c:f>
              <c:numCache>
                <c:formatCode>General</c:formatCode>
                <c:ptCount val="2"/>
                <c:pt idx="0">
                  <c:v>0.17399999999999999</c:v>
                </c:pt>
                <c:pt idx="1">
                  <c:v>0.20799999999999999</c:v>
                </c:pt>
              </c:numCache>
            </c:numRef>
          </c:val>
          <c:extLst>
            <c:ext xmlns:c16="http://schemas.microsoft.com/office/drawing/2014/chart" uri="{C3380CC4-5D6E-409C-BE32-E72D297353CC}">
              <c16:uniqueId val="{00000000-F434-5545-934E-4253CC53F301}"/>
            </c:ext>
          </c:extLst>
        </c:ser>
        <c:dLbls>
          <c:showLegendKey val="0"/>
          <c:showVal val="1"/>
          <c:showCatName val="0"/>
          <c:showSerName val="0"/>
          <c:showPercent val="0"/>
          <c:showBubbleSize val="0"/>
        </c:dLbls>
        <c:gapWidth val="115"/>
        <c:overlap val="-20"/>
        <c:axId val="2094734554"/>
        <c:axId val="2094734552"/>
      </c:barChart>
      <c:catAx>
        <c:axId val="2094734554"/>
        <c:scaling>
          <c:orientation val="minMax"/>
        </c:scaling>
        <c:delete val="0"/>
        <c:axPos val="l"/>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2094734552"/>
        <c:crosses val="autoZero"/>
        <c:auto val="1"/>
        <c:lblAlgn val="ctr"/>
        <c:lblOffset val="100"/>
        <c:noMultiLvlLbl val="1"/>
      </c:catAx>
      <c:valAx>
        <c:axId val="2094734552"/>
        <c:scaling>
          <c:orientation val="minMax"/>
          <c:max val="0.25"/>
          <c:min val="0"/>
        </c:scaling>
        <c:delete val="0"/>
        <c:axPos val="b"/>
        <c:majorGridlines>
          <c:spPr>
            <a:ln w="9525" cap="flat" cmpd="sng" algn="ctr">
              <a:solidFill>
                <a:schemeClr val="lt1">
                  <a:lumMod val="95000"/>
                  <a:alpha val="10000"/>
                </a:schemeClr>
              </a:solidFill>
              <a:round/>
            </a:ln>
            <a:effectLst/>
          </c:spPr>
        </c:majorGridlines>
        <c:numFmt formatCode="General" sourceLinked="0"/>
        <c:majorTickMark val="none"/>
        <c:minorTickMark val="none"/>
        <c:tickLblPos val="low"/>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2094734554"/>
        <c:crosses val="autoZero"/>
        <c:crossBetween val="between"/>
      </c:valAx>
      <c:spPr>
        <a:noFill/>
        <a:ln>
          <a:noFill/>
        </a:ln>
        <a:effectLst/>
      </c:spPr>
    </c:plotArea>
    <c:plotVisOnly val="1"/>
    <c:dispBlanksAs val="span"/>
    <c:showDLblsOverMax val="1"/>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Reversed" id="25">
  <a:schemeClr val="accent5"/>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22">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222">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64588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introducing the project: this is a basketball analytics project using NBA player-season data. The main goal is to see whether player statistics can predict whether a player is a guard or non-guard, and then to compare that with unsupervised clustering. Mention that the talk covers the question, data, models, results, and conclusions.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central research question. Stress that the response variable is GuardClass, a binary label: guard versus non-guard. The unsupervised clustering does not define a second response variable; it complements the question by asking whether similar statistical profiles naturally form groups consistent with those labels.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1E870-E9D1-D325-06DF-9D6220F898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77E654-224D-F3DF-CE10-C00F68BD34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AB057F-C940-890F-05A8-7859DE230AD0}"/>
              </a:ext>
            </a:extLst>
          </p:cNvPr>
          <p:cNvSpPr>
            <a:spLocks noGrp="1"/>
          </p:cNvSpPr>
          <p:nvPr>
            <p:ph type="body" idx="1"/>
          </p:nvPr>
        </p:nvSpPr>
        <p:spPr/>
        <p:txBody>
          <a:bodyPr/>
          <a:lstStyle/>
          <a:p>
            <a:r>
              <a:rPr lang="en-US" dirty="0"/>
              <a:t>Explain the central research question. Stress that the response variable is GuardClass, a binary label: guard versus non-guard. The unsupervised clustering does not define a second response variable; it complements the question by asking whether similar statistical profiles naturally form groups consistent with those labels.</a:t>
            </a:r>
          </a:p>
        </p:txBody>
      </p:sp>
      <p:sp>
        <p:nvSpPr>
          <p:cNvPr id="4" name="Slide Number Placeholder 3">
            <a:extLst>
              <a:ext uri="{FF2B5EF4-FFF2-40B4-BE49-F238E27FC236}">
                <a16:creationId xmlns:a16="http://schemas.microsoft.com/office/drawing/2014/main" id="{32021EA6-6DD0-EE51-ACE7-7F8CEAB395B9}"/>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7937548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F9A4E-51A3-162C-80CC-B5BA401812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8F9B05-E6CC-4D25-9593-5A75DB911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D59A17-CAB6-582B-2BF5-9E8D1DF1564A}"/>
              </a:ext>
            </a:extLst>
          </p:cNvPr>
          <p:cNvSpPr>
            <a:spLocks noGrp="1"/>
          </p:cNvSpPr>
          <p:nvPr>
            <p:ph type="body" idx="1"/>
          </p:nvPr>
        </p:nvSpPr>
        <p:spPr/>
        <p:txBody>
          <a:bodyPr/>
          <a:lstStyle/>
          <a:p>
            <a:r>
              <a:rPr lang="en-US" dirty="0"/>
              <a:t>Explain the central research question. Stress that the response variable is GuardClass, a binary label: guard versus non-guard. The unsupervised clustering does not define a second response variable; it complements the question by asking whether similar statistical profiles naturally form groups consistent with those labels.</a:t>
            </a:r>
          </a:p>
        </p:txBody>
      </p:sp>
      <p:sp>
        <p:nvSpPr>
          <p:cNvPr id="4" name="Slide Number Placeholder 3">
            <a:extLst>
              <a:ext uri="{FF2B5EF4-FFF2-40B4-BE49-F238E27FC236}">
                <a16:creationId xmlns:a16="http://schemas.microsoft.com/office/drawing/2014/main" id="{232D0D6F-72EC-D306-7076-05527E4F1DB3}"/>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4016037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dataset. Each row is one NBA player-season. The class balance is not perfectly equal but is reasonable: 373 guards and 227 non-guards. Mention that positions like G-F or F-G were treated as guards because they include a guard role.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preprocessing was important for fair model comparison. Distance-based methods can be distorted when predictors have different scales. The missing values in 3P% were not treated as data errors; they occurred because some players did not attempt threes, so replacing with 0 was a reasonable basketball interpretation.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D0696-6C53-6F7C-C5C7-9329F82DA3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38F308-CD34-6336-3D59-82F6E9BB59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F879B3-3268-0857-A92C-0918C92E9C1F}"/>
              </a:ext>
            </a:extLst>
          </p:cNvPr>
          <p:cNvSpPr>
            <a:spLocks noGrp="1"/>
          </p:cNvSpPr>
          <p:nvPr>
            <p:ph type="body" idx="1"/>
          </p:nvPr>
        </p:nvSpPr>
        <p:spPr/>
        <p:txBody>
          <a:bodyPr/>
          <a:lstStyle/>
          <a:p>
            <a:r>
              <a:rPr lang="en-US" dirty="0"/>
              <a:t>Walk through the dataset. Each row is one NBA player-season. The class balance is not perfectly equal but is reasonable: 373 guards and 227 non-guards. Mention that positions like G-F or F-G were treated as guards because they include a guard role.</a:t>
            </a:r>
          </a:p>
        </p:txBody>
      </p:sp>
      <p:sp>
        <p:nvSpPr>
          <p:cNvPr id="4" name="Slide Number Placeholder 3">
            <a:extLst>
              <a:ext uri="{FF2B5EF4-FFF2-40B4-BE49-F238E27FC236}">
                <a16:creationId xmlns:a16="http://schemas.microsoft.com/office/drawing/2014/main" id="{25DE82F7-0F19-7293-68BD-0D1EDB5EF339}"/>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9734660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the road map of the analysis. KNN and SVM answer the direct prediction question. K-means and hierarchical clustering check whether the data naturally forms groups similar to position labels. Point out that both approaches use the same cleaned, scaled numeric data.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KNN in simple terms. The model compares each test observation to nearby training observations. Accuracy was evaluated for K values 1 through 25. Although K equals 1 also performed well, K equals 5 was selected because it gives the same top accuracy while being more stable.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SVM as the model that tries to draw a boundary between guards and non-guards. The RBF kernel allowed a curved, non-linear boundary. The best tuning values were cost 10 and gamma 0.1, and the test accuracy was 89.92 percent, slightly higher than KNN.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supervised result slide. Both models classify well, but SVM is the winner by a small margin. Mention that the models are not perfect, but around 90 percent test accuracy is respectable and answers the main research question strongly.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from supervised learning to clustering. Clustering does not use the labels to form groups. Instead, it looks for similarity among numeric player profiles. The main evaluation metric is silhouette, and after clustering the groups were compared to GuardClass as external labels.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K-means found two clusters. The clusters roughly correspond to positional role, but not perfectly. Cluster 1 contains many guards, while cluster 2 contains more non-guards. The silhouette score is low, which means the clustering separation is weak compared with the supervised classification performance.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average linkage had the best silhouette score among hierarchical settings. However, the cluster distribution is not ideal: one large mixed cluster and one tiny guard-only cluster. This supports the conclusion that the data has weak natural separation even though supervised prediction works well.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summarize the unsupervised side. The key point is that clustering does not separate players as cleanly as supervised classification. This is important: the model can predict positions, but the positions are not naturally separated into clean clusters.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8C158-FFBB-AD22-F0EB-A0B48BA915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6DE780-6297-D94A-C0A3-3F063A0ACC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CCB132-4805-78F5-95F8-BEF3D25801D7}"/>
              </a:ext>
            </a:extLst>
          </p:cNvPr>
          <p:cNvSpPr>
            <a:spLocks noGrp="1"/>
          </p:cNvSpPr>
          <p:nvPr>
            <p:ph type="body" idx="1"/>
          </p:nvPr>
        </p:nvSpPr>
        <p:spPr/>
        <p:txBody>
          <a:bodyPr/>
          <a:lstStyle/>
          <a:p>
            <a:r>
              <a:rPr lang="en-US" dirty="0"/>
              <a:t>Explain the central research question. Stress that the response variable is GuardClass, a binary label: guard versus non-guard. The unsupervised clustering does not define a second response variable; it complements the question by asking whether similar statistical profiles naturally form groups consistent with those labels.</a:t>
            </a:r>
          </a:p>
        </p:txBody>
      </p:sp>
      <p:sp>
        <p:nvSpPr>
          <p:cNvPr id="4" name="Slide Number Placeholder 3">
            <a:extLst>
              <a:ext uri="{FF2B5EF4-FFF2-40B4-BE49-F238E27FC236}">
                <a16:creationId xmlns:a16="http://schemas.microsoft.com/office/drawing/2014/main" id="{83847BB8-2BAE-8BB6-DAEA-970FE6FAB0D7}"/>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1267089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final full-data model required by the project instructions. The SVM summary reports 382 support vectors. Emphasize the caution: the 100 percent full-data result is not the main performance claim. The key generalization estimate is the test accuracy of about 90 percent.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limitations honestly. The strongest limitation is that modern basketball positions overlap. A player can have guard skills and forward size, or forward position with guard-like playmaking. That helps explain why supervised classification works but clustering is weak.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current project satisfies the course methods, but there are ways to improve it. More features could add context, while feature selection could make the model less redundant. Alternative clustering methods may handle the overlap in modern player roles better.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directly answering the research question. The supervised models, especially SVM, show that position can be predicted well from statistics. The clustering results add nuance: even though labels can be predicted, natural role groups are not perfectly separated because modern basketball positions overlap. Then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28652-B2F7-E7FA-5D5D-87D0B2F128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276AA4-04E3-C6D3-2F9B-9994F93DD4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F1BBA1-6290-7D7E-2773-B0EA351EEFD6}"/>
              </a:ext>
            </a:extLst>
          </p:cNvPr>
          <p:cNvSpPr>
            <a:spLocks noGrp="1"/>
          </p:cNvSpPr>
          <p:nvPr>
            <p:ph type="body" idx="1"/>
          </p:nvPr>
        </p:nvSpPr>
        <p:spPr/>
        <p:txBody>
          <a:bodyPr/>
          <a:lstStyle/>
          <a:p>
            <a:r>
              <a:rPr lang="en-US" dirty="0"/>
              <a:t>Discuss limitations honestly. The strongest limitation is that modern basketball positions overlap. A player can have guard skills and forward size, or forward position with guard-like playmaking. That helps explain why supervised classification works but clustering is weak.</a:t>
            </a:r>
          </a:p>
        </p:txBody>
      </p:sp>
      <p:sp>
        <p:nvSpPr>
          <p:cNvPr id="4" name="Slide Number Placeholder 3">
            <a:extLst>
              <a:ext uri="{FF2B5EF4-FFF2-40B4-BE49-F238E27FC236}">
                <a16:creationId xmlns:a16="http://schemas.microsoft.com/office/drawing/2014/main" id="{ECC2F291-D704-147D-100C-C790FC8CA4BD}"/>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9877683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hyperlink" Target="https://www.facebook.com/groups/205905269249138/posts/762309966941996/" TargetMode="External"/><Relationship Id="rId7" Type="http://schemas.openxmlformats.org/officeDocument/2006/relationships/hyperlink" Target="https://www.sports-reference.com/stathead/basketball/player-season-finder.cgi?request=1&amp;order_by=pts_per_poss_75&amp;year_min=1982&amp;year_max=2026&amp;display_type=per_poss_75&amp;ccomp%5B1%5D=gt&amp;cval%5B1%5D=42&amp;cstat%5B1%5D=games\"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hyperlink" Target="https://kritikalsolutions.com/wp-content/uploads/2024/02/image-4.png" TargetMode="External"/><Relationship Id="rId5" Type="http://schemas.openxmlformats.org/officeDocument/2006/relationships/hyperlink" Target="https://medium.com/learning-data/why-feature-scaling-is-essential-in-machine-learning-dfd6e7e51671" TargetMode="External"/><Relationship Id="rId4" Type="http://schemas.openxmlformats.org/officeDocument/2006/relationships/hyperlink" Target="https://uniqrenders.com/athletes/basketball/demar-derozan-sacramento-kings-nba-usa-american-basketball-players-7359"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F2A900"/>
          </a:solidFill>
          <a:ln w="12700">
            <a:solidFill>
              <a:srgbClr val="F2A900">
                <a:alpha val="0"/>
              </a:srgbClr>
            </a:solidFill>
            <a:prstDash val="solid"/>
          </a:ln>
        </p:spPr>
        <p:txBody>
          <a:bodyPr/>
          <a:lstStyle/>
          <a:p>
            <a:endParaRPr lang="en-US"/>
          </a:p>
        </p:txBody>
      </p:sp>
      <p:sp>
        <p:nvSpPr>
          <p:cNvPr id="3" name="Shape 1"/>
          <p:cNvSpPr/>
          <p:nvPr/>
        </p:nvSpPr>
        <p:spPr>
          <a:xfrm>
            <a:off x="0" y="6812280"/>
            <a:ext cx="12191695" cy="45720"/>
          </a:xfrm>
          <a:prstGeom prst="rect">
            <a:avLst/>
          </a:prstGeom>
          <a:solidFill>
            <a:srgbClr val="F2A900"/>
          </a:solidFill>
          <a:ln w="12700">
            <a:solidFill>
              <a:srgbClr val="F2A900">
                <a:alpha val="0"/>
              </a:srgbClr>
            </a:solidFill>
            <a:prstDash val="solid"/>
          </a:ln>
        </p:spPr>
        <p:txBody>
          <a:bodyPr/>
          <a:lstStyle/>
          <a:p>
            <a:endParaRPr lang="en-US"/>
          </a:p>
        </p:txBody>
      </p:sp>
      <p:sp>
        <p:nvSpPr>
          <p:cNvPr id="4" name="Text 2"/>
          <p:cNvSpPr/>
          <p:nvPr/>
        </p:nvSpPr>
        <p:spPr>
          <a:xfrm>
            <a:off x="640080" y="868680"/>
            <a:ext cx="7498080" cy="1097280"/>
          </a:xfrm>
          <a:prstGeom prst="rect">
            <a:avLst/>
          </a:prstGeom>
          <a:noFill/>
          <a:ln/>
        </p:spPr>
        <p:txBody>
          <a:bodyPr wrap="square" lIns="0" tIns="0" rIns="0" bIns="0" rtlCol="0" anchor="ctr">
            <a:normAutofit fontScale="92500" lnSpcReduction="10000"/>
          </a:bodyPr>
          <a:lstStyle/>
          <a:p>
            <a:pPr marL="0" indent="0">
              <a:buNone/>
            </a:pPr>
            <a:r>
              <a:rPr lang="en-US" sz="4000" b="1" dirty="0">
                <a:solidFill>
                  <a:schemeClr val="bg1"/>
                </a:solidFill>
              </a:rPr>
              <a:t>Predicting NBA Player</a:t>
            </a:r>
            <a:endParaRPr lang="en-US" sz="4000" dirty="0">
              <a:solidFill>
                <a:schemeClr val="bg1"/>
              </a:solidFill>
            </a:endParaRPr>
          </a:p>
          <a:p>
            <a:r>
              <a:rPr lang="en-US" sz="4000" b="1" dirty="0">
                <a:solidFill>
                  <a:schemeClr val="bg1"/>
                </a:solidFill>
              </a:rPr>
              <a:t>Positions </a:t>
            </a:r>
            <a:r>
              <a:rPr lang="en-US" sz="4000" dirty="0">
                <a:solidFill>
                  <a:schemeClr val="bg1"/>
                </a:solidFill>
              </a:rPr>
              <a:t>Using Statistical Profiles</a:t>
            </a:r>
          </a:p>
        </p:txBody>
      </p:sp>
      <p:sp>
        <p:nvSpPr>
          <p:cNvPr id="5" name="Text 3"/>
          <p:cNvSpPr/>
          <p:nvPr/>
        </p:nvSpPr>
        <p:spPr>
          <a:xfrm>
            <a:off x="658368" y="2057400"/>
            <a:ext cx="7498080" cy="320040"/>
          </a:xfrm>
          <a:prstGeom prst="rect">
            <a:avLst/>
          </a:prstGeom>
          <a:noFill/>
          <a:ln/>
        </p:spPr>
        <p:txBody>
          <a:bodyPr wrap="square" lIns="0" tIns="0" rIns="0" bIns="0" rtlCol="0" anchor="ctr"/>
          <a:lstStyle/>
          <a:p>
            <a:pPr marL="0" indent="0">
              <a:buNone/>
            </a:pPr>
            <a:r>
              <a:rPr lang="en-US" sz="1500" dirty="0">
                <a:solidFill>
                  <a:srgbClr val="D7E7F7"/>
                </a:solidFill>
              </a:rPr>
              <a:t>Using per-75 possession statistical profiles, KNN, SVM, K-means, and hierarchical clustering</a:t>
            </a:r>
            <a:endParaRPr lang="en-US" sz="1500" dirty="0"/>
          </a:p>
        </p:txBody>
      </p:sp>
      <p:sp>
        <p:nvSpPr>
          <p:cNvPr id="6" name="Shape 4"/>
          <p:cNvSpPr/>
          <p:nvPr/>
        </p:nvSpPr>
        <p:spPr>
          <a:xfrm>
            <a:off x="667512" y="2514600"/>
            <a:ext cx="3749040" cy="0"/>
          </a:xfrm>
          <a:prstGeom prst="line">
            <a:avLst/>
          </a:prstGeom>
          <a:noFill/>
          <a:ln w="38100">
            <a:solidFill>
              <a:srgbClr val="F2A900"/>
            </a:solidFill>
            <a:prstDash val="solid"/>
          </a:ln>
        </p:spPr>
        <p:txBody>
          <a:bodyPr/>
          <a:lstStyle/>
          <a:p>
            <a:endParaRPr lang="en-US"/>
          </a:p>
        </p:txBody>
      </p:sp>
      <p:sp>
        <p:nvSpPr>
          <p:cNvPr id="7" name="Text 5"/>
          <p:cNvSpPr/>
          <p:nvPr/>
        </p:nvSpPr>
        <p:spPr>
          <a:xfrm>
            <a:off x="685800" y="4800600"/>
            <a:ext cx="5029200" cy="274320"/>
          </a:xfrm>
          <a:prstGeom prst="rect">
            <a:avLst/>
          </a:prstGeom>
          <a:noFill/>
          <a:ln/>
        </p:spPr>
        <p:txBody>
          <a:bodyPr wrap="square" lIns="0" tIns="0" rIns="0" bIns="0" rtlCol="0" anchor="ctr"/>
          <a:lstStyle/>
          <a:p>
            <a:pPr marL="0" indent="0">
              <a:buNone/>
            </a:pPr>
            <a:r>
              <a:rPr lang="en-US" sz="1500" b="1" dirty="0">
                <a:solidFill>
                  <a:srgbClr val="FFFFFF"/>
                </a:solidFill>
              </a:rPr>
              <a:t>MATH 4323 Final Project</a:t>
            </a:r>
            <a:endParaRPr lang="en-US" sz="1500" dirty="0"/>
          </a:p>
        </p:txBody>
      </p:sp>
      <p:sp>
        <p:nvSpPr>
          <p:cNvPr id="8" name="Text 6"/>
          <p:cNvSpPr/>
          <p:nvPr/>
        </p:nvSpPr>
        <p:spPr>
          <a:xfrm>
            <a:off x="685800" y="5166360"/>
            <a:ext cx="5029200" cy="1005838"/>
          </a:xfrm>
          <a:prstGeom prst="rect">
            <a:avLst/>
          </a:prstGeom>
          <a:noFill/>
          <a:ln/>
        </p:spPr>
        <p:txBody>
          <a:bodyPr wrap="square" lIns="0" tIns="0" rIns="0" bIns="0" rtlCol="0" anchor="ctr"/>
          <a:lstStyle/>
          <a:p>
            <a:pPr marL="0" indent="0">
              <a:buNone/>
            </a:pPr>
            <a:r>
              <a:rPr lang="en-US" sz="1250" dirty="0">
                <a:solidFill>
                  <a:srgbClr val="D7E7F7"/>
                </a:solidFill>
              </a:rPr>
              <a:t>Waleed </a:t>
            </a:r>
            <a:r>
              <a:rPr lang="en-US" sz="1250" dirty="0" err="1">
                <a:solidFill>
                  <a:srgbClr val="D7E7F7"/>
                </a:solidFill>
              </a:rPr>
              <a:t>Farrakh</a:t>
            </a:r>
            <a:endParaRPr lang="en-US" sz="1250" dirty="0">
              <a:solidFill>
                <a:srgbClr val="D7E7F7"/>
              </a:solidFill>
            </a:endParaRPr>
          </a:p>
          <a:p>
            <a:pPr marL="0" indent="0">
              <a:buNone/>
            </a:pPr>
            <a:r>
              <a:rPr lang="en-US" sz="1250" dirty="0">
                <a:solidFill>
                  <a:srgbClr val="D7E7F7"/>
                </a:solidFill>
              </a:rPr>
              <a:t>Sultan Sadiq</a:t>
            </a:r>
          </a:p>
          <a:p>
            <a:pPr marL="0" indent="0">
              <a:buNone/>
            </a:pPr>
            <a:r>
              <a:rPr lang="en-US" sz="1250" dirty="0">
                <a:solidFill>
                  <a:srgbClr val="D7E7F7"/>
                </a:solidFill>
              </a:rPr>
              <a:t>Lillee Garza</a:t>
            </a:r>
          </a:p>
          <a:p>
            <a:pPr marL="0" indent="0">
              <a:buNone/>
            </a:pPr>
            <a:endParaRPr lang="en-US" sz="1250" dirty="0"/>
          </a:p>
        </p:txBody>
      </p:sp>
      <p:sp>
        <p:nvSpPr>
          <p:cNvPr id="9" name="Text 7"/>
          <p:cNvSpPr/>
          <p:nvPr/>
        </p:nvSpPr>
        <p:spPr>
          <a:xfrm>
            <a:off x="9262334" y="512334"/>
            <a:ext cx="1920240" cy="685800"/>
          </a:xfrm>
          <a:prstGeom prst="rect">
            <a:avLst/>
          </a:prstGeom>
          <a:noFill/>
          <a:ln/>
        </p:spPr>
        <p:txBody>
          <a:bodyPr wrap="square" lIns="0" tIns="0" rIns="0" bIns="0" rtlCol="0" anchor="ctr"/>
          <a:lstStyle/>
          <a:p>
            <a:pPr marL="0" indent="0" algn="ctr">
              <a:buNone/>
            </a:pPr>
            <a:r>
              <a:rPr lang="en-US" sz="7200" b="1" dirty="0">
                <a:solidFill>
                  <a:srgbClr val="F2A900"/>
                </a:solidFill>
              </a:rPr>
              <a:t>NBA</a:t>
            </a:r>
            <a:endParaRPr lang="en-US" sz="7200" dirty="0"/>
          </a:p>
        </p:txBody>
      </p:sp>
      <p:sp>
        <p:nvSpPr>
          <p:cNvPr id="10" name="Text 8"/>
          <p:cNvSpPr/>
          <p:nvPr/>
        </p:nvSpPr>
        <p:spPr>
          <a:xfrm>
            <a:off x="9445214" y="1243854"/>
            <a:ext cx="1645920" cy="274320"/>
          </a:xfrm>
          <a:prstGeom prst="rect">
            <a:avLst/>
          </a:prstGeom>
          <a:noFill/>
          <a:ln/>
        </p:spPr>
        <p:txBody>
          <a:bodyPr wrap="square" lIns="0" tIns="0" rIns="0" bIns="0" rtlCol="0" anchor="ctr"/>
          <a:lstStyle/>
          <a:p>
            <a:pPr marL="0" indent="0" algn="ctr">
              <a:buNone/>
            </a:pPr>
            <a:r>
              <a:rPr lang="en-US" sz="2400" dirty="0">
                <a:solidFill>
                  <a:srgbClr val="FFFFFF"/>
                </a:solidFill>
              </a:rPr>
              <a:t>analytics</a:t>
            </a:r>
            <a:endParaRPr lang="en-US" sz="2400" dirty="0"/>
          </a:p>
        </p:txBody>
      </p:sp>
      <p:sp>
        <p:nvSpPr>
          <p:cNvPr id="12" name="Text 9"/>
          <p:cNvSpPr/>
          <p:nvPr/>
        </p:nvSpPr>
        <p:spPr>
          <a:xfrm>
            <a:off x="11475720" y="6519672"/>
            <a:ext cx="320040" cy="182880"/>
          </a:xfrm>
          <a:prstGeom prst="rect">
            <a:avLst/>
          </a:prstGeom>
          <a:noFill/>
          <a:ln/>
        </p:spPr>
        <p:txBody>
          <a:bodyPr wrap="square" lIns="0" tIns="0" rIns="0" bIns="0" rtlCol="0" anchor="ctr"/>
          <a:lstStyle/>
          <a:p>
            <a:pPr marL="0" indent="0" algn="r">
              <a:buNone/>
            </a:pPr>
            <a:r>
              <a:rPr lang="en-US" sz="800" dirty="0">
                <a:solidFill>
                  <a:srgbClr val="4B5563"/>
                </a:solidFill>
              </a:rPr>
              <a:t>1</a:t>
            </a:r>
            <a:endParaRPr lang="en-US" sz="800" dirty="0"/>
          </a:p>
        </p:txBody>
      </p:sp>
      <p:pic>
        <p:nvPicPr>
          <p:cNvPr id="14" name="Picture 13">
            <a:extLst>
              <a:ext uri="{FF2B5EF4-FFF2-40B4-BE49-F238E27FC236}">
                <a16:creationId xmlns:a16="http://schemas.microsoft.com/office/drawing/2014/main" id="{9F83D8BA-3013-1676-3609-886274EE8764}"/>
              </a:ext>
            </a:extLst>
          </p:cNvPr>
          <p:cNvPicPr>
            <a:picLocks noChangeAspect="1"/>
          </p:cNvPicPr>
          <p:nvPr/>
        </p:nvPicPr>
        <p:blipFill>
          <a:blip r:embed="rId3"/>
          <a:stretch>
            <a:fillRect/>
          </a:stretch>
        </p:blipFill>
        <p:spPr>
          <a:xfrm>
            <a:off x="7200900" y="1259989"/>
            <a:ext cx="5552292" cy="5552292"/>
          </a:xfrm>
          <a:prstGeom prst="rect">
            <a:avLst/>
          </a:prstGeom>
        </p:spPr>
      </p:pic>
      <p:pic>
        <p:nvPicPr>
          <p:cNvPr id="18" name="Picture 17">
            <a:extLst>
              <a:ext uri="{FF2B5EF4-FFF2-40B4-BE49-F238E27FC236}">
                <a16:creationId xmlns:a16="http://schemas.microsoft.com/office/drawing/2014/main" id="{E57A76FE-FD50-6828-CC23-4FDA005DF46A}"/>
              </a:ext>
            </a:extLst>
          </p:cNvPr>
          <p:cNvPicPr>
            <a:picLocks noChangeAspect="1"/>
          </p:cNvPicPr>
          <p:nvPr/>
        </p:nvPicPr>
        <p:blipFill>
          <a:blip r:embed="rId4"/>
          <a:stretch>
            <a:fillRect/>
          </a:stretch>
        </p:blipFill>
        <p:spPr>
          <a:xfrm>
            <a:off x="3943242" y="2499003"/>
            <a:ext cx="4305209" cy="430520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7030A0"/>
          </a:solidFill>
          <a:ln w="12700">
            <a:solidFill>
              <a:srgbClr val="F2A900">
                <a:alpha val="0"/>
              </a:srgbClr>
            </a:solidFill>
            <a:prstDash val="solid"/>
          </a:ln>
        </p:spPr>
        <p:txBody>
          <a:bodyPr/>
          <a:lstStyle/>
          <a:p>
            <a:endParaRPr lang="en-US"/>
          </a:p>
        </p:txBody>
      </p:sp>
      <p:sp>
        <p:nvSpPr>
          <p:cNvPr id="3" name="Shape 1"/>
          <p:cNvSpPr/>
          <p:nvPr/>
        </p:nvSpPr>
        <p:spPr>
          <a:xfrm>
            <a:off x="0" y="6812280"/>
            <a:ext cx="12191695" cy="45720"/>
          </a:xfrm>
          <a:prstGeom prst="rect">
            <a:avLst/>
          </a:prstGeom>
          <a:solidFill>
            <a:srgbClr val="0B1F3A"/>
          </a:solidFill>
          <a:ln w="12700">
            <a:solidFill>
              <a:srgbClr val="0B1F3A">
                <a:alpha val="0"/>
              </a:srgbClr>
            </a:solidFill>
            <a:prstDash val="solid"/>
          </a:ln>
        </p:spPr>
        <p:txBody>
          <a:bodyPr/>
          <a:lstStyle/>
          <a:p>
            <a:endParaRPr lang="en-US"/>
          </a:p>
        </p:txBody>
      </p:sp>
      <p:sp>
        <p:nvSpPr>
          <p:cNvPr id="4" name="Text 2"/>
          <p:cNvSpPr/>
          <p:nvPr/>
        </p:nvSpPr>
        <p:spPr>
          <a:xfrm>
            <a:off x="502920" y="347472"/>
            <a:ext cx="8138160" cy="457200"/>
          </a:xfrm>
          <a:prstGeom prst="rect">
            <a:avLst/>
          </a:prstGeom>
          <a:noFill/>
          <a:ln/>
        </p:spPr>
        <p:txBody>
          <a:bodyPr wrap="square" lIns="0" tIns="0" rIns="0" bIns="0" rtlCol="0" anchor="ctr"/>
          <a:lstStyle/>
          <a:p>
            <a:pPr marL="0" indent="0">
              <a:buNone/>
            </a:pPr>
            <a:r>
              <a:rPr lang="en-US" sz="2700" b="1" dirty="0">
                <a:solidFill>
                  <a:srgbClr val="0B1F3A"/>
                </a:solidFill>
                <a:latin typeface="Aptos Display" pitchFamily="34" charset="0"/>
                <a:ea typeface="Aptos Display" pitchFamily="34" charset="-122"/>
                <a:cs typeface="Aptos Display" pitchFamily="34" charset="-120"/>
              </a:rPr>
              <a:t>Project question &amp; storyline</a:t>
            </a:r>
            <a:endParaRPr lang="en-US" sz="2700" dirty="0"/>
          </a:p>
        </p:txBody>
      </p:sp>
      <p:sp>
        <p:nvSpPr>
          <p:cNvPr id="5" name="Text 3"/>
          <p:cNvSpPr/>
          <p:nvPr/>
        </p:nvSpPr>
        <p:spPr>
          <a:xfrm>
            <a:off x="521208" y="832104"/>
            <a:ext cx="8503920" cy="274320"/>
          </a:xfrm>
          <a:prstGeom prst="rect">
            <a:avLst/>
          </a:prstGeom>
          <a:noFill/>
          <a:ln/>
        </p:spPr>
        <p:txBody>
          <a:bodyPr wrap="square" lIns="0" tIns="0" rIns="0" bIns="0" rtlCol="0" anchor="ctr"/>
          <a:lstStyle/>
          <a:p>
            <a:pPr marL="0" indent="0">
              <a:buNone/>
            </a:pPr>
            <a:r>
              <a:rPr lang="en-US" sz="1250" dirty="0">
                <a:solidFill>
                  <a:srgbClr val="4B5563"/>
                </a:solidFill>
              </a:rPr>
              <a:t>What we tried to learn from player statistics</a:t>
            </a:r>
            <a:endParaRPr lang="en-US" sz="1250" dirty="0"/>
          </a:p>
        </p:txBody>
      </p:sp>
      <p:sp>
        <p:nvSpPr>
          <p:cNvPr id="6" name="Text 4"/>
          <p:cNvSpPr/>
          <p:nvPr/>
        </p:nvSpPr>
        <p:spPr>
          <a:xfrm>
            <a:off x="521208" y="1376172"/>
            <a:ext cx="3461273" cy="484632"/>
          </a:xfrm>
          <a:prstGeom prst="rect">
            <a:avLst/>
          </a:prstGeom>
          <a:noFill/>
          <a:ln/>
        </p:spPr>
        <p:txBody>
          <a:bodyPr wrap="square" lIns="0" tIns="0" rIns="0" bIns="0" rtlCol="0" anchor="ctr"/>
          <a:lstStyle/>
          <a:p>
            <a:pPr marL="0" indent="0">
              <a:buNone/>
            </a:pPr>
            <a:r>
              <a:rPr lang="en-US" sz="2000" b="1" dirty="0">
                <a:solidFill>
                  <a:srgbClr val="7030A0"/>
                </a:solidFill>
              </a:rPr>
              <a:t>RESEARCH QUESTION</a:t>
            </a:r>
            <a:endParaRPr lang="en-US" sz="2000" dirty="0">
              <a:solidFill>
                <a:srgbClr val="7030A0"/>
              </a:solidFill>
            </a:endParaRPr>
          </a:p>
        </p:txBody>
      </p:sp>
      <p:sp>
        <p:nvSpPr>
          <p:cNvPr id="7" name="Text 5"/>
          <p:cNvSpPr/>
          <p:nvPr/>
        </p:nvSpPr>
        <p:spPr>
          <a:xfrm>
            <a:off x="502920" y="1579820"/>
            <a:ext cx="6583680" cy="2871216"/>
          </a:xfrm>
          <a:prstGeom prst="rect">
            <a:avLst/>
          </a:prstGeom>
          <a:noFill/>
          <a:ln/>
        </p:spPr>
        <p:txBody>
          <a:bodyPr wrap="square" lIns="254" tIns="254" rIns="254" bIns="254" rtlCol="0" anchor="ctr">
            <a:noAutofit/>
          </a:bodyPr>
          <a:lstStyle/>
          <a:p>
            <a:pPr marL="0" indent="0">
              <a:buNone/>
            </a:pPr>
            <a:r>
              <a:rPr lang="en-US" sz="3600" b="1" dirty="0">
                <a:solidFill>
                  <a:srgbClr val="0B1F3A"/>
                </a:solidFill>
              </a:rPr>
              <a:t>Can NBA player statistical profiles accurately predict whether a player is a guard or non-guard?</a:t>
            </a:r>
            <a:endParaRPr lang="en-US" sz="3600" dirty="0"/>
          </a:p>
        </p:txBody>
      </p:sp>
      <p:sp>
        <p:nvSpPr>
          <p:cNvPr id="8" name="Text 6"/>
          <p:cNvSpPr/>
          <p:nvPr/>
        </p:nvSpPr>
        <p:spPr>
          <a:xfrm>
            <a:off x="4830010" y="4304101"/>
            <a:ext cx="4375674" cy="484632"/>
          </a:xfrm>
          <a:prstGeom prst="rect">
            <a:avLst/>
          </a:prstGeom>
          <a:noFill/>
          <a:ln/>
        </p:spPr>
        <p:txBody>
          <a:bodyPr wrap="square" lIns="0" tIns="0" rIns="0" bIns="0" rtlCol="0" anchor="ctr"/>
          <a:lstStyle/>
          <a:p>
            <a:pPr marL="0" indent="0">
              <a:buNone/>
            </a:pPr>
            <a:r>
              <a:rPr lang="en-US" sz="2000" b="1" dirty="0">
                <a:solidFill>
                  <a:srgbClr val="7030A0"/>
                </a:solidFill>
              </a:rPr>
              <a:t>Secondary Question:</a:t>
            </a:r>
            <a:endParaRPr lang="en-US" sz="2000" dirty="0">
              <a:solidFill>
                <a:srgbClr val="7030A0"/>
              </a:solidFill>
            </a:endParaRPr>
          </a:p>
        </p:txBody>
      </p:sp>
      <p:sp>
        <p:nvSpPr>
          <p:cNvPr id="9" name="Text 7"/>
          <p:cNvSpPr/>
          <p:nvPr/>
        </p:nvSpPr>
        <p:spPr>
          <a:xfrm>
            <a:off x="4830010" y="4965192"/>
            <a:ext cx="3931920" cy="1554480"/>
          </a:xfrm>
          <a:prstGeom prst="rect">
            <a:avLst/>
          </a:prstGeom>
          <a:noFill/>
          <a:ln/>
        </p:spPr>
        <p:txBody>
          <a:bodyPr wrap="square" lIns="762" tIns="762" rIns="762" bIns="762" rtlCol="0" anchor="t">
            <a:normAutofit/>
          </a:bodyPr>
          <a:lstStyle/>
          <a:p>
            <a:r>
              <a:rPr lang="en-US" sz="2400" dirty="0"/>
              <a:t>Do players naturally group into clusters based on their statistical profiles?</a:t>
            </a:r>
          </a:p>
        </p:txBody>
      </p:sp>
      <p:sp>
        <p:nvSpPr>
          <p:cNvPr id="14" name="Text 11"/>
          <p:cNvSpPr/>
          <p:nvPr/>
        </p:nvSpPr>
        <p:spPr>
          <a:xfrm>
            <a:off x="11475720" y="6519672"/>
            <a:ext cx="320040" cy="182880"/>
          </a:xfrm>
          <a:prstGeom prst="rect">
            <a:avLst/>
          </a:prstGeom>
          <a:noFill/>
          <a:ln/>
        </p:spPr>
        <p:txBody>
          <a:bodyPr wrap="square" lIns="0" tIns="0" rIns="0" bIns="0" rtlCol="0" anchor="ctr"/>
          <a:lstStyle/>
          <a:p>
            <a:pPr marL="0" indent="0" algn="r">
              <a:buNone/>
            </a:pPr>
            <a:r>
              <a:rPr lang="en-US" sz="800" dirty="0">
                <a:solidFill>
                  <a:srgbClr val="4B5563"/>
                </a:solidFill>
              </a:rPr>
              <a:t>2</a:t>
            </a:r>
            <a:endParaRPr lang="en-US" sz="800" dirty="0"/>
          </a:p>
        </p:txBody>
      </p:sp>
      <p:pic>
        <p:nvPicPr>
          <p:cNvPr id="16" name="Picture 15">
            <a:extLst>
              <a:ext uri="{FF2B5EF4-FFF2-40B4-BE49-F238E27FC236}">
                <a16:creationId xmlns:a16="http://schemas.microsoft.com/office/drawing/2014/main" id="{FFFE7F2A-67A0-F480-4AA7-1FF8A6DDADE0}"/>
              </a:ext>
            </a:extLst>
          </p:cNvPr>
          <p:cNvPicPr>
            <a:picLocks noChangeAspect="1"/>
          </p:cNvPicPr>
          <p:nvPr/>
        </p:nvPicPr>
        <p:blipFill>
          <a:blip r:embed="rId3"/>
          <a:stretch>
            <a:fillRect/>
          </a:stretch>
        </p:blipFill>
        <p:spPr>
          <a:xfrm>
            <a:off x="7802883" y="471790"/>
            <a:ext cx="4263019" cy="6340490"/>
          </a:xfrm>
          <a:prstGeom prst="rect">
            <a:avLst/>
          </a:prstGeom>
        </p:spPr>
      </p:pic>
      <p:pic>
        <p:nvPicPr>
          <p:cNvPr id="17" name="Picture 16" descr="No photo description available.">
            <a:extLst>
              <a:ext uri="{FF2B5EF4-FFF2-40B4-BE49-F238E27FC236}">
                <a16:creationId xmlns:a16="http://schemas.microsoft.com/office/drawing/2014/main" id="{DDC25AB9-183C-BE9E-4A8B-FF928239CA7D}"/>
              </a:ext>
            </a:extLst>
          </p:cNvPr>
          <p:cNvPicPr>
            <a:picLocks noChangeAspect="1"/>
          </p:cNvPicPr>
          <p:nvPr/>
        </p:nvPicPr>
        <p:blipFill>
          <a:blip r:embed="rId4"/>
          <a:stretch>
            <a:fillRect/>
          </a:stretch>
        </p:blipFill>
        <p:spPr>
          <a:xfrm>
            <a:off x="732329" y="4311127"/>
            <a:ext cx="3381398" cy="225426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outerShdw blurRad="50800" dist="50800" dir="5400000" algn="ctr" rotWithShape="0">
              <a:schemeClr val="accent1">
                <a:alpha val="37805"/>
              </a:scheme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0000">
            <a:alpha val="7000"/>
          </a:srgbClr>
        </a:solidFill>
        <a:effectLst/>
      </p:bgPr>
    </p:bg>
    <p:spTree>
      <p:nvGrpSpPr>
        <p:cNvPr id="1" name="">
          <a:extLst>
            <a:ext uri="{FF2B5EF4-FFF2-40B4-BE49-F238E27FC236}">
              <a16:creationId xmlns:a16="http://schemas.microsoft.com/office/drawing/2014/main" id="{392CD416-1FBD-5F13-A217-C7F866FB59C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3ADE31D-085F-B5A8-7E6A-CE0F3800CE68}"/>
              </a:ext>
            </a:extLst>
          </p:cNvPr>
          <p:cNvSpPr/>
          <p:nvPr/>
        </p:nvSpPr>
        <p:spPr>
          <a:xfrm>
            <a:off x="-2" y="-8630"/>
            <a:ext cx="12191695" cy="109728"/>
          </a:xfrm>
          <a:prstGeom prst="rect">
            <a:avLst/>
          </a:prstGeom>
          <a:solidFill>
            <a:srgbClr val="FF887E"/>
          </a:solidFill>
          <a:ln w="12700">
            <a:solidFill>
              <a:srgbClr val="F2A900">
                <a:alpha val="0"/>
              </a:srgbClr>
            </a:solidFill>
            <a:prstDash val="solid"/>
          </a:ln>
        </p:spPr>
        <p:txBody>
          <a:bodyPr/>
          <a:lstStyle/>
          <a:p>
            <a:endParaRPr lang="en-US"/>
          </a:p>
        </p:txBody>
      </p:sp>
      <p:sp>
        <p:nvSpPr>
          <p:cNvPr id="3" name="Shape 1">
            <a:extLst>
              <a:ext uri="{FF2B5EF4-FFF2-40B4-BE49-F238E27FC236}">
                <a16:creationId xmlns:a16="http://schemas.microsoft.com/office/drawing/2014/main" id="{57E8BEF4-7C42-025D-C622-178AA0D14986}"/>
              </a:ext>
            </a:extLst>
          </p:cNvPr>
          <p:cNvSpPr/>
          <p:nvPr/>
        </p:nvSpPr>
        <p:spPr>
          <a:xfrm>
            <a:off x="-1" y="6812280"/>
            <a:ext cx="12191695" cy="45720"/>
          </a:xfrm>
          <a:prstGeom prst="rect">
            <a:avLst/>
          </a:prstGeom>
          <a:solidFill>
            <a:srgbClr val="0B1F3A"/>
          </a:solidFill>
          <a:ln w="12700">
            <a:solidFill>
              <a:srgbClr val="0B1F3A">
                <a:alpha val="0"/>
              </a:srgbClr>
            </a:solidFill>
            <a:prstDash val="solid"/>
          </a:ln>
        </p:spPr>
        <p:txBody>
          <a:bodyPr/>
          <a:lstStyle/>
          <a:p>
            <a:endParaRPr lang="en-US"/>
          </a:p>
        </p:txBody>
      </p:sp>
      <p:sp>
        <p:nvSpPr>
          <p:cNvPr id="4" name="Text 2">
            <a:extLst>
              <a:ext uri="{FF2B5EF4-FFF2-40B4-BE49-F238E27FC236}">
                <a16:creationId xmlns:a16="http://schemas.microsoft.com/office/drawing/2014/main" id="{7E2D4950-4FBA-254C-BE36-7B2E685BD77A}"/>
              </a:ext>
            </a:extLst>
          </p:cNvPr>
          <p:cNvSpPr/>
          <p:nvPr/>
        </p:nvSpPr>
        <p:spPr>
          <a:xfrm>
            <a:off x="502920" y="251192"/>
            <a:ext cx="8138160" cy="457200"/>
          </a:xfrm>
          <a:prstGeom prst="rect">
            <a:avLst/>
          </a:prstGeom>
          <a:noFill/>
          <a:ln/>
        </p:spPr>
        <p:txBody>
          <a:bodyPr wrap="square" lIns="0" tIns="0" rIns="0" bIns="0" rtlCol="0" anchor="ctr"/>
          <a:lstStyle/>
          <a:p>
            <a:r>
              <a:rPr lang="en-US" sz="2800" b="1" dirty="0">
                <a:latin typeface="+mj-lt"/>
              </a:rPr>
              <a:t>Rationale for PER 75</a:t>
            </a:r>
            <a:endParaRPr lang="en-US" sz="2700" b="1" dirty="0">
              <a:latin typeface="+mj-lt"/>
            </a:endParaRPr>
          </a:p>
        </p:txBody>
      </p:sp>
      <p:sp>
        <p:nvSpPr>
          <p:cNvPr id="5" name="Text 3">
            <a:extLst>
              <a:ext uri="{FF2B5EF4-FFF2-40B4-BE49-F238E27FC236}">
                <a16:creationId xmlns:a16="http://schemas.microsoft.com/office/drawing/2014/main" id="{46DB594B-700A-F1A9-EDAA-9D3666208CEF}"/>
              </a:ext>
            </a:extLst>
          </p:cNvPr>
          <p:cNvSpPr/>
          <p:nvPr/>
        </p:nvSpPr>
        <p:spPr>
          <a:xfrm>
            <a:off x="521208" y="735824"/>
            <a:ext cx="8503920" cy="274320"/>
          </a:xfrm>
          <a:prstGeom prst="rect">
            <a:avLst/>
          </a:prstGeom>
          <a:noFill/>
          <a:ln/>
        </p:spPr>
        <p:txBody>
          <a:bodyPr wrap="square" lIns="0" tIns="0" rIns="0" bIns="0" rtlCol="0" anchor="ctr"/>
          <a:lstStyle/>
          <a:p>
            <a:r>
              <a:rPr lang="en-US" sz="1200" dirty="0">
                <a:solidFill>
                  <a:schemeClr val="tx1">
                    <a:lumMod val="65000"/>
                    <a:lumOff val="35000"/>
                  </a:schemeClr>
                </a:solidFill>
              </a:rPr>
              <a:t>Standardizing player performance across contexts</a:t>
            </a:r>
          </a:p>
        </p:txBody>
      </p:sp>
      <p:sp>
        <p:nvSpPr>
          <p:cNvPr id="9" name="Text 7">
            <a:extLst>
              <a:ext uri="{FF2B5EF4-FFF2-40B4-BE49-F238E27FC236}">
                <a16:creationId xmlns:a16="http://schemas.microsoft.com/office/drawing/2014/main" id="{4252B221-ED8D-AA9E-A315-D52C75425095}"/>
              </a:ext>
            </a:extLst>
          </p:cNvPr>
          <p:cNvSpPr/>
          <p:nvPr/>
        </p:nvSpPr>
        <p:spPr>
          <a:xfrm>
            <a:off x="7543800" y="1439912"/>
            <a:ext cx="3931920" cy="1554480"/>
          </a:xfrm>
          <a:prstGeom prst="rect">
            <a:avLst/>
          </a:prstGeom>
          <a:noFill/>
          <a:ln/>
        </p:spPr>
        <p:txBody>
          <a:bodyPr wrap="square" lIns="762" tIns="762" rIns="762" bIns="762" rtlCol="0" anchor="t">
            <a:normAutofit/>
          </a:bodyPr>
          <a:lstStyle/>
          <a:p>
            <a:endParaRPr lang="en-US" sz="1600" dirty="0"/>
          </a:p>
        </p:txBody>
      </p:sp>
      <p:sp>
        <p:nvSpPr>
          <p:cNvPr id="10" name="Shape 8">
            <a:extLst>
              <a:ext uri="{FF2B5EF4-FFF2-40B4-BE49-F238E27FC236}">
                <a16:creationId xmlns:a16="http://schemas.microsoft.com/office/drawing/2014/main" id="{FFD4C1E4-FB4C-7FC2-1081-30D361190643}"/>
              </a:ext>
            </a:extLst>
          </p:cNvPr>
          <p:cNvSpPr/>
          <p:nvPr/>
        </p:nvSpPr>
        <p:spPr>
          <a:xfrm>
            <a:off x="502920" y="1403336"/>
            <a:ext cx="10881360" cy="1833372"/>
          </a:xfrm>
          <a:prstGeom prst="roundRect">
            <a:avLst>
              <a:gd name="adj" fmla="val 3810"/>
            </a:avLst>
          </a:prstGeom>
          <a:solidFill>
            <a:srgbClr val="FF0000">
              <a:alpha val="5972"/>
            </a:srgbClr>
          </a:solidFill>
          <a:ln w="10160">
            <a:solidFill>
              <a:srgbClr val="D1D5DB">
                <a:alpha val="80000"/>
              </a:srgbClr>
            </a:solidFill>
            <a:prstDash val="solid"/>
          </a:ln>
        </p:spPr>
        <p:txBody>
          <a:bodyPr/>
          <a:lstStyle/>
          <a:p>
            <a:endParaRPr lang="en-US"/>
          </a:p>
        </p:txBody>
      </p:sp>
      <p:sp>
        <p:nvSpPr>
          <p:cNvPr id="12" name="Text 10">
            <a:extLst>
              <a:ext uri="{FF2B5EF4-FFF2-40B4-BE49-F238E27FC236}">
                <a16:creationId xmlns:a16="http://schemas.microsoft.com/office/drawing/2014/main" id="{4F6153FD-509F-768B-5E6F-A613E29AF867}"/>
              </a:ext>
            </a:extLst>
          </p:cNvPr>
          <p:cNvSpPr/>
          <p:nvPr/>
        </p:nvSpPr>
        <p:spPr>
          <a:xfrm>
            <a:off x="890195" y="1663940"/>
            <a:ext cx="9921240" cy="2523744"/>
          </a:xfrm>
          <a:prstGeom prst="rect">
            <a:avLst/>
          </a:prstGeom>
          <a:noFill/>
          <a:ln/>
        </p:spPr>
        <p:txBody>
          <a:bodyPr wrap="square" lIns="762" tIns="762" rIns="762" bIns="762" rtlCol="0" anchor="t">
            <a:normAutofit/>
          </a:bodyPr>
          <a:lstStyle/>
          <a:p>
            <a:pPr marL="285750" indent="-285750">
              <a:buFont typeface="Arial" panose="020B0604020202020204" pitchFamily="34" charset="0"/>
              <a:buChar char="•"/>
            </a:pPr>
            <a:r>
              <a:rPr lang="en-US" dirty="0"/>
              <a:t>Per-game stats are influenced by pace and playing time </a:t>
            </a:r>
          </a:p>
          <a:p>
            <a:pPr marL="285750" indent="-285750">
              <a:buFont typeface="Arial" panose="020B0604020202020204" pitchFamily="34" charset="0"/>
              <a:buChar char="•"/>
            </a:pPr>
            <a:r>
              <a:rPr lang="en-US" dirty="0"/>
              <a:t>Fast teams and high-minute players appear inflated </a:t>
            </a:r>
          </a:p>
          <a:p>
            <a:pPr marL="285750" indent="-285750">
              <a:buFont typeface="Arial" panose="020B0604020202020204" pitchFamily="34" charset="0"/>
              <a:buChar char="•"/>
            </a:pPr>
            <a:r>
              <a:rPr lang="en-US" dirty="0"/>
              <a:t>Per-75 possessions standardizes production </a:t>
            </a:r>
          </a:p>
          <a:p>
            <a:pPr marL="285750" indent="-285750">
              <a:buFont typeface="Arial" panose="020B0604020202020204" pitchFamily="34" charset="0"/>
              <a:buChar char="•"/>
            </a:pPr>
            <a:r>
              <a:rPr lang="en-US" dirty="0"/>
              <a:t>Allows fair comparison across players, roles, and eras, which is critical for building reliable machine learning models. </a:t>
            </a:r>
          </a:p>
        </p:txBody>
      </p:sp>
      <p:sp>
        <p:nvSpPr>
          <p:cNvPr id="14" name="Text 11">
            <a:extLst>
              <a:ext uri="{FF2B5EF4-FFF2-40B4-BE49-F238E27FC236}">
                <a16:creationId xmlns:a16="http://schemas.microsoft.com/office/drawing/2014/main" id="{5FD567CC-DACD-853A-238D-37C0DC0E203D}"/>
              </a:ext>
            </a:extLst>
          </p:cNvPr>
          <p:cNvSpPr/>
          <p:nvPr/>
        </p:nvSpPr>
        <p:spPr>
          <a:xfrm>
            <a:off x="11190961" y="6529486"/>
            <a:ext cx="320040" cy="182880"/>
          </a:xfrm>
          <a:prstGeom prst="rect">
            <a:avLst/>
          </a:prstGeom>
          <a:noFill/>
          <a:ln/>
        </p:spPr>
        <p:txBody>
          <a:bodyPr wrap="square" lIns="0" tIns="0" rIns="0" bIns="0" rtlCol="0" anchor="ctr"/>
          <a:lstStyle/>
          <a:p>
            <a:pPr marL="0" indent="0" algn="r">
              <a:buNone/>
            </a:pPr>
            <a:r>
              <a:rPr lang="en-US" sz="800" dirty="0">
                <a:solidFill>
                  <a:srgbClr val="4B5563"/>
                </a:solidFill>
              </a:rPr>
              <a:t>2</a:t>
            </a:r>
            <a:endParaRPr lang="en-US" sz="800" dirty="0"/>
          </a:p>
        </p:txBody>
      </p:sp>
      <p:sp>
        <p:nvSpPr>
          <p:cNvPr id="16" name="Text 12">
            <a:extLst>
              <a:ext uri="{FF2B5EF4-FFF2-40B4-BE49-F238E27FC236}">
                <a16:creationId xmlns:a16="http://schemas.microsoft.com/office/drawing/2014/main" id="{BBC97827-79BE-D0F5-F6F8-E3BF6ED8574C}"/>
              </a:ext>
            </a:extLst>
          </p:cNvPr>
          <p:cNvSpPr/>
          <p:nvPr/>
        </p:nvSpPr>
        <p:spPr>
          <a:xfrm>
            <a:off x="2314728" y="3429000"/>
            <a:ext cx="1828800" cy="182880"/>
          </a:xfrm>
          <a:prstGeom prst="rect">
            <a:avLst/>
          </a:prstGeom>
          <a:noFill/>
          <a:ln/>
        </p:spPr>
        <p:txBody>
          <a:bodyPr wrap="square" lIns="0" tIns="0" rIns="0" bIns="0" rtlCol="0" anchor="ctr"/>
          <a:lstStyle/>
          <a:p>
            <a:pPr marL="0" indent="0">
              <a:buNone/>
            </a:pPr>
            <a:r>
              <a:rPr lang="en-US" sz="2000" b="1" dirty="0"/>
              <a:t>PER GAME</a:t>
            </a:r>
            <a:endParaRPr lang="en-US" sz="2000" dirty="0"/>
          </a:p>
        </p:txBody>
      </p:sp>
      <p:pic>
        <p:nvPicPr>
          <p:cNvPr id="18" name="Picture 17">
            <a:extLst>
              <a:ext uri="{FF2B5EF4-FFF2-40B4-BE49-F238E27FC236}">
                <a16:creationId xmlns:a16="http://schemas.microsoft.com/office/drawing/2014/main" id="{929AE1FF-EB7B-D665-5BD6-3077D7BDB415}"/>
              </a:ext>
            </a:extLst>
          </p:cNvPr>
          <p:cNvPicPr>
            <a:picLocks noChangeAspect="1"/>
          </p:cNvPicPr>
          <p:nvPr/>
        </p:nvPicPr>
        <p:blipFill>
          <a:blip r:embed="rId3"/>
          <a:stretch>
            <a:fillRect/>
          </a:stretch>
        </p:blipFill>
        <p:spPr>
          <a:xfrm>
            <a:off x="890195" y="3777142"/>
            <a:ext cx="4092099" cy="2621501"/>
          </a:xfrm>
          <a:prstGeom prst="rect">
            <a:avLst/>
          </a:prstGeom>
        </p:spPr>
      </p:pic>
      <p:pic>
        <p:nvPicPr>
          <p:cNvPr id="20" name="Picture 19">
            <a:extLst>
              <a:ext uri="{FF2B5EF4-FFF2-40B4-BE49-F238E27FC236}">
                <a16:creationId xmlns:a16="http://schemas.microsoft.com/office/drawing/2014/main" id="{E7DB92BB-BCC9-02B1-7A0E-4044248393DF}"/>
              </a:ext>
            </a:extLst>
          </p:cNvPr>
          <p:cNvPicPr>
            <a:picLocks noChangeAspect="1"/>
          </p:cNvPicPr>
          <p:nvPr/>
        </p:nvPicPr>
        <p:blipFill>
          <a:blip r:embed="rId4"/>
          <a:stretch>
            <a:fillRect/>
          </a:stretch>
        </p:blipFill>
        <p:spPr>
          <a:xfrm>
            <a:off x="7098862" y="3777143"/>
            <a:ext cx="4092099" cy="2621501"/>
          </a:xfrm>
          <a:prstGeom prst="rect">
            <a:avLst/>
          </a:prstGeom>
        </p:spPr>
      </p:pic>
      <p:sp>
        <p:nvSpPr>
          <p:cNvPr id="21" name="Text 12">
            <a:extLst>
              <a:ext uri="{FF2B5EF4-FFF2-40B4-BE49-F238E27FC236}">
                <a16:creationId xmlns:a16="http://schemas.microsoft.com/office/drawing/2014/main" id="{491D487F-D72D-5102-989C-D6B4763B64D5}"/>
              </a:ext>
            </a:extLst>
          </p:cNvPr>
          <p:cNvSpPr/>
          <p:nvPr/>
        </p:nvSpPr>
        <p:spPr>
          <a:xfrm>
            <a:off x="8823023" y="3430345"/>
            <a:ext cx="1828800" cy="182880"/>
          </a:xfrm>
          <a:prstGeom prst="rect">
            <a:avLst/>
          </a:prstGeom>
          <a:noFill/>
          <a:ln/>
        </p:spPr>
        <p:txBody>
          <a:bodyPr wrap="square" lIns="0" tIns="0" rIns="0" bIns="0" rtlCol="0" anchor="ctr"/>
          <a:lstStyle/>
          <a:p>
            <a:pPr marL="0" indent="0">
              <a:buNone/>
            </a:pPr>
            <a:r>
              <a:rPr lang="en-US" sz="2000" b="1" dirty="0"/>
              <a:t>PER 75</a:t>
            </a:r>
            <a:endParaRPr lang="en-US" sz="2000" dirty="0"/>
          </a:p>
        </p:txBody>
      </p:sp>
      <p:sp>
        <p:nvSpPr>
          <p:cNvPr id="23" name="Text 7">
            <a:extLst>
              <a:ext uri="{FF2B5EF4-FFF2-40B4-BE49-F238E27FC236}">
                <a16:creationId xmlns:a16="http://schemas.microsoft.com/office/drawing/2014/main" id="{01BC0D38-8D2B-34B8-BA29-6FD7B31075E2}"/>
              </a:ext>
            </a:extLst>
          </p:cNvPr>
          <p:cNvSpPr/>
          <p:nvPr/>
        </p:nvSpPr>
        <p:spPr>
          <a:xfrm>
            <a:off x="5244123" y="4674602"/>
            <a:ext cx="1592909" cy="1554480"/>
          </a:xfrm>
          <a:prstGeom prst="rect">
            <a:avLst/>
          </a:prstGeom>
          <a:noFill/>
          <a:ln/>
        </p:spPr>
        <p:txBody>
          <a:bodyPr wrap="square" lIns="762" tIns="762" rIns="762" bIns="762" rtlCol="0" anchor="t">
            <a:normAutofit/>
          </a:bodyPr>
          <a:lstStyle/>
          <a:p>
            <a:pPr algn="ctr"/>
            <a:r>
              <a:rPr lang="en-US" sz="1450" dirty="0">
                <a:solidFill>
                  <a:srgbClr val="0B1F3A"/>
                </a:solidFill>
              </a:rPr>
              <a:t>Castle: 30.0 MPG</a:t>
            </a:r>
          </a:p>
          <a:p>
            <a:pPr algn="ctr"/>
            <a:endParaRPr lang="en-US" sz="1450" dirty="0">
              <a:solidFill>
                <a:srgbClr val="0B1F3A"/>
              </a:solidFill>
            </a:endParaRPr>
          </a:p>
          <a:p>
            <a:pPr algn="ctr"/>
            <a:r>
              <a:rPr lang="en-US" sz="1450" dirty="0">
                <a:solidFill>
                  <a:srgbClr val="0B1F3A"/>
                </a:solidFill>
              </a:rPr>
              <a:t>Amen: 37.4 MPG (1</a:t>
            </a:r>
            <a:r>
              <a:rPr lang="en-US" sz="1450" baseline="30000" dirty="0">
                <a:solidFill>
                  <a:srgbClr val="0B1F3A"/>
                </a:solidFill>
              </a:rPr>
              <a:t>st</a:t>
            </a:r>
            <a:r>
              <a:rPr lang="en-US" sz="1450" dirty="0">
                <a:solidFill>
                  <a:srgbClr val="0B1F3A"/>
                </a:solidFill>
              </a:rPr>
              <a:t> in NBA)</a:t>
            </a:r>
            <a:endParaRPr lang="en-US" sz="1450" dirty="0"/>
          </a:p>
        </p:txBody>
      </p:sp>
      <p:sp>
        <p:nvSpPr>
          <p:cNvPr id="24" name="Text 7">
            <a:extLst>
              <a:ext uri="{FF2B5EF4-FFF2-40B4-BE49-F238E27FC236}">
                <a16:creationId xmlns:a16="http://schemas.microsoft.com/office/drawing/2014/main" id="{DC1B1ECB-CCA0-B9FA-E44B-D793734F43E8}"/>
              </a:ext>
            </a:extLst>
          </p:cNvPr>
          <p:cNvSpPr/>
          <p:nvPr/>
        </p:nvSpPr>
        <p:spPr>
          <a:xfrm>
            <a:off x="5182207" y="4265228"/>
            <a:ext cx="1716741" cy="366119"/>
          </a:xfrm>
          <a:prstGeom prst="rect">
            <a:avLst/>
          </a:prstGeom>
          <a:noFill/>
          <a:ln/>
        </p:spPr>
        <p:txBody>
          <a:bodyPr wrap="square" lIns="762" tIns="762" rIns="762" bIns="762" rtlCol="0" anchor="t">
            <a:normAutofit/>
          </a:bodyPr>
          <a:lstStyle/>
          <a:p>
            <a:pPr algn="ctr"/>
            <a:r>
              <a:rPr lang="en-US" sz="1450" b="1" u="sng" dirty="0">
                <a:solidFill>
                  <a:srgbClr val="0B1F3A"/>
                </a:solidFill>
              </a:rPr>
              <a:t>Minutes per game</a:t>
            </a:r>
            <a:endParaRPr lang="en-US" sz="1450" b="1" u="sng" dirty="0"/>
          </a:p>
        </p:txBody>
      </p:sp>
    </p:spTree>
    <p:extLst>
      <p:ext uri="{BB962C8B-B14F-4D97-AF65-F5344CB8AC3E}">
        <p14:creationId xmlns:p14="http://schemas.microsoft.com/office/powerpoint/2010/main" val="911280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7030A0">
            <a:alpha val="13000"/>
          </a:srgbClr>
        </a:solidFill>
        <a:effectLst/>
      </p:bgPr>
    </p:bg>
    <p:spTree>
      <p:nvGrpSpPr>
        <p:cNvPr id="1" name="">
          <a:extLst>
            <a:ext uri="{FF2B5EF4-FFF2-40B4-BE49-F238E27FC236}">
              <a16:creationId xmlns:a16="http://schemas.microsoft.com/office/drawing/2014/main" id="{81CC1803-28E8-A1CD-BDF9-FCC6F6B41A0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32F6A61-A930-97E0-4D62-FB91F906FFF3}"/>
              </a:ext>
            </a:extLst>
          </p:cNvPr>
          <p:cNvSpPr/>
          <p:nvPr/>
        </p:nvSpPr>
        <p:spPr>
          <a:xfrm>
            <a:off x="0" y="0"/>
            <a:ext cx="12191695" cy="109728"/>
          </a:xfrm>
          <a:prstGeom prst="rect">
            <a:avLst/>
          </a:prstGeom>
          <a:solidFill>
            <a:srgbClr val="BD95ED"/>
          </a:solidFill>
          <a:ln w="12700">
            <a:solidFill>
              <a:srgbClr val="F2A900">
                <a:alpha val="0"/>
              </a:srgbClr>
            </a:solidFill>
            <a:prstDash val="solid"/>
          </a:ln>
        </p:spPr>
        <p:txBody>
          <a:bodyPr/>
          <a:lstStyle/>
          <a:p>
            <a:endParaRPr lang="en-US">
              <a:solidFill>
                <a:srgbClr val="7030A0"/>
              </a:solidFill>
            </a:endParaRPr>
          </a:p>
        </p:txBody>
      </p:sp>
      <p:sp>
        <p:nvSpPr>
          <p:cNvPr id="3" name="Shape 1">
            <a:extLst>
              <a:ext uri="{FF2B5EF4-FFF2-40B4-BE49-F238E27FC236}">
                <a16:creationId xmlns:a16="http://schemas.microsoft.com/office/drawing/2014/main" id="{9BCAA543-CAEA-A4E1-19FD-F3E672EA6294}"/>
              </a:ext>
            </a:extLst>
          </p:cNvPr>
          <p:cNvSpPr/>
          <p:nvPr/>
        </p:nvSpPr>
        <p:spPr>
          <a:xfrm>
            <a:off x="0" y="6812280"/>
            <a:ext cx="12191695" cy="45720"/>
          </a:xfrm>
          <a:prstGeom prst="rect">
            <a:avLst/>
          </a:prstGeom>
          <a:solidFill>
            <a:srgbClr val="0B1F3A"/>
          </a:solidFill>
          <a:ln w="12700">
            <a:solidFill>
              <a:srgbClr val="0B1F3A">
                <a:alpha val="0"/>
              </a:srgbClr>
            </a:solidFill>
            <a:prstDash val="solid"/>
          </a:ln>
        </p:spPr>
        <p:txBody>
          <a:bodyPr/>
          <a:lstStyle/>
          <a:p>
            <a:endParaRPr lang="en-US"/>
          </a:p>
        </p:txBody>
      </p:sp>
      <p:sp>
        <p:nvSpPr>
          <p:cNvPr id="4" name="Text 2">
            <a:extLst>
              <a:ext uri="{FF2B5EF4-FFF2-40B4-BE49-F238E27FC236}">
                <a16:creationId xmlns:a16="http://schemas.microsoft.com/office/drawing/2014/main" id="{9D97E5BC-F814-2E79-183E-4EF85B91E8C3}"/>
              </a:ext>
            </a:extLst>
          </p:cNvPr>
          <p:cNvSpPr/>
          <p:nvPr/>
        </p:nvSpPr>
        <p:spPr>
          <a:xfrm>
            <a:off x="502920" y="347472"/>
            <a:ext cx="8138160" cy="457200"/>
          </a:xfrm>
          <a:prstGeom prst="rect">
            <a:avLst/>
          </a:prstGeom>
          <a:noFill/>
          <a:ln/>
        </p:spPr>
        <p:txBody>
          <a:bodyPr wrap="square" lIns="0" tIns="0" rIns="0" bIns="0" rtlCol="0" anchor="ctr"/>
          <a:lstStyle/>
          <a:p>
            <a:r>
              <a:rPr lang="en-US" sz="2800" b="1" dirty="0"/>
              <a:t>Data Source</a:t>
            </a:r>
            <a:endParaRPr lang="en-US" sz="2700" b="1" dirty="0"/>
          </a:p>
        </p:txBody>
      </p:sp>
      <p:sp>
        <p:nvSpPr>
          <p:cNvPr id="5" name="Text 3">
            <a:extLst>
              <a:ext uri="{FF2B5EF4-FFF2-40B4-BE49-F238E27FC236}">
                <a16:creationId xmlns:a16="http://schemas.microsoft.com/office/drawing/2014/main" id="{850BE63B-37EA-6457-400E-6BC9048E9672}"/>
              </a:ext>
            </a:extLst>
          </p:cNvPr>
          <p:cNvSpPr/>
          <p:nvPr/>
        </p:nvSpPr>
        <p:spPr>
          <a:xfrm>
            <a:off x="521208" y="832104"/>
            <a:ext cx="8503920" cy="274320"/>
          </a:xfrm>
          <a:prstGeom prst="rect">
            <a:avLst/>
          </a:prstGeom>
          <a:noFill/>
          <a:ln/>
        </p:spPr>
        <p:txBody>
          <a:bodyPr wrap="square" lIns="0" tIns="0" rIns="0" bIns="0" rtlCol="0" anchor="ctr"/>
          <a:lstStyle/>
          <a:p>
            <a:r>
              <a:rPr lang="en-US" sz="1250" dirty="0">
                <a:solidFill>
                  <a:schemeClr val="tx1">
                    <a:lumMod val="65000"/>
                    <a:lumOff val="35000"/>
                  </a:schemeClr>
                </a:solidFill>
              </a:rPr>
              <a:t>Where the dataset comes from and how it was constructed</a:t>
            </a:r>
          </a:p>
        </p:txBody>
      </p:sp>
      <p:sp>
        <p:nvSpPr>
          <p:cNvPr id="6" name="Text 4">
            <a:extLst>
              <a:ext uri="{FF2B5EF4-FFF2-40B4-BE49-F238E27FC236}">
                <a16:creationId xmlns:a16="http://schemas.microsoft.com/office/drawing/2014/main" id="{10BFAE88-B9DD-5F7F-49F2-E9DB27D78382}"/>
              </a:ext>
            </a:extLst>
          </p:cNvPr>
          <p:cNvSpPr/>
          <p:nvPr/>
        </p:nvSpPr>
        <p:spPr>
          <a:xfrm>
            <a:off x="594359" y="1472184"/>
            <a:ext cx="3461273" cy="484632"/>
          </a:xfrm>
          <a:prstGeom prst="rect">
            <a:avLst/>
          </a:prstGeom>
          <a:noFill/>
          <a:ln/>
        </p:spPr>
        <p:txBody>
          <a:bodyPr wrap="square" lIns="0" tIns="0" rIns="0" bIns="0" rtlCol="0" anchor="ctr"/>
          <a:lstStyle/>
          <a:p>
            <a:pPr marL="0" indent="0">
              <a:buNone/>
            </a:pPr>
            <a:r>
              <a:rPr lang="en-US" sz="2000" b="1" dirty="0">
                <a:solidFill>
                  <a:srgbClr val="7030A0"/>
                </a:solidFill>
              </a:rPr>
              <a:t>Source: </a:t>
            </a:r>
            <a:r>
              <a:rPr lang="en-US" sz="2000" b="1" dirty="0" err="1">
                <a:solidFill>
                  <a:srgbClr val="7030A0"/>
                </a:solidFill>
              </a:rPr>
              <a:t>Stathead</a:t>
            </a:r>
            <a:r>
              <a:rPr lang="en-US" sz="2000" b="1" dirty="0">
                <a:solidFill>
                  <a:srgbClr val="7030A0"/>
                </a:solidFill>
              </a:rPr>
              <a:t> Basketball</a:t>
            </a:r>
            <a:endParaRPr lang="en-US" sz="2000" dirty="0">
              <a:solidFill>
                <a:srgbClr val="7030A0"/>
              </a:solidFill>
            </a:endParaRPr>
          </a:p>
        </p:txBody>
      </p:sp>
      <p:sp>
        <p:nvSpPr>
          <p:cNvPr id="7" name="Text 5">
            <a:extLst>
              <a:ext uri="{FF2B5EF4-FFF2-40B4-BE49-F238E27FC236}">
                <a16:creationId xmlns:a16="http://schemas.microsoft.com/office/drawing/2014/main" id="{7D944B97-7405-1FE0-72C1-CE85F5274C4A}"/>
              </a:ext>
            </a:extLst>
          </p:cNvPr>
          <p:cNvSpPr/>
          <p:nvPr/>
        </p:nvSpPr>
        <p:spPr>
          <a:xfrm>
            <a:off x="603417" y="1956816"/>
            <a:ext cx="4752192" cy="3749040"/>
          </a:xfrm>
          <a:prstGeom prst="rect">
            <a:avLst/>
          </a:prstGeom>
          <a:noFill/>
          <a:ln/>
        </p:spPr>
        <p:txBody>
          <a:bodyPr wrap="square" lIns="254" tIns="254" rIns="254" bIns="254" rtlCol="0" anchor="ctr">
            <a:noAutofit/>
          </a:bodyPr>
          <a:lstStyle/>
          <a:p>
            <a:pPr marL="285750" indent="-285750">
              <a:buFont typeface="Arial" panose="020B0604020202020204" pitchFamily="34" charset="0"/>
              <a:buChar char="•"/>
            </a:pPr>
            <a:r>
              <a:rPr lang="en-US" sz="1600" dirty="0"/>
              <a:t>Data Filters Applied:</a:t>
            </a:r>
          </a:p>
          <a:p>
            <a:pPr marL="742950" lvl="1" indent="-285750">
              <a:buFont typeface="Arial" panose="020B0604020202020204" pitchFamily="34" charset="0"/>
              <a:buChar char="•"/>
            </a:pPr>
            <a:r>
              <a:rPr lang="en-US" sz="1600" dirty="0"/>
              <a:t>Seasons: 1981–82 through 2025–26 </a:t>
            </a:r>
          </a:p>
          <a:p>
            <a:pPr marL="742950" lvl="1" indent="-285750">
              <a:buFont typeface="Arial" panose="020B0604020202020204" pitchFamily="34" charset="0"/>
              <a:buChar char="•"/>
            </a:pPr>
            <a:r>
              <a:rPr lang="en-US" sz="1600" dirty="0"/>
              <a:t>Regular Season only </a:t>
            </a:r>
          </a:p>
          <a:p>
            <a:pPr marL="742950" lvl="1" indent="-285750">
              <a:buFont typeface="Arial" panose="020B0604020202020204" pitchFamily="34" charset="0"/>
              <a:buChar char="•"/>
            </a:pPr>
            <a:r>
              <a:rPr lang="en-US" sz="1600" dirty="0"/>
              <a:t>Minimum Games Played ≥ 42 </a:t>
            </a:r>
          </a:p>
          <a:p>
            <a:pPr marL="742950" lvl="1" indent="-285750">
              <a:buFont typeface="Arial" panose="020B0604020202020204" pitchFamily="34" charset="0"/>
              <a:buChar char="•"/>
            </a:pPr>
            <a:r>
              <a:rPr lang="en-US" sz="1600" dirty="0"/>
              <a:t>Ranked by Points per 75 Possessions </a:t>
            </a:r>
          </a:p>
          <a:p>
            <a:pPr marL="742950" lvl="1" indent="-285750">
              <a:buFont typeface="Arial" panose="020B0604020202020204" pitchFamily="34" charset="0"/>
              <a:buChar char="•"/>
            </a:pPr>
            <a:r>
              <a:rPr lang="en-US" sz="1600" dirty="0"/>
              <a:t>Top 600 single-season performances </a:t>
            </a:r>
          </a:p>
        </p:txBody>
      </p:sp>
      <p:sp>
        <p:nvSpPr>
          <p:cNvPr id="14" name="Text 11">
            <a:extLst>
              <a:ext uri="{FF2B5EF4-FFF2-40B4-BE49-F238E27FC236}">
                <a16:creationId xmlns:a16="http://schemas.microsoft.com/office/drawing/2014/main" id="{B04F79F8-BED8-A890-D3FE-EE08455AA6CF}"/>
              </a:ext>
            </a:extLst>
          </p:cNvPr>
          <p:cNvSpPr/>
          <p:nvPr/>
        </p:nvSpPr>
        <p:spPr>
          <a:xfrm>
            <a:off x="11475720" y="6519672"/>
            <a:ext cx="320040" cy="182880"/>
          </a:xfrm>
          <a:prstGeom prst="rect">
            <a:avLst/>
          </a:prstGeom>
          <a:noFill/>
          <a:ln/>
        </p:spPr>
        <p:txBody>
          <a:bodyPr wrap="square" lIns="0" tIns="0" rIns="0" bIns="0" rtlCol="0" anchor="ctr"/>
          <a:lstStyle/>
          <a:p>
            <a:pPr marL="0" indent="0" algn="r">
              <a:buNone/>
            </a:pPr>
            <a:r>
              <a:rPr lang="en-US" sz="800" dirty="0">
                <a:solidFill>
                  <a:srgbClr val="4B5563"/>
                </a:solidFill>
              </a:rPr>
              <a:t>2</a:t>
            </a:r>
            <a:endParaRPr lang="en-US" sz="800" dirty="0"/>
          </a:p>
        </p:txBody>
      </p:sp>
      <p:pic>
        <p:nvPicPr>
          <p:cNvPr id="13" name="Picture 12" descr="Stathead 50% Student Discount | Apr 2026 Student Beans Code">
            <a:extLst>
              <a:ext uri="{FF2B5EF4-FFF2-40B4-BE49-F238E27FC236}">
                <a16:creationId xmlns:a16="http://schemas.microsoft.com/office/drawing/2014/main" id="{8AFA0641-D1A4-CFD1-6D6F-F0CD7B7466EE}"/>
              </a:ext>
            </a:extLst>
          </p:cNvPr>
          <p:cNvPicPr>
            <a:picLocks noChangeAspect="1"/>
          </p:cNvPicPr>
          <p:nvPr/>
        </p:nvPicPr>
        <p:blipFill>
          <a:blip r:embed="rId3"/>
          <a:srcRect l="4038" t="43145" r="3796" b="42261"/>
          <a:stretch>
            <a:fillRect/>
          </a:stretch>
        </p:blipFill>
        <p:spPr>
          <a:xfrm>
            <a:off x="603417" y="2098544"/>
            <a:ext cx="3452215" cy="546685"/>
          </a:xfrm>
          <a:prstGeom prst="rect">
            <a:avLst/>
          </a:prstGeom>
          <a:effectLst>
            <a:outerShdw blurRad="50800" dist="50800" dir="5400000" algn="ctr" rotWithShape="0">
              <a:srgbClr val="000000">
                <a:alpha val="0"/>
              </a:srgbClr>
            </a:outerShdw>
          </a:effectLst>
        </p:spPr>
      </p:pic>
      <p:sp>
        <p:nvSpPr>
          <p:cNvPr id="15" name="Text 4">
            <a:extLst>
              <a:ext uri="{FF2B5EF4-FFF2-40B4-BE49-F238E27FC236}">
                <a16:creationId xmlns:a16="http://schemas.microsoft.com/office/drawing/2014/main" id="{028E3A8E-5B5C-EEE7-28E1-D1FAF175B795}"/>
              </a:ext>
            </a:extLst>
          </p:cNvPr>
          <p:cNvSpPr/>
          <p:nvPr/>
        </p:nvSpPr>
        <p:spPr>
          <a:xfrm>
            <a:off x="7294491" y="1472184"/>
            <a:ext cx="3461273" cy="484632"/>
          </a:xfrm>
          <a:prstGeom prst="rect">
            <a:avLst/>
          </a:prstGeom>
          <a:noFill/>
          <a:ln/>
        </p:spPr>
        <p:txBody>
          <a:bodyPr wrap="square" lIns="0" tIns="0" rIns="0" bIns="0" rtlCol="0" anchor="ctr"/>
          <a:lstStyle/>
          <a:p>
            <a:pPr marL="0" indent="0">
              <a:buNone/>
            </a:pPr>
            <a:r>
              <a:rPr lang="en-US" sz="2000" b="1" dirty="0">
                <a:solidFill>
                  <a:srgbClr val="7030A0"/>
                </a:solidFill>
              </a:rPr>
              <a:t>Why these filters?</a:t>
            </a:r>
            <a:endParaRPr lang="en-US" sz="2000" dirty="0">
              <a:solidFill>
                <a:srgbClr val="7030A0"/>
              </a:solidFill>
            </a:endParaRPr>
          </a:p>
        </p:txBody>
      </p:sp>
      <p:sp>
        <p:nvSpPr>
          <p:cNvPr id="16" name="Shape 8">
            <a:extLst>
              <a:ext uri="{FF2B5EF4-FFF2-40B4-BE49-F238E27FC236}">
                <a16:creationId xmlns:a16="http://schemas.microsoft.com/office/drawing/2014/main" id="{5F4E9D51-6BA9-B78F-97AE-3613CEC14D2B}"/>
              </a:ext>
            </a:extLst>
          </p:cNvPr>
          <p:cNvSpPr/>
          <p:nvPr/>
        </p:nvSpPr>
        <p:spPr>
          <a:xfrm>
            <a:off x="5725257" y="2098545"/>
            <a:ext cx="5983583" cy="3327881"/>
          </a:xfrm>
          <a:prstGeom prst="roundRect">
            <a:avLst>
              <a:gd name="adj" fmla="val 7601"/>
            </a:avLst>
          </a:prstGeom>
          <a:solidFill>
            <a:srgbClr val="F4F7FB">
              <a:alpha val="39000"/>
            </a:srgbClr>
          </a:solidFill>
          <a:ln w="10160">
            <a:solidFill>
              <a:srgbClr val="D1D5DB">
                <a:alpha val="80000"/>
              </a:srgbClr>
            </a:solidFill>
            <a:prstDash val="solid"/>
          </a:ln>
        </p:spPr>
        <p:txBody>
          <a:bodyPr/>
          <a:lstStyle/>
          <a:p>
            <a:endParaRPr lang="en-US"/>
          </a:p>
        </p:txBody>
      </p:sp>
      <p:sp>
        <p:nvSpPr>
          <p:cNvPr id="17" name="Text 5">
            <a:extLst>
              <a:ext uri="{FF2B5EF4-FFF2-40B4-BE49-F238E27FC236}">
                <a16:creationId xmlns:a16="http://schemas.microsoft.com/office/drawing/2014/main" id="{34302426-7B14-051A-2A86-0318129B1265}"/>
              </a:ext>
            </a:extLst>
          </p:cNvPr>
          <p:cNvSpPr/>
          <p:nvPr/>
        </p:nvSpPr>
        <p:spPr>
          <a:xfrm>
            <a:off x="5845512" y="1714500"/>
            <a:ext cx="5743071" cy="4545375"/>
          </a:xfrm>
          <a:prstGeom prst="rect">
            <a:avLst/>
          </a:prstGeom>
          <a:noFill/>
          <a:ln/>
        </p:spPr>
        <p:txBody>
          <a:bodyPr wrap="square" lIns="254" tIns="254" rIns="254" bIns="254" rtlCol="0" anchor="ctr">
            <a:noAutofit/>
          </a:bodyPr>
          <a:lstStyle/>
          <a:p>
            <a:pPr marL="285750" indent="-285750">
              <a:lnSpc>
                <a:spcPct val="150000"/>
              </a:lnSpc>
              <a:buFont typeface="Arial" panose="020B0604020202020204" pitchFamily="34" charset="0"/>
              <a:buChar char="•"/>
            </a:pPr>
            <a:r>
              <a:rPr lang="en-US" sz="1400" dirty="0"/>
              <a:t>Ensuring data quality and fair comparison</a:t>
            </a:r>
          </a:p>
          <a:p>
            <a:pPr marL="742950" lvl="1" indent="-285750">
              <a:lnSpc>
                <a:spcPct val="150000"/>
              </a:lnSpc>
              <a:buFont typeface="Arial" panose="020B0604020202020204" pitchFamily="34" charset="0"/>
              <a:buChar char="•"/>
            </a:pPr>
            <a:r>
              <a:rPr lang="en-US" sz="1400" dirty="0"/>
              <a:t>Start from 1981–82: first 3-point era season with complete data (no missing values) </a:t>
            </a:r>
          </a:p>
          <a:p>
            <a:pPr marL="742950" lvl="1" indent="-285750">
              <a:lnSpc>
                <a:spcPct val="150000"/>
              </a:lnSpc>
              <a:buFont typeface="Arial" panose="020B0604020202020204" pitchFamily="34" charset="0"/>
              <a:buChar char="•"/>
            </a:pPr>
            <a:r>
              <a:rPr lang="en-US" sz="1400" dirty="0"/>
              <a:t>Regular season only: avoids playoff variability and keeps comparisons consistent </a:t>
            </a:r>
          </a:p>
          <a:p>
            <a:pPr marL="742950" lvl="1" indent="-285750">
              <a:lnSpc>
                <a:spcPct val="150000"/>
              </a:lnSpc>
              <a:buFont typeface="Arial" panose="020B0604020202020204" pitchFamily="34" charset="0"/>
              <a:buChar char="•"/>
            </a:pPr>
            <a:r>
              <a:rPr lang="en-US" sz="1400" dirty="0"/>
              <a:t>Minimum 42 games played: </a:t>
            </a:r>
          </a:p>
          <a:p>
            <a:pPr marL="1200150" lvl="2" indent="-285750">
              <a:lnSpc>
                <a:spcPct val="150000"/>
              </a:lnSpc>
              <a:buFont typeface="Arial" panose="020B0604020202020204" pitchFamily="34" charset="0"/>
              <a:buChar char="•"/>
            </a:pPr>
            <a:r>
              <a:rPr lang="en-US" sz="1400" dirty="0"/>
              <a:t>Ensures reliable sample size (&gt; half of 82-game season) </a:t>
            </a:r>
          </a:p>
          <a:p>
            <a:pPr marL="1200150" lvl="2" indent="-285750">
              <a:lnSpc>
                <a:spcPct val="150000"/>
              </a:lnSpc>
              <a:buFont typeface="Arial" panose="020B0604020202020204" pitchFamily="34" charset="0"/>
              <a:buChar char="•"/>
            </a:pPr>
            <a:r>
              <a:rPr lang="en-US" sz="1400" dirty="0"/>
              <a:t>Avoids small-sample bias </a:t>
            </a:r>
          </a:p>
          <a:p>
            <a:pPr marL="1200150" lvl="2" indent="-285750">
              <a:lnSpc>
                <a:spcPct val="150000"/>
              </a:lnSpc>
              <a:buFont typeface="Arial" panose="020B0604020202020204" pitchFamily="34" charset="0"/>
              <a:buChar char="•"/>
            </a:pPr>
            <a:r>
              <a:rPr lang="en-US" sz="1400" dirty="0"/>
              <a:t>Still includes shortened seasons (e.g., COVID years) </a:t>
            </a:r>
          </a:p>
          <a:p>
            <a:pPr>
              <a:lnSpc>
                <a:spcPct val="150000"/>
              </a:lnSpc>
            </a:pPr>
            <a:endParaRPr lang="en-US" sz="1400" dirty="0"/>
          </a:p>
        </p:txBody>
      </p:sp>
    </p:spTree>
    <p:extLst>
      <p:ext uri="{BB962C8B-B14F-4D97-AF65-F5344CB8AC3E}">
        <p14:creationId xmlns:p14="http://schemas.microsoft.com/office/powerpoint/2010/main" val="2476108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chemeClr val="accent1">
            <a:alpha val="17106"/>
          </a:schemeClr>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chemeClr val="accent1"/>
          </a:solidFill>
          <a:ln w="12700">
            <a:solidFill>
              <a:srgbClr val="F2A900">
                <a:alpha val="0"/>
              </a:srgbClr>
            </a:solidFill>
            <a:prstDash val="solid"/>
          </a:ln>
        </p:spPr>
        <p:txBody>
          <a:bodyPr/>
          <a:lstStyle/>
          <a:p>
            <a:endParaRPr lang="en-US"/>
          </a:p>
        </p:txBody>
      </p:sp>
      <p:sp>
        <p:nvSpPr>
          <p:cNvPr id="3" name="Shape 1"/>
          <p:cNvSpPr/>
          <p:nvPr/>
        </p:nvSpPr>
        <p:spPr>
          <a:xfrm>
            <a:off x="0" y="6812280"/>
            <a:ext cx="12191695" cy="45720"/>
          </a:xfrm>
          <a:prstGeom prst="rect">
            <a:avLst/>
          </a:prstGeom>
          <a:solidFill>
            <a:srgbClr val="0B1F3A"/>
          </a:solidFill>
          <a:ln w="12700">
            <a:solidFill>
              <a:srgbClr val="0B1F3A">
                <a:alpha val="0"/>
              </a:srgbClr>
            </a:solidFill>
            <a:prstDash val="solid"/>
          </a:ln>
        </p:spPr>
        <p:txBody>
          <a:bodyPr/>
          <a:lstStyle/>
          <a:p>
            <a:endParaRPr lang="en-US"/>
          </a:p>
        </p:txBody>
      </p:sp>
      <p:sp>
        <p:nvSpPr>
          <p:cNvPr id="4" name="Text 2"/>
          <p:cNvSpPr/>
          <p:nvPr/>
        </p:nvSpPr>
        <p:spPr>
          <a:xfrm>
            <a:off x="502920" y="347472"/>
            <a:ext cx="8138160" cy="457200"/>
          </a:xfrm>
          <a:prstGeom prst="rect">
            <a:avLst/>
          </a:prstGeom>
          <a:noFill/>
          <a:ln/>
        </p:spPr>
        <p:txBody>
          <a:bodyPr wrap="square" lIns="0" tIns="0" rIns="0" bIns="0" rtlCol="0" anchor="ctr"/>
          <a:lstStyle/>
          <a:p>
            <a:pPr marL="0" indent="0">
              <a:buNone/>
            </a:pPr>
            <a:r>
              <a:rPr lang="en-US" sz="2700" b="1" dirty="0">
                <a:solidFill>
                  <a:srgbClr val="0B1F3A"/>
                </a:solidFill>
                <a:latin typeface="Aptos Display" pitchFamily="34" charset="0"/>
                <a:ea typeface="Aptos Display" pitchFamily="34" charset="-122"/>
                <a:cs typeface="Aptos Display" pitchFamily="34" charset="-120"/>
              </a:rPr>
              <a:t>Data overview</a:t>
            </a:r>
            <a:endParaRPr lang="en-US" sz="2700" dirty="0"/>
          </a:p>
        </p:txBody>
      </p:sp>
      <p:sp>
        <p:nvSpPr>
          <p:cNvPr id="5" name="Text 3"/>
          <p:cNvSpPr/>
          <p:nvPr/>
        </p:nvSpPr>
        <p:spPr>
          <a:xfrm>
            <a:off x="521208" y="832104"/>
            <a:ext cx="8503920" cy="274320"/>
          </a:xfrm>
          <a:prstGeom prst="rect">
            <a:avLst/>
          </a:prstGeom>
          <a:noFill/>
          <a:ln/>
        </p:spPr>
        <p:txBody>
          <a:bodyPr wrap="square" lIns="0" tIns="0" rIns="0" bIns="0" rtlCol="0" anchor="ctr"/>
          <a:lstStyle/>
          <a:p>
            <a:pPr marL="0" indent="0">
              <a:buNone/>
            </a:pPr>
            <a:r>
              <a:rPr lang="en-US" sz="1250" dirty="0">
                <a:solidFill>
                  <a:srgbClr val="4B5563"/>
                </a:solidFill>
              </a:rPr>
              <a:t>NBA player seasons ranked by scoring profile</a:t>
            </a:r>
            <a:endParaRPr lang="en-US" sz="1250" dirty="0"/>
          </a:p>
        </p:txBody>
      </p:sp>
      <p:sp>
        <p:nvSpPr>
          <p:cNvPr id="6" name="Text 4"/>
          <p:cNvSpPr/>
          <p:nvPr/>
        </p:nvSpPr>
        <p:spPr>
          <a:xfrm>
            <a:off x="731520" y="1234440"/>
            <a:ext cx="1920240" cy="438912"/>
          </a:xfrm>
          <a:prstGeom prst="rect">
            <a:avLst/>
          </a:prstGeom>
          <a:noFill/>
          <a:ln/>
        </p:spPr>
        <p:txBody>
          <a:bodyPr wrap="square" lIns="0" tIns="0" rIns="0" bIns="0" rtlCol="0" anchor="ctr"/>
          <a:lstStyle/>
          <a:p>
            <a:pPr marL="0" indent="0" algn="ctr">
              <a:buNone/>
            </a:pPr>
            <a:r>
              <a:rPr lang="en-US" sz="2600" b="1" dirty="0">
                <a:solidFill>
                  <a:srgbClr val="0B1F3A"/>
                </a:solidFill>
              </a:rPr>
              <a:t>600</a:t>
            </a:r>
            <a:endParaRPr lang="en-US" sz="2600" dirty="0"/>
          </a:p>
        </p:txBody>
      </p:sp>
      <p:sp>
        <p:nvSpPr>
          <p:cNvPr id="7" name="Text 5"/>
          <p:cNvSpPr/>
          <p:nvPr/>
        </p:nvSpPr>
        <p:spPr>
          <a:xfrm>
            <a:off x="731520" y="1728216"/>
            <a:ext cx="1920240" cy="320040"/>
          </a:xfrm>
          <a:prstGeom prst="rect">
            <a:avLst/>
          </a:prstGeom>
          <a:noFill/>
          <a:ln/>
        </p:spPr>
        <p:txBody>
          <a:bodyPr wrap="square" lIns="0" tIns="0" rIns="0" bIns="0" rtlCol="0" anchor="ctr"/>
          <a:lstStyle/>
          <a:p>
            <a:pPr marL="0" indent="0" algn="ctr">
              <a:buNone/>
            </a:pPr>
            <a:r>
              <a:rPr lang="en-US" sz="1050" dirty="0">
                <a:solidFill>
                  <a:srgbClr val="4B5563"/>
                </a:solidFill>
              </a:rPr>
              <a:t>player-season observations</a:t>
            </a:r>
            <a:endParaRPr lang="en-US" sz="1050" dirty="0"/>
          </a:p>
        </p:txBody>
      </p:sp>
      <p:sp>
        <p:nvSpPr>
          <p:cNvPr id="8" name="Text 6"/>
          <p:cNvSpPr/>
          <p:nvPr/>
        </p:nvSpPr>
        <p:spPr>
          <a:xfrm>
            <a:off x="3063240" y="1234440"/>
            <a:ext cx="1920240" cy="438912"/>
          </a:xfrm>
          <a:prstGeom prst="rect">
            <a:avLst/>
          </a:prstGeom>
          <a:noFill/>
          <a:ln/>
        </p:spPr>
        <p:txBody>
          <a:bodyPr wrap="square" lIns="0" tIns="0" rIns="0" bIns="0" rtlCol="0" anchor="ctr"/>
          <a:lstStyle/>
          <a:p>
            <a:pPr marL="0" indent="0" algn="ctr">
              <a:buNone/>
            </a:pPr>
            <a:r>
              <a:rPr lang="en-US" sz="2600" b="1" dirty="0">
                <a:solidFill>
                  <a:srgbClr val="0B1F3A"/>
                </a:solidFill>
              </a:rPr>
              <a:t>33</a:t>
            </a:r>
            <a:endParaRPr lang="en-US" sz="2600" dirty="0"/>
          </a:p>
        </p:txBody>
      </p:sp>
      <p:sp>
        <p:nvSpPr>
          <p:cNvPr id="9" name="Text 7"/>
          <p:cNvSpPr/>
          <p:nvPr/>
        </p:nvSpPr>
        <p:spPr>
          <a:xfrm>
            <a:off x="3063240" y="1728216"/>
            <a:ext cx="1920240" cy="320040"/>
          </a:xfrm>
          <a:prstGeom prst="rect">
            <a:avLst/>
          </a:prstGeom>
          <a:noFill/>
          <a:ln/>
        </p:spPr>
        <p:txBody>
          <a:bodyPr wrap="square" lIns="0" tIns="0" rIns="0" bIns="0" rtlCol="0" anchor="ctr"/>
          <a:lstStyle/>
          <a:p>
            <a:pPr marL="0" indent="0" algn="ctr">
              <a:buNone/>
            </a:pPr>
            <a:r>
              <a:rPr lang="en-US" sz="1050" dirty="0">
                <a:solidFill>
                  <a:srgbClr val="4B5563"/>
                </a:solidFill>
              </a:rPr>
              <a:t>original variables</a:t>
            </a:r>
            <a:endParaRPr lang="en-US" sz="1050" dirty="0"/>
          </a:p>
        </p:txBody>
      </p:sp>
      <p:sp>
        <p:nvSpPr>
          <p:cNvPr id="10" name="Text 8"/>
          <p:cNvSpPr/>
          <p:nvPr/>
        </p:nvSpPr>
        <p:spPr>
          <a:xfrm>
            <a:off x="5394960" y="1234440"/>
            <a:ext cx="1920240" cy="438912"/>
          </a:xfrm>
          <a:prstGeom prst="rect">
            <a:avLst/>
          </a:prstGeom>
          <a:noFill/>
          <a:ln/>
        </p:spPr>
        <p:txBody>
          <a:bodyPr wrap="square" lIns="0" tIns="0" rIns="0" bIns="0" rtlCol="0" anchor="ctr"/>
          <a:lstStyle/>
          <a:p>
            <a:pPr marL="0" indent="0" algn="ctr">
              <a:buNone/>
            </a:pPr>
            <a:r>
              <a:rPr lang="en-US" sz="2600" b="1" dirty="0">
                <a:solidFill>
                  <a:srgbClr val="0B1F3A"/>
                </a:solidFill>
              </a:rPr>
              <a:t>28</a:t>
            </a:r>
            <a:endParaRPr lang="en-US" sz="2600" dirty="0"/>
          </a:p>
        </p:txBody>
      </p:sp>
      <p:sp>
        <p:nvSpPr>
          <p:cNvPr id="11" name="Text 9"/>
          <p:cNvSpPr/>
          <p:nvPr/>
        </p:nvSpPr>
        <p:spPr>
          <a:xfrm>
            <a:off x="5394960" y="1728216"/>
            <a:ext cx="1920240" cy="320040"/>
          </a:xfrm>
          <a:prstGeom prst="rect">
            <a:avLst/>
          </a:prstGeom>
          <a:noFill/>
          <a:ln/>
        </p:spPr>
        <p:txBody>
          <a:bodyPr wrap="square" lIns="0" tIns="0" rIns="0" bIns="0" rtlCol="0" anchor="ctr"/>
          <a:lstStyle/>
          <a:p>
            <a:pPr marL="0" indent="0" algn="ctr">
              <a:buNone/>
            </a:pPr>
            <a:r>
              <a:rPr lang="en-US" sz="1050" dirty="0">
                <a:solidFill>
                  <a:srgbClr val="4B5563"/>
                </a:solidFill>
              </a:rPr>
              <a:t>numeric predictors used</a:t>
            </a:r>
            <a:endParaRPr lang="en-US" sz="1050" dirty="0"/>
          </a:p>
        </p:txBody>
      </p:sp>
      <p:sp>
        <p:nvSpPr>
          <p:cNvPr id="12" name="Text 10"/>
          <p:cNvSpPr/>
          <p:nvPr/>
        </p:nvSpPr>
        <p:spPr>
          <a:xfrm>
            <a:off x="7726680" y="1234440"/>
            <a:ext cx="2103120" cy="438912"/>
          </a:xfrm>
          <a:prstGeom prst="rect">
            <a:avLst/>
          </a:prstGeom>
          <a:noFill/>
          <a:ln/>
        </p:spPr>
        <p:txBody>
          <a:bodyPr wrap="square" lIns="0" tIns="0" rIns="0" bIns="0" rtlCol="0" anchor="ctr"/>
          <a:lstStyle/>
          <a:p>
            <a:pPr marL="0" indent="0" algn="ctr">
              <a:buNone/>
            </a:pPr>
            <a:r>
              <a:rPr lang="en-US" sz="2600" b="1" dirty="0">
                <a:solidFill>
                  <a:srgbClr val="0B1F3A"/>
                </a:solidFill>
              </a:rPr>
              <a:t>2</a:t>
            </a:r>
            <a:endParaRPr lang="en-US" sz="2600" dirty="0"/>
          </a:p>
        </p:txBody>
      </p:sp>
      <p:sp>
        <p:nvSpPr>
          <p:cNvPr id="13" name="Text 11"/>
          <p:cNvSpPr/>
          <p:nvPr/>
        </p:nvSpPr>
        <p:spPr>
          <a:xfrm>
            <a:off x="7726680" y="1728216"/>
            <a:ext cx="2103120" cy="320040"/>
          </a:xfrm>
          <a:prstGeom prst="rect">
            <a:avLst/>
          </a:prstGeom>
          <a:noFill/>
          <a:ln/>
        </p:spPr>
        <p:txBody>
          <a:bodyPr wrap="square" lIns="0" tIns="0" rIns="0" bIns="0" rtlCol="0" anchor="ctr"/>
          <a:lstStyle/>
          <a:p>
            <a:pPr marL="0" indent="0" algn="ctr">
              <a:buNone/>
            </a:pPr>
            <a:r>
              <a:rPr lang="en-US" sz="1050" dirty="0">
                <a:solidFill>
                  <a:srgbClr val="4B5563"/>
                </a:solidFill>
              </a:rPr>
              <a:t>classes: Guard / NonGuard</a:t>
            </a:r>
            <a:endParaRPr lang="en-US" sz="1050" dirty="0"/>
          </a:p>
        </p:txBody>
      </p:sp>
      <p:sp>
        <p:nvSpPr>
          <p:cNvPr id="14" name="Text 12"/>
          <p:cNvSpPr/>
          <p:nvPr/>
        </p:nvSpPr>
        <p:spPr>
          <a:xfrm>
            <a:off x="731520" y="2651760"/>
            <a:ext cx="2000922" cy="320040"/>
          </a:xfrm>
          <a:prstGeom prst="rect">
            <a:avLst/>
          </a:prstGeom>
          <a:noFill/>
          <a:ln/>
        </p:spPr>
        <p:txBody>
          <a:bodyPr wrap="square" lIns="0" tIns="0" rIns="0" bIns="0" rtlCol="0" anchor="ctr"/>
          <a:lstStyle/>
          <a:p>
            <a:pPr marL="0" indent="0">
              <a:buNone/>
            </a:pPr>
            <a:r>
              <a:rPr lang="en-US" sz="2000" b="1" dirty="0">
                <a:solidFill>
                  <a:schemeClr val="accent1"/>
                </a:solidFill>
              </a:rPr>
              <a:t>DATA FIELDS</a:t>
            </a:r>
            <a:endParaRPr lang="en-US" sz="2000" dirty="0">
              <a:solidFill>
                <a:schemeClr val="accent1"/>
              </a:solidFill>
            </a:endParaRPr>
          </a:p>
        </p:txBody>
      </p:sp>
      <p:sp>
        <p:nvSpPr>
          <p:cNvPr id="15" name="Text 13"/>
          <p:cNvSpPr/>
          <p:nvPr/>
        </p:nvSpPr>
        <p:spPr>
          <a:xfrm>
            <a:off x="731520" y="3063240"/>
            <a:ext cx="5212080" cy="3054096"/>
          </a:xfrm>
          <a:prstGeom prst="rect">
            <a:avLst/>
          </a:prstGeom>
          <a:noFill/>
          <a:ln/>
        </p:spPr>
        <p:txBody>
          <a:bodyPr wrap="square" lIns="762" tIns="762" rIns="762" bIns="762" rtlCol="0" anchor="t">
            <a:normAutofit/>
          </a:bodyPr>
          <a:lstStyle/>
          <a:p>
            <a:pPr marL="285750" indent="-285750">
              <a:buFont typeface="Arial" panose="020B0604020202020204" pitchFamily="34" charset="0"/>
              <a:buChar char="•"/>
            </a:pPr>
            <a:r>
              <a:rPr lang="en-US" sz="1550" dirty="0">
                <a:solidFill>
                  <a:srgbClr val="0B1F3A"/>
                </a:solidFill>
              </a:rPr>
              <a:t>Categorical: Player, Season, Team, Position </a:t>
            </a:r>
          </a:p>
          <a:p>
            <a:pPr marL="285750" indent="-285750">
              <a:buFont typeface="Arial" panose="020B0604020202020204" pitchFamily="34" charset="0"/>
              <a:buChar char="•"/>
            </a:pPr>
            <a:r>
              <a:rPr lang="en-US" sz="1550" dirty="0">
                <a:solidFill>
                  <a:srgbClr val="0B1F3A"/>
                </a:solidFill>
              </a:rPr>
              <a:t>Numerical: Age, G, GS, MP, AS </a:t>
            </a:r>
          </a:p>
          <a:p>
            <a:pPr marL="285750" indent="-285750">
              <a:buFont typeface="Arial" panose="020B0604020202020204" pitchFamily="34" charset="0"/>
              <a:buChar char="•"/>
            </a:pPr>
            <a:r>
              <a:rPr lang="en-US" sz="1550" dirty="0">
                <a:solidFill>
                  <a:srgbClr val="0B1F3A"/>
                </a:solidFill>
              </a:rPr>
              <a:t>All box score stats are per 75 possessions</a:t>
            </a:r>
          </a:p>
          <a:p>
            <a:pPr marL="285750" indent="-285750">
              <a:buFont typeface="Arial" panose="020B0604020202020204" pitchFamily="34" charset="0"/>
              <a:buChar char="•"/>
            </a:pPr>
            <a:r>
              <a:rPr lang="en-US" sz="1550" dirty="0">
                <a:solidFill>
                  <a:srgbClr val="0B1F3A"/>
                </a:solidFill>
              </a:rPr>
              <a:t>Includes shooting, rebounding, and playmaking metrics</a:t>
            </a:r>
          </a:p>
          <a:p>
            <a:pPr marL="285750" indent="-285750">
              <a:buFont typeface="Arial" panose="020B0604020202020204" pitchFamily="34" charset="0"/>
              <a:buChar char="•"/>
            </a:pPr>
            <a:r>
              <a:rPr lang="en-US" sz="1550" dirty="0">
                <a:solidFill>
                  <a:srgbClr val="0B1F3A"/>
                </a:solidFill>
              </a:rPr>
              <a:t>Key variables: PTS/75, PTS/G, efficiency (FG%, TS%, </a:t>
            </a:r>
            <a:r>
              <a:rPr lang="en-US" sz="1550" dirty="0" err="1">
                <a:solidFill>
                  <a:srgbClr val="0B1F3A"/>
                </a:solidFill>
              </a:rPr>
              <a:t>eFG</a:t>
            </a:r>
            <a:r>
              <a:rPr lang="en-US" sz="1550" dirty="0">
                <a:solidFill>
                  <a:srgbClr val="0B1F3A"/>
                </a:solidFill>
              </a:rPr>
              <a:t>%) </a:t>
            </a:r>
          </a:p>
          <a:p>
            <a:pPr marL="285750" indent="-285750">
              <a:buFont typeface="Arial" panose="020B0604020202020204" pitchFamily="34" charset="0"/>
              <a:buChar char="•"/>
            </a:pPr>
            <a:r>
              <a:rPr lang="en-US" sz="1550" dirty="0">
                <a:solidFill>
                  <a:srgbClr val="0B1F3A"/>
                </a:solidFill>
              </a:rPr>
              <a:t>Per-75 allows fair comparison across players and eras</a:t>
            </a:r>
            <a:endParaRPr lang="en-US" sz="1550" dirty="0"/>
          </a:p>
        </p:txBody>
      </p:sp>
      <p:sp>
        <p:nvSpPr>
          <p:cNvPr id="16" name="Text 14"/>
          <p:cNvSpPr/>
          <p:nvPr/>
        </p:nvSpPr>
        <p:spPr>
          <a:xfrm>
            <a:off x="6583679" y="2651760"/>
            <a:ext cx="2441449" cy="357348"/>
          </a:xfrm>
          <a:prstGeom prst="rect">
            <a:avLst/>
          </a:prstGeom>
          <a:noFill/>
          <a:ln/>
        </p:spPr>
        <p:txBody>
          <a:bodyPr wrap="square" lIns="0" tIns="0" rIns="0" bIns="0" rtlCol="0" anchor="ctr"/>
          <a:lstStyle/>
          <a:p>
            <a:pPr marL="0" indent="0">
              <a:buNone/>
            </a:pPr>
            <a:r>
              <a:rPr lang="en-US" sz="2000" b="1" dirty="0">
                <a:solidFill>
                  <a:schemeClr val="accent1"/>
                </a:solidFill>
              </a:rPr>
              <a:t>CLASS BALANCE</a:t>
            </a:r>
            <a:endParaRPr lang="en-US" sz="2000" dirty="0">
              <a:solidFill>
                <a:schemeClr val="accent1"/>
              </a:solidFill>
            </a:endParaRPr>
          </a:p>
        </p:txBody>
      </p:sp>
      <p:graphicFrame>
        <p:nvGraphicFramePr>
          <p:cNvPr id="17" name="Chart 0"/>
          <p:cNvGraphicFramePr/>
          <p:nvPr>
            <p:extLst>
              <p:ext uri="{D42A27DB-BD31-4B8C-83A1-F6EECF244321}">
                <p14:modId xmlns:p14="http://schemas.microsoft.com/office/powerpoint/2010/main" val="3092631258"/>
              </p:ext>
            </p:extLst>
          </p:nvPr>
        </p:nvGraphicFramePr>
        <p:xfrm>
          <a:off x="6583679" y="3063240"/>
          <a:ext cx="5077609" cy="2752344"/>
        </p:xfrm>
        <a:graphic>
          <a:graphicData uri="http://schemas.openxmlformats.org/drawingml/2006/chart">
            <c:chart xmlns:c="http://schemas.openxmlformats.org/drawingml/2006/chart" xmlns:r="http://schemas.openxmlformats.org/officeDocument/2006/relationships" r:id="rId3"/>
          </a:graphicData>
        </a:graphic>
      </p:graphicFrame>
      <p:sp>
        <p:nvSpPr>
          <p:cNvPr id="19" name="Text 15"/>
          <p:cNvSpPr/>
          <p:nvPr/>
        </p:nvSpPr>
        <p:spPr>
          <a:xfrm>
            <a:off x="11475720" y="6519672"/>
            <a:ext cx="320040" cy="182880"/>
          </a:xfrm>
          <a:prstGeom prst="rect">
            <a:avLst/>
          </a:prstGeom>
          <a:noFill/>
          <a:ln/>
        </p:spPr>
        <p:txBody>
          <a:bodyPr wrap="square" lIns="0" tIns="0" rIns="0" bIns="0" rtlCol="0" anchor="ctr"/>
          <a:lstStyle/>
          <a:p>
            <a:pPr marL="0" indent="0" algn="r">
              <a:buNone/>
            </a:pPr>
            <a:r>
              <a:rPr lang="en-US" sz="800" dirty="0">
                <a:solidFill>
                  <a:srgbClr val="4B5563"/>
                </a:solidFill>
              </a:rPr>
              <a:t>3</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chemeClr val="tx2">
            <a:lumMod val="60000"/>
            <a:lumOff val="40000"/>
            <a:alpha val="197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chemeClr val="accent5">
              <a:lumMod val="40000"/>
              <a:lumOff val="60000"/>
            </a:schemeClr>
          </a:solidFill>
          <a:ln w="12700">
            <a:solidFill>
              <a:srgbClr val="F2A900">
                <a:alpha val="0"/>
              </a:srgbClr>
            </a:solidFill>
            <a:prstDash val="solid"/>
          </a:ln>
        </p:spPr>
        <p:txBody>
          <a:bodyPr/>
          <a:lstStyle/>
          <a:p>
            <a:endParaRPr lang="en-US"/>
          </a:p>
        </p:txBody>
      </p:sp>
      <p:sp>
        <p:nvSpPr>
          <p:cNvPr id="3" name="Shape 1"/>
          <p:cNvSpPr/>
          <p:nvPr/>
        </p:nvSpPr>
        <p:spPr>
          <a:xfrm>
            <a:off x="0" y="6812280"/>
            <a:ext cx="12191695" cy="45720"/>
          </a:xfrm>
          <a:prstGeom prst="rect">
            <a:avLst/>
          </a:prstGeom>
          <a:solidFill>
            <a:srgbClr val="0B1F3A"/>
          </a:solidFill>
          <a:ln w="12700">
            <a:solidFill>
              <a:srgbClr val="0B1F3A">
                <a:alpha val="0"/>
              </a:srgbClr>
            </a:solidFill>
            <a:prstDash val="solid"/>
          </a:ln>
        </p:spPr>
        <p:txBody>
          <a:bodyPr/>
          <a:lstStyle/>
          <a:p>
            <a:endParaRPr lang="en-US"/>
          </a:p>
        </p:txBody>
      </p:sp>
      <p:sp>
        <p:nvSpPr>
          <p:cNvPr id="4" name="Text 2"/>
          <p:cNvSpPr/>
          <p:nvPr/>
        </p:nvSpPr>
        <p:spPr>
          <a:xfrm>
            <a:off x="502920" y="347472"/>
            <a:ext cx="8138160" cy="457200"/>
          </a:xfrm>
          <a:prstGeom prst="rect">
            <a:avLst/>
          </a:prstGeom>
          <a:noFill/>
          <a:ln/>
        </p:spPr>
        <p:txBody>
          <a:bodyPr wrap="square" lIns="0" tIns="0" rIns="0" bIns="0" rtlCol="0" anchor="ctr"/>
          <a:lstStyle/>
          <a:p>
            <a:pPr marL="0" indent="0">
              <a:buNone/>
            </a:pPr>
            <a:r>
              <a:rPr lang="en-US" sz="2700" b="1" dirty="0">
                <a:solidFill>
                  <a:srgbClr val="0B1F3A"/>
                </a:solidFill>
                <a:latin typeface="Aptos Display" pitchFamily="34" charset="0"/>
                <a:ea typeface="Aptos Display" pitchFamily="34" charset="-122"/>
                <a:cs typeface="Aptos Display" pitchFamily="34" charset="-120"/>
              </a:rPr>
              <a:t>Preprocessing decisions</a:t>
            </a:r>
            <a:endParaRPr lang="en-US" sz="2700" dirty="0"/>
          </a:p>
        </p:txBody>
      </p:sp>
      <p:sp>
        <p:nvSpPr>
          <p:cNvPr id="5" name="Text 3"/>
          <p:cNvSpPr/>
          <p:nvPr/>
        </p:nvSpPr>
        <p:spPr>
          <a:xfrm>
            <a:off x="521208" y="832104"/>
            <a:ext cx="8503920" cy="274320"/>
          </a:xfrm>
          <a:prstGeom prst="rect">
            <a:avLst/>
          </a:prstGeom>
          <a:noFill/>
          <a:ln/>
        </p:spPr>
        <p:txBody>
          <a:bodyPr wrap="square" lIns="0" tIns="0" rIns="0" bIns="0" rtlCol="0" anchor="ctr"/>
          <a:lstStyle/>
          <a:p>
            <a:pPr marL="0" indent="0">
              <a:buNone/>
            </a:pPr>
            <a:r>
              <a:rPr lang="en-US" sz="1250" dirty="0">
                <a:solidFill>
                  <a:srgbClr val="4B5563"/>
                </a:solidFill>
              </a:rPr>
              <a:t>Preparing data for distance-based and kernel methods</a:t>
            </a:r>
            <a:endParaRPr lang="en-US" sz="1250" dirty="0"/>
          </a:p>
        </p:txBody>
      </p:sp>
      <p:sp>
        <p:nvSpPr>
          <p:cNvPr id="6" name="Text 4"/>
          <p:cNvSpPr/>
          <p:nvPr/>
        </p:nvSpPr>
        <p:spPr>
          <a:xfrm>
            <a:off x="685800" y="1325880"/>
            <a:ext cx="3017520" cy="701040"/>
          </a:xfrm>
          <a:prstGeom prst="rect">
            <a:avLst/>
          </a:prstGeom>
          <a:solidFill>
            <a:schemeClr val="accent1">
              <a:lumMod val="20000"/>
              <a:lumOff val="80000"/>
            </a:schemeClr>
          </a:solidFill>
          <a:ln w="6350">
            <a:solidFill>
              <a:srgbClr val="D6DDE8"/>
            </a:solidFill>
          </a:ln>
        </p:spPr>
        <p:txBody>
          <a:bodyPr wrap="square" lIns="508" tIns="508" rIns="508" bIns="508" rtlCol="0" anchor="ctr">
            <a:normAutofit/>
          </a:bodyPr>
          <a:lstStyle/>
          <a:p>
            <a:pPr marL="0" indent="0" algn="ctr">
              <a:buNone/>
            </a:pPr>
            <a:r>
              <a:rPr lang="en-US" sz="1400" b="1" dirty="0"/>
              <a:t>Step</a:t>
            </a:r>
            <a:endParaRPr lang="en-US" sz="1400" dirty="0"/>
          </a:p>
        </p:txBody>
      </p:sp>
      <p:sp>
        <p:nvSpPr>
          <p:cNvPr id="7" name="Text 5"/>
          <p:cNvSpPr/>
          <p:nvPr/>
        </p:nvSpPr>
        <p:spPr>
          <a:xfrm>
            <a:off x="3703320" y="1325880"/>
            <a:ext cx="7772400" cy="701040"/>
          </a:xfrm>
          <a:prstGeom prst="rect">
            <a:avLst/>
          </a:prstGeom>
          <a:solidFill>
            <a:schemeClr val="accent1">
              <a:lumMod val="20000"/>
              <a:lumOff val="80000"/>
            </a:schemeClr>
          </a:solidFill>
          <a:ln w="6350">
            <a:solidFill>
              <a:srgbClr val="D6DDE8"/>
            </a:solidFill>
          </a:ln>
        </p:spPr>
        <p:txBody>
          <a:bodyPr wrap="square" lIns="508" tIns="508" rIns="508" bIns="508" rtlCol="0" anchor="ctr">
            <a:normAutofit/>
          </a:bodyPr>
          <a:lstStyle/>
          <a:p>
            <a:pPr marL="0" indent="0" algn="ctr">
              <a:buNone/>
            </a:pPr>
            <a:r>
              <a:rPr lang="en-US" sz="1400" b="1" dirty="0"/>
              <a:t>Why it matters</a:t>
            </a:r>
            <a:endParaRPr lang="en-US" sz="1400" dirty="0"/>
          </a:p>
        </p:txBody>
      </p:sp>
      <p:sp>
        <p:nvSpPr>
          <p:cNvPr id="8" name="Text 6"/>
          <p:cNvSpPr/>
          <p:nvPr/>
        </p:nvSpPr>
        <p:spPr>
          <a:xfrm>
            <a:off x="685800" y="2026920"/>
            <a:ext cx="3017520" cy="701040"/>
          </a:xfrm>
          <a:prstGeom prst="rect">
            <a:avLst/>
          </a:prstGeom>
          <a:solidFill>
            <a:srgbClr val="FFFFFF"/>
          </a:solidFill>
          <a:ln w="6350">
            <a:solidFill>
              <a:srgbClr val="D6DDE8"/>
            </a:solidFill>
          </a:ln>
        </p:spPr>
        <p:txBody>
          <a:bodyPr wrap="square" lIns="508" tIns="508" rIns="508" bIns="508" rtlCol="0" anchor="ctr">
            <a:normAutofit/>
          </a:bodyPr>
          <a:lstStyle/>
          <a:p>
            <a:pPr marL="0" indent="0" algn="ctr">
              <a:buNone/>
            </a:pPr>
            <a:r>
              <a:rPr lang="en-US" sz="1400" dirty="0">
                <a:solidFill>
                  <a:srgbClr val="0B1F3A"/>
                </a:solidFill>
              </a:rPr>
              <a:t>Removed Player, Team, Season</a:t>
            </a:r>
            <a:endParaRPr lang="en-US" sz="1400" dirty="0"/>
          </a:p>
        </p:txBody>
      </p:sp>
      <p:sp>
        <p:nvSpPr>
          <p:cNvPr id="9" name="Text 7"/>
          <p:cNvSpPr/>
          <p:nvPr/>
        </p:nvSpPr>
        <p:spPr>
          <a:xfrm>
            <a:off x="3703320" y="2026920"/>
            <a:ext cx="7772400" cy="701040"/>
          </a:xfrm>
          <a:prstGeom prst="rect">
            <a:avLst/>
          </a:prstGeom>
          <a:solidFill>
            <a:srgbClr val="FFFFFF"/>
          </a:solidFill>
          <a:ln w="6350">
            <a:solidFill>
              <a:srgbClr val="D6DDE8"/>
            </a:solidFill>
          </a:ln>
        </p:spPr>
        <p:txBody>
          <a:bodyPr wrap="square" lIns="508" tIns="508" rIns="508" bIns="508" rtlCol="0" anchor="ctr">
            <a:normAutofit/>
          </a:bodyPr>
          <a:lstStyle/>
          <a:p>
            <a:pPr algn="ctr"/>
            <a:r>
              <a:rPr lang="en-US" sz="1400" dirty="0"/>
              <a:t> Identifiers do not contribute to prediction</a:t>
            </a:r>
          </a:p>
          <a:p>
            <a:pPr algn="ctr"/>
            <a:endParaRPr lang="en-US" sz="1400" dirty="0"/>
          </a:p>
        </p:txBody>
      </p:sp>
      <p:sp>
        <p:nvSpPr>
          <p:cNvPr id="10" name="Text 8"/>
          <p:cNvSpPr/>
          <p:nvPr/>
        </p:nvSpPr>
        <p:spPr>
          <a:xfrm>
            <a:off x="685800" y="2727960"/>
            <a:ext cx="3017520" cy="701040"/>
          </a:xfrm>
          <a:prstGeom prst="rect">
            <a:avLst/>
          </a:prstGeom>
          <a:solidFill>
            <a:srgbClr val="FFFFFF"/>
          </a:solidFill>
          <a:ln w="6350">
            <a:solidFill>
              <a:srgbClr val="D6DDE8"/>
            </a:solidFill>
          </a:ln>
        </p:spPr>
        <p:txBody>
          <a:bodyPr wrap="square" lIns="508" tIns="508" rIns="508" bIns="508" rtlCol="0" anchor="ctr">
            <a:normAutofit/>
          </a:bodyPr>
          <a:lstStyle/>
          <a:p>
            <a:pPr marL="0" indent="0" algn="ctr">
              <a:buNone/>
            </a:pPr>
            <a:r>
              <a:rPr lang="en-US" sz="1400" dirty="0">
                <a:solidFill>
                  <a:srgbClr val="0B1F3A"/>
                </a:solidFill>
              </a:rPr>
              <a:t>Created GuardClass</a:t>
            </a:r>
            <a:endParaRPr lang="en-US" sz="1400" dirty="0"/>
          </a:p>
        </p:txBody>
      </p:sp>
      <p:sp>
        <p:nvSpPr>
          <p:cNvPr id="11" name="Text 9"/>
          <p:cNvSpPr/>
          <p:nvPr/>
        </p:nvSpPr>
        <p:spPr>
          <a:xfrm>
            <a:off x="3703320" y="2727960"/>
            <a:ext cx="7772400" cy="701040"/>
          </a:xfrm>
          <a:prstGeom prst="rect">
            <a:avLst/>
          </a:prstGeom>
          <a:solidFill>
            <a:srgbClr val="FFFFFF"/>
          </a:solidFill>
          <a:ln w="6350">
            <a:solidFill>
              <a:srgbClr val="D6DDE8"/>
            </a:solidFill>
          </a:ln>
        </p:spPr>
        <p:txBody>
          <a:bodyPr wrap="square" lIns="508" tIns="508" rIns="508" bIns="508" rtlCol="0" anchor="ctr">
            <a:normAutofit/>
          </a:bodyPr>
          <a:lstStyle/>
          <a:p>
            <a:pPr algn="ctr">
              <a:buNone/>
            </a:pPr>
            <a:r>
              <a:rPr lang="en-US" sz="1400" dirty="0"/>
              <a:t>Defines classification target</a:t>
            </a:r>
          </a:p>
        </p:txBody>
      </p:sp>
      <p:sp>
        <p:nvSpPr>
          <p:cNvPr id="12" name="Text 10"/>
          <p:cNvSpPr/>
          <p:nvPr/>
        </p:nvSpPr>
        <p:spPr>
          <a:xfrm>
            <a:off x="685800" y="3429000"/>
            <a:ext cx="3017520" cy="701040"/>
          </a:xfrm>
          <a:prstGeom prst="rect">
            <a:avLst/>
          </a:prstGeom>
          <a:solidFill>
            <a:srgbClr val="FFFFFF"/>
          </a:solidFill>
          <a:ln w="6350">
            <a:solidFill>
              <a:srgbClr val="D6DDE8"/>
            </a:solidFill>
          </a:ln>
        </p:spPr>
        <p:txBody>
          <a:bodyPr wrap="square" lIns="508" tIns="508" rIns="508" bIns="508" rtlCol="0" anchor="ctr">
            <a:normAutofit/>
          </a:bodyPr>
          <a:lstStyle/>
          <a:p>
            <a:pPr marL="0" indent="0" algn="ctr">
              <a:buNone/>
            </a:pPr>
            <a:r>
              <a:rPr lang="en-US" sz="1400" dirty="0">
                <a:solidFill>
                  <a:srgbClr val="0B1F3A"/>
                </a:solidFill>
              </a:rPr>
              <a:t>Replaced 3P% NA → 0</a:t>
            </a:r>
            <a:endParaRPr lang="en-US" sz="1400" dirty="0"/>
          </a:p>
        </p:txBody>
      </p:sp>
      <p:sp>
        <p:nvSpPr>
          <p:cNvPr id="13" name="Text 11"/>
          <p:cNvSpPr/>
          <p:nvPr/>
        </p:nvSpPr>
        <p:spPr>
          <a:xfrm>
            <a:off x="3703320" y="3429000"/>
            <a:ext cx="7772400" cy="701040"/>
          </a:xfrm>
          <a:prstGeom prst="rect">
            <a:avLst/>
          </a:prstGeom>
          <a:solidFill>
            <a:srgbClr val="FFFFFF"/>
          </a:solidFill>
          <a:ln w="6350">
            <a:solidFill>
              <a:srgbClr val="D6DDE8"/>
            </a:solidFill>
          </a:ln>
        </p:spPr>
        <p:txBody>
          <a:bodyPr wrap="square" lIns="508" tIns="508" rIns="508" bIns="508" rtlCol="0" anchor="ctr">
            <a:normAutofit/>
          </a:bodyPr>
          <a:lstStyle/>
          <a:p>
            <a:pPr marL="0" indent="0" algn="ctr">
              <a:buNone/>
            </a:pPr>
            <a:r>
              <a:rPr lang="en-US" sz="1400" dirty="0">
                <a:solidFill>
                  <a:srgbClr val="0B1F3A"/>
                </a:solidFill>
              </a:rPr>
              <a:t>Players with no 3PA have undefined 3P%; 0 keeps all 600 observations</a:t>
            </a:r>
            <a:endParaRPr lang="en-US" sz="1400" dirty="0"/>
          </a:p>
        </p:txBody>
      </p:sp>
      <p:sp>
        <p:nvSpPr>
          <p:cNvPr id="14" name="Text 12"/>
          <p:cNvSpPr/>
          <p:nvPr/>
        </p:nvSpPr>
        <p:spPr>
          <a:xfrm>
            <a:off x="685800" y="4130040"/>
            <a:ext cx="3017520" cy="701040"/>
          </a:xfrm>
          <a:prstGeom prst="rect">
            <a:avLst/>
          </a:prstGeom>
          <a:solidFill>
            <a:srgbClr val="FFFFFF"/>
          </a:solidFill>
          <a:ln w="6350">
            <a:solidFill>
              <a:srgbClr val="D6DDE8"/>
            </a:solidFill>
          </a:ln>
        </p:spPr>
        <p:txBody>
          <a:bodyPr wrap="square" lIns="508" tIns="508" rIns="508" bIns="508" rtlCol="0" anchor="ctr">
            <a:normAutofit/>
          </a:bodyPr>
          <a:lstStyle/>
          <a:p>
            <a:pPr marL="0" indent="0" algn="ctr">
              <a:buNone/>
            </a:pPr>
            <a:r>
              <a:rPr lang="en-US" sz="1400" dirty="0">
                <a:solidFill>
                  <a:srgbClr val="0B1F3A"/>
                </a:solidFill>
              </a:rPr>
              <a:t>Centered and scaled predictors</a:t>
            </a:r>
            <a:endParaRPr lang="en-US" sz="1400" dirty="0"/>
          </a:p>
        </p:txBody>
      </p:sp>
      <p:sp>
        <p:nvSpPr>
          <p:cNvPr id="15" name="Text 13"/>
          <p:cNvSpPr/>
          <p:nvPr/>
        </p:nvSpPr>
        <p:spPr>
          <a:xfrm>
            <a:off x="3703320" y="4130040"/>
            <a:ext cx="7772400" cy="701040"/>
          </a:xfrm>
          <a:prstGeom prst="rect">
            <a:avLst/>
          </a:prstGeom>
          <a:solidFill>
            <a:srgbClr val="FFFFFF"/>
          </a:solidFill>
          <a:ln w="6350">
            <a:solidFill>
              <a:srgbClr val="D6DDE8"/>
            </a:solidFill>
          </a:ln>
        </p:spPr>
        <p:txBody>
          <a:bodyPr wrap="square" lIns="508" tIns="508" rIns="508" bIns="508" rtlCol="0" anchor="ctr">
            <a:normAutofit/>
          </a:bodyPr>
          <a:lstStyle/>
          <a:p>
            <a:pPr marL="0" indent="0" algn="ctr">
              <a:buNone/>
            </a:pPr>
            <a:r>
              <a:rPr lang="en-US" sz="1400" dirty="0">
                <a:solidFill>
                  <a:srgbClr val="0B1F3A"/>
                </a:solidFill>
              </a:rPr>
              <a:t>Needed because KNN, SVM, and clustering rely on distances</a:t>
            </a:r>
            <a:endParaRPr lang="en-US" sz="1400" dirty="0"/>
          </a:p>
        </p:txBody>
      </p:sp>
      <p:sp>
        <p:nvSpPr>
          <p:cNvPr id="16" name="Text 14"/>
          <p:cNvSpPr/>
          <p:nvPr/>
        </p:nvSpPr>
        <p:spPr>
          <a:xfrm>
            <a:off x="685800" y="4831080"/>
            <a:ext cx="3017520" cy="701040"/>
          </a:xfrm>
          <a:prstGeom prst="rect">
            <a:avLst/>
          </a:prstGeom>
          <a:solidFill>
            <a:srgbClr val="FFFFFF"/>
          </a:solidFill>
          <a:ln w="6350">
            <a:solidFill>
              <a:srgbClr val="D6DDE8"/>
            </a:solidFill>
          </a:ln>
        </p:spPr>
        <p:txBody>
          <a:bodyPr wrap="square" lIns="508" tIns="508" rIns="508" bIns="508" rtlCol="0" anchor="ctr">
            <a:normAutofit/>
          </a:bodyPr>
          <a:lstStyle/>
          <a:p>
            <a:pPr marL="0" indent="0" algn="ctr">
              <a:buNone/>
            </a:pPr>
            <a:r>
              <a:rPr lang="en-US" sz="1400" dirty="0">
                <a:solidFill>
                  <a:srgbClr val="0B1F3A"/>
                </a:solidFill>
              </a:rPr>
              <a:t>Retained numeric features</a:t>
            </a:r>
            <a:endParaRPr lang="en-US" sz="1400" dirty="0"/>
          </a:p>
        </p:txBody>
      </p:sp>
      <p:sp>
        <p:nvSpPr>
          <p:cNvPr id="17" name="Text 15"/>
          <p:cNvSpPr/>
          <p:nvPr/>
        </p:nvSpPr>
        <p:spPr>
          <a:xfrm>
            <a:off x="3703320" y="4831080"/>
            <a:ext cx="7772400" cy="701040"/>
          </a:xfrm>
          <a:prstGeom prst="rect">
            <a:avLst/>
          </a:prstGeom>
          <a:solidFill>
            <a:srgbClr val="FFFFFF"/>
          </a:solidFill>
          <a:ln w="6350">
            <a:solidFill>
              <a:srgbClr val="D6DDE8"/>
            </a:solidFill>
          </a:ln>
        </p:spPr>
        <p:txBody>
          <a:bodyPr wrap="square" lIns="508" tIns="508" rIns="508" bIns="508" rtlCol="0" anchor="ctr">
            <a:normAutofit/>
          </a:bodyPr>
          <a:lstStyle/>
          <a:p>
            <a:pPr marL="0" indent="0" algn="ctr">
              <a:buNone/>
            </a:pPr>
            <a:r>
              <a:rPr lang="en-US" sz="1400" dirty="0">
                <a:solidFill>
                  <a:srgbClr val="0B1F3A"/>
                </a:solidFill>
              </a:rPr>
              <a:t>Preserves full statistical profile and basketball interpretability</a:t>
            </a:r>
            <a:endParaRPr lang="en-US" sz="1400" dirty="0"/>
          </a:p>
        </p:txBody>
      </p:sp>
      <p:sp>
        <p:nvSpPr>
          <p:cNvPr id="18" name="Text 16"/>
          <p:cNvSpPr/>
          <p:nvPr/>
        </p:nvSpPr>
        <p:spPr>
          <a:xfrm>
            <a:off x="822960" y="5779008"/>
            <a:ext cx="10149840" cy="301752"/>
          </a:xfrm>
          <a:prstGeom prst="rect">
            <a:avLst/>
          </a:prstGeom>
          <a:noFill/>
          <a:ln/>
        </p:spPr>
        <p:txBody>
          <a:bodyPr wrap="square" lIns="0" tIns="0" rIns="0" bIns="0" rtlCol="0" anchor="ctr"/>
          <a:lstStyle/>
          <a:p>
            <a:pPr algn="ctr"/>
            <a:r>
              <a:rPr lang="en-US" sz="1400" dirty="0"/>
              <a:t>These steps ensure fair distance calculations and improve model reliability.</a:t>
            </a:r>
          </a:p>
        </p:txBody>
      </p:sp>
      <p:sp>
        <p:nvSpPr>
          <p:cNvPr id="20" name="Text 17"/>
          <p:cNvSpPr/>
          <p:nvPr/>
        </p:nvSpPr>
        <p:spPr>
          <a:xfrm>
            <a:off x="11475720" y="6519672"/>
            <a:ext cx="320040" cy="182880"/>
          </a:xfrm>
          <a:prstGeom prst="rect">
            <a:avLst/>
          </a:prstGeom>
          <a:noFill/>
          <a:ln/>
        </p:spPr>
        <p:txBody>
          <a:bodyPr wrap="square" lIns="0" tIns="0" rIns="0" bIns="0" rtlCol="0" anchor="ctr"/>
          <a:lstStyle/>
          <a:p>
            <a:pPr marL="0" indent="0" algn="r">
              <a:buNone/>
            </a:pPr>
            <a:r>
              <a:rPr lang="en-US" sz="1400" dirty="0">
                <a:solidFill>
                  <a:srgbClr val="4B5563"/>
                </a:solidFill>
              </a:rPr>
              <a:t>4</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4D9DA-4640-834A-BDCB-CDF8F368486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3040B30-56FB-7359-0FD1-88E6626A27F4}"/>
              </a:ext>
            </a:extLst>
          </p:cNvPr>
          <p:cNvSpPr/>
          <p:nvPr/>
        </p:nvSpPr>
        <p:spPr>
          <a:xfrm>
            <a:off x="0" y="0"/>
            <a:ext cx="12191695" cy="109728"/>
          </a:xfrm>
          <a:prstGeom prst="rect">
            <a:avLst/>
          </a:prstGeom>
          <a:solidFill>
            <a:schemeClr val="accent4">
              <a:alpha val="67000"/>
            </a:schemeClr>
          </a:solidFill>
          <a:ln w="12700">
            <a:solidFill>
              <a:srgbClr val="F2A900">
                <a:alpha val="0"/>
              </a:srgbClr>
            </a:solidFill>
            <a:prstDash val="solid"/>
          </a:ln>
        </p:spPr>
        <p:txBody>
          <a:bodyPr/>
          <a:lstStyle/>
          <a:p>
            <a:endParaRPr lang="en-US"/>
          </a:p>
        </p:txBody>
      </p:sp>
      <p:sp>
        <p:nvSpPr>
          <p:cNvPr id="3" name="Shape 1">
            <a:extLst>
              <a:ext uri="{FF2B5EF4-FFF2-40B4-BE49-F238E27FC236}">
                <a16:creationId xmlns:a16="http://schemas.microsoft.com/office/drawing/2014/main" id="{2675967A-A1F5-9637-0FC5-0689623B9FCE}"/>
              </a:ext>
            </a:extLst>
          </p:cNvPr>
          <p:cNvSpPr/>
          <p:nvPr/>
        </p:nvSpPr>
        <p:spPr>
          <a:xfrm>
            <a:off x="0" y="6812280"/>
            <a:ext cx="12191695" cy="45720"/>
          </a:xfrm>
          <a:prstGeom prst="rect">
            <a:avLst/>
          </a:prstGeom>
          <a:solidFill>
            <a:srgbClr val="0B1F3A"/>
          </a:solidFill>
          <a:ln w="12700">
            <a:solidFill>
              <a:srgbClr val="0B1F3A">
                <a:alpha val="0"/>
              </a:srgbClr>
            </a:solidFill>
            <a:prstDash val="solid"/>
          </a:ln>
        </p:spPr>
        <p:txBody>
          <a:bodyPr/>
          <a:lstStyle/>
          <a:p>
            <a:endParaRPr lang="en-US"/>
          </a:p>
        </p:txBody>
      </p:sp>
      <p:sp>
        <p:nvSpPr>
          <p:cNvPr id="4" name="Text 2">
            <a:extLst>
              <a:ext uri="{FF2B5EF4-FFF2-40B4-BE49-F238E27FC236}">
                <a16:creationId xmlns:a16="http://schemas.microsoft.com/office/drawing/2014/main" id="{0D81C47A-9DA6-22A8-12CA-F93CD80FEFF1}"/>
              </a:ext>
            </a:extLst>
          </p:cNvPr>
          <p:cNvSpPr/>
          <p:nvPr/>
        </p:nvSpPr>
        <p:spPr>
          <a:xfrm>
            <a:off x="502920" y="347472"/>
            <a:ext cx="8138160" cy="457200"/>
          </a:xfrm>
          <a:prstGeom prst="rect">
            <a:avLst/>
          </a:prstGeom>
          <a:noFill/>
          <a:ln/>
        </p:spPr>
        <p:txBody>
          <a:bodyPr wrap="square" lIns="0" tIns="0" rIns="0" bIns="0" rtlCol="0" anchor="ctr"/>
          <a:lstStyle/>
          <a:p>
            <a:pPr marL="0" indent="0">
              <a:buNone/>
            </a:pPr>
            <a:r>
              <a:rPr lang="en-US" sz="2700" b="1" dirty="0">
                <a:solidFill>
                  <a:srgbClr val="0B1F3A"/>
                </a:solidFill>
                <a:latin typeface="Aptos Display" pitchFamily="34" charset="0"/>
                <a:ea typeface="Aptos Display" pitchFamily="34" charset="-122"/>
                <a:cs typeface="Aptos Display" pitchFamily="34" charset="-120"/>
              </a:rPr>
              <a:t>Why Scaling Matters</a:t>
            </a:r>
            <a:endParaRPr lang="en-US" sz="2700" dirty="0"/>
          </a:p>
        </p:txBody>
      </p:sp>
      <p:sp>
        <p:nvSpPr>
          <p:cNvPr id="5" name="Text 3">
            <a:extLst>
              <a:ext uri="{FF2B5EF4-FFF2-40B4-BE49-F238E27FC236}">
                <a16:creationId xmlns:a16="http://schemas.microsoft.com/office/drawing/2014/main" id="{29041A11-329A-5913-D6E6-A3B360953A40}"/>
              </a:ext>
            </a:extLst>
          </p:cNvPr>
          <p:cNvSpPr/>
          <p:nvPr/>
        </p:nvSpPr>
        <p:spPr>
          <a:xfrm>
            <a:off x="521208" y="832104"/>
            <a:ext cx="8503920" cy="274320"/>
          </a:xfrm>
          <a:prstGeom prst="rect">
            <a:avLst/>
          </a:prstGeom>
          <a:noFill/>
          <a:ln/>
        </p:spPr>
        <p:txBody>
          <a:bodyPr wrap="square" lIns="0" tIns="0" rIns="0" bIns="0" rtlCol="0" anchor="ctr"/>
          <a:lstStyle/>
          <a:p>
            <a:r>
              <a:rPr lang="en-US" sz="1200" dirty="0">
                <a:solidFill>
                  <a:schemeClr val="tx1">
                    <a:lumMod val="65000"/>
                    <a:lumOff val="35000"/>
                  </a:schemeClr>
                </a:solidFill>
              </a:rPr>
              <a:t>Ensuring fair contribution of all variables</a:t>
            </a:r>
          </a:p>
        </p:txBody>
      </p:sp>
      <p:sp>
        <p:nvSpPr>
          <p:cNvPr id="14" name="Text 12">
            <a:extLst>
              <a:ext uri="{FF2B5EF4-FFF2-40B4-BE49-F238E27FC236}">
                <a16:creationId xmlns:a16="http://schemas.microsoft.com/office/drawing/2014/main" id="{F3DDC4BE-952E-9F54-5529-E7DA0130E11F}"/>
              </a:ext>
            </a:extLst>
          </p:cNvPr>
          <p:cNvSpPr/>
          <p:nvPr/>
        </p:nvSpPr>
        <p:spPr>
          <a:xfrm>
            <a:off x="521208" y="832104"/>
            <a:ext cx="8503920" cy="1472184"/>
          </a:xfrm>
          <a:prstGeom prst="rect">
            <a:avLst/>
          </a:prstGeom>
          <a:noFill/>
          <a:ln/>
        </p:spPr>
        <p:txBody>
          <a:bodyPr wrap="square" lIns="0" tIns="0" rIns="0" bIns="0" rtlCol="0" anchor="ctr"/>
          <a:lstStyle/>
          <a:p>
            <a:pPr marL="0" indent="0">
              <a:buNone/>
            </a:pPr>
            <a:r>
              <a:rPr lang="en-US" sz="2000" b="1" dirty="0">
                <a:solidFill>
                  <a:schemeClr val="accent4"/>
                </a:solidFill>
              </a:rPr>
              <a:t>Models like KNN, SVM, and clustering rely on distance calculations</a:t>
            </a:r>
            <a:endParaRPr lang="en-US" sz="2000" dirty="0">
              <a:solidFill>
                <a:schemeClr val="accent4"/>
              </a:solidFill>
            </a:endParaRPr>
          </a:p>
        </p:txBody>
      </p:sp>
      <p:sp>
        <p:nvSpPr>
          <p:cNvPr id="15" name="Text 13">
            <a:extLst>
              <a:ext uri="{FF2B5EF4-FFF2-40B4-BE49-F238E27FC236}">
                <a16:creationId xmlns:a16="http://schemas.microsoft.com/office/drawing/2014/main" id="{EDB454CD-6FB2-71B3-29F0-A619A8C719DD}"/>
              </a:ext>
            </a:extLst>
          </p:cNvPr>
          <p:cNvSpPr/>
          <p:nvPr/>
        </p:nvSpPr>
        <p:spPr>
          <a:xfrm>
            <a:off x="521208" y="2020824"/>
            <a:ext cx="5212080" cy="3054096"/>
          </a:xfrm>
          <a:prstGeom prst="rect">
            <a:avLst/>
          </a:prstGeom>
          <a:noFill/>
          <a:ln/>
        </p:spPr>
        <p:txBody>
          <a:bodyPr wrap="square" lIns="762" tIns="762" rIns="762" bIns="762" rtlCol="0" anchor="t">
            <a:normAutofit/>
          </a:bodyPr>
          <a:lstStyle/>
          <a:p>
            <a:r>
              <a:rPr lang="en-US" sz="1600" dirty="0"/>
              <a:t>Without scaling:</a:t>
            </a:r>
          </a:p>
          <a:p>
            <a:pPr marL="285750" indent="-285750">
              <a:buFont typeface="Wingdings" pitchFamily="2" charset="2"/>
              <a:buChar char="Ø"/>
            </a:pPr>
            <a:r>
              <a:rPr lang="en-US" sz="1600" dirty="0"/>
              <a:t>Variables with large values dominate</a:t>
            </a:r>
          </a:p>
          <a:p>
            <a:r>
              <a:rPr lang="en-US" sz="1600" dirty="0"/>
              <a:t> </a:t>
            </a:r>
          </a:p>
          <a:p>
            <a:r>
              <a:rPr lang="en-US" sz="1600" dirty="0"/>
              <a:t>With scaling:</a:t>
            </a:r>
          </a:p>
          <a:p>
            <a:pPr marL="285750" indent="-285750">
              <a:buFont typeface="Wingdings" pitchFamily="2" charset="2"/>
              <a:buChar char="Ø"/>
            </a:pPr>
            <a:r>
              <a:rPr lang="en-US" sz="1600" dirty="0"/>
              <a:t>All features contribute equally</a:t>
            </a:r>
          </a:p>
          <a:p>
            <a:endParaRPr lang="en-US" sz="1600" dirty="0"/>
          </a:p>
          <a:p>
            <a:r>
              <a:rPr lang="en-US" sz="1600" dirty="0"/>
              <a:t>Supervised models use labels, clustering does not</a:t>
            </a:r>
          </a:p>
        </p:txBody>
      </p:sp>
      <p:sp>
        <p:nvSpPr>
          <p:cNvPr id="19" name="Text 15">
            <a:extLst>
              <a:ext uri="{FF2B5EF4-FFF2-40B4-BE49-F238E27FC236}">
                <a16:creationId xmlns:a16="http://schemas.microsoft.com/office/drawing/2014/main" id="{23E8680D-78A9-E02C-0CB6-E1BABDBE7601}"/>
              </a:ext>
            </a:extLst>
          </p:cNvPr>
          <p:cNvSpPr/>
          <p:nvPr/>
        </p:nvSpPr>
        <p:spPr>
          <a:xfrm>
            <a:off x="11475720" y="6519672"/>
            <a:ext cx="320040" cy="182880"/>
          </a:xfrm>
          <a:prstGeom prst="rect">
            <a:avLst/>
          </a:prstGeom>
          <a:noFill/>
          <a:ln/>
        </p:spPr>
        <p:txBody>
          <a:bodyPr wrap="square" lIns="0" tIns="0" rIns="0" bIns="0" rtlCol="0" anchor="ctr"/>
          <a:lstStyle/>
          <a:p>
            <a:pPr marL="0" indent="0" algn="r">
              <a:buNone/>
            </a:pPr>
            <a:r>
              <a:rPr lang="en-US" sz="800" dirty="0">
                <a:solidFill>
                  <a:srgbClr val="4B5563"/>
                </a:solidFill>
              </a:rPr>
              <a:t>3</a:t>
            </a:r>
            <a:endParaRPr lang="en-US" sz="800" dirty="0"/>
          </a:p>
        </p:txBody>
      </p:sp>
      <p:sp>
        <p:nvSpPr>
          <p:cNvPr id="18" name="Text 12">
            <a:extLst>
              <a:ext uri="{FF2B5EF4-FFF2-40B4-BE49-F238E27FC236}">
                <a16:creationId xmlns:a16="http://schemas.microsoft.com/office/drawing/2014/main" id="{F91086AD-BE99-C8A8-177A-75EA20B7B50F}"/>
              </a:ext>
            </a:extLst>
          </p:cNvPr>
          <p:cNvSpPr/>
          <p:nvPr/>
        </p:nvSpPr>
        <p:spPr>
          <a:xfrm>
            <a:off x="502920" y="4617720"/>
            <a:ext cx="8503920" cy="1472184"/>
          </a:xfrm>
          <a:prstGeom prst="rect">
            <a:avLst/>
          </a:prstGeom>
          <a:noFill/>
          <a:ln/>
        </p:spPr>
        <p:txBody>
          <a:bodyPr wrap="square" lIns="0" tIns="0" rIns="0" bIns="0" rtlCol="0" anchor="ctr"/>
          <a:lstStyle/>
          <a:p>
            <a:r>
              <a:rPr lang="en-US" sz="2000" b="1" dirty="0">
                <a:solidFill>
                  <a:schemeClr val="accent4"/>
                </a:solidFill>
              </a:rPr>
              <a:t>This step is critical or results become meaningless</a:t>
            </a:r>
          </a:p>
        </p:txBody>
      </p:sp>
      <p:pic>
        <p:nvPicPr>
          <p:cNvPr id="21" name="Picture 20" descr="Why Feature Scaling Is Essential in Machine Learning | by Jack Ka-Chun, Yu  | Learning Data | Medium">
            <a:extLst>
              <a:ext uri="{FF2B5EF4-FFF2-40B4-BE49-F238E27FC236}">
                <a16:creationId xmlns:a16="http://schemas.microsoft.com/office/drawing/2014/main" id="{E79B5F94-3878-3018-5810-8D3A16B31C26}"/>
              </a:ext>
            </a:extLst>
          </p:cNvPr>
          <p:cNvPicPr>
            <a:picLocks noChangeAspect="1"/>
          </p:cNvPicPr>
          <p:nvPr/>
        </p:nvPicPr>
        <p:blipFill>
          <a:blip r:embed="rId3"/>
          <a:stretch>
            <a:fillRect/>
          </a:stretch>
        </p:blipFill>
        <p:spPr>
          <a:xfrm>
            <a:off x="7566212" y="2035078"/>
            <a:ext cx="4122868" cy="4122868"/>
          </a:xfrm>
          <a:prstGeom prst="rect">
            <a:avLst/>
          </a:prstGeom>
        </p:spPr>
      </p:pic>
    </p:spTree>
    <p:extLst>
      <p:ext uri="{BB962C8B-B14F-4D97-AF65-F5344CB8AC3E}">
        <p14:creationId xmlns:p14="http://schemas.microsoft.com/office/powerpoint/2010/main" val="4147403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chemeClr val="accent2">
            <a:alpha val="13265"/>
          </a:schemeClr>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F2A900">
              <a:alpha val="42000"/>
            </a:srgbClr>
          </a:solidFill>
          <a:ln w="12700">
            <a:solidFill>
              <a:srgbClr val="F2A900">
                <a:alpha val="0"/>
              </a:srgbClr>
            </a:solidFill>
            <a:prstDash val="solid"/>
          </a:ln>
        </p:spPr>
        <p:txBody>
          <a:bodyPr/>
          <a:lstStyle/>
          <a:p>
            <a:endParaRPr lang="en-US"/>
          </a:p>
        </p:txBody>
      </p:sp>
      <p:sp>
        <p:nvSpPr>
          <p:cNvPr id="3" name="Shape 1"/>
          <p:cNvSpPr/>
          <p:nvPr/>
        </p:nvSpPr>
        <p:spPr>
          <a:xfrm>
            <a:off x="0" y="6812280"/>
            <a:ext cx="12191695" cy="45720"/>
          </a:xfrm>
          <a:prstGeom prst="rect">
            <a:avLst/>
          </a:prstGeom>
          <a:solidFill>
            <a:srgbClr val="0B1F3A"/>
          </a:solidFill>
          <a:ln w="12700">
            <a:solidFill>
              <a:srgbClr val="0B1F3A">
                <a:alpha val="0"/>
              </a:srgbClr>
            </a:solidFill>
            <a:prstDash val="solid"/>
          </a:ln>
        </p:spPr>
        <p:txBody>
          <a:bodyPr/>
          <a:lstStyle/>
          <a:p>
            <a:endParaRPr lang="en-US"/>
          </a:p>
        </p:txBody>
      </p:sp>
      <p:sp>
        <p:nvSpPr>
          <p:cNvPr id="4" name="Text 2"/>
          <p:cNvSpPr/>
          <p:nvPr/>
        </p:nvSpPr>
        <p:spPr>
          <a:xfrm>
            <a:off x="502920" y="347472"/>
            <a:ext cx="8138160" cy="457200"/>
          </a:xfrm>
          <a:prstGeom prst="rect">
            <a:avLst/>
          </a:prstGeom>
          <a:noFill/>
          <a:ln/>
        </p:spPr>
        <p:txBody>
          <a:bodyPr wrap="square" lIns="0" tIns="0" rIns="0" bIns="0" rtlCol="0" anchor="ctr"/>
          <a:lstStyle/>
          <a:p>
            <a:pPr marL="0" indent="0">
              <a:buNone/>
            </a:pPr>
            <a:r>
              <a:rPr lang="en-US" sz="2700" b="1" dirty="0">
                <a:solidFill>
                  <a:srgbClr val="0B1F3A"/>
                </a:solidFill>
                <a:latin typeface="Aptos Display" pitchFamily="34" charset="0"/>
                <a:ea typeface="Aptos Display" pitchFamily="34" charset="-122"/>
                <a:cs typeface="Aptos Display" pitchFamily="34" charset="-120"/>
              </a:rPr>
              <a:t>Modeling plan</a:t>
            </a:r>
            <a:endParaRPr lang="en-US" sz="2700" dirty="0"/>
          </a:p>
        </p:txBody>
      </p:sp>
      <p:sp>
        <p:nvSpPr>
          <p:cNvPr id="5" name="Text 3"/>
          <p:cNvSpPr/>
          <p:nvPr/>
        </p:nvSpPr>
        <p:spPr>
          <a:xfrm>
            <a:off x="521208" y="832104"/>
            <a:ext cx="8503920" cy="274320"/>
          </a:xfrm>
          <a:prstGeom prst="rect">
            <a:avLst/>
          </a:prstGeom>
          <a:noFill/>
          <a:ln/>
        </p:spPr>
        <p:txBody>
          <a:bodyPr wrap="square" lIns="0" tIns="0" rIns="0" bIns="0" rtlCol="0" anchor="ctr"/>
          <a:lstStyle/>
          <a:p>
            <a:pPr marL="0" indent="0">
              <a:buNone/>
            </a:pPr>
            <a:r>
              <a:rPr lang="en-US" sz="1250" dirty="0">
                <a:solidFill>
                  <a:srgbClr val="4B5563"/>
                </a:solidFill>
              </a:rPr>
              <a:t>Two supervised models + two clustering models</a:t>
            </a:r>
            <a:endParaRPr lang="en-US" sz="1250" dirty="0"/>
          </a:p>
        </p:txBody>
      </p:sp>
      <p:sp>
        <p:nvSpPr>
          <p:cNvPr id="6" name="Shape 4"/>
          <p:cNvSpPr/>
          <p:nvPr/>
        </p:nvSpPr>
        <p:spPr>
          <a:xfrm>
            <a:off x="640080" y="1325880"/>
            <a:ext cx="5212080" cy="2130552"/>
          </a:xfrm>
          <a:prstGeom prst="roundRect">
            <a:avLst>
              <a:gd name="adj" fmla="val 1702"/>
            </a:avLst>
          </a:prstGeom>
          <a:solidFill>
            <a:srgbClr val="F5F8FC"/>
          </a:solidFill>
          <a:ln w="10160">
            <a:solidFill>
              <a:srgbClr val="D1D5DB">
                <a:alpha val="80000"/>
              </a:srgbClr>
            </a:solidFill>
            <a:prstDash val="solid"/>
          </a:ln>
        </p:spPr>
        <p:txBody>
          <a:bodyPr/>
          <a:lstStyle/>
          <a:p>
            <a:endParaRPr lang="en-US"/>
          </a:p>
        </p:txBody>
      </p:sp>
      <p:sp>
        <p:nvSpPr>
          <p:cNvPr id="7" name="Shape 5"/>
          <p:cNvSpPr/>
          <p:nvPr/>
        </p:nvSpPr>
        <p:spPr>
          <a:xfrm>
            <a:off x="6339842" y="1316736"/>
            <a:ext cx="5212080" cy="2139696"/>
          </a:xfrm>
          <a:prstGeom prst="roundRect">
            <a:avLst>
              <a:gd name="adj" fmla="val 1702"/>
            </a:avLst>
          </a:prstGeom>
          <a:solidFill>
            <a:srgbClr val="FFF8EA"/>
          </a:solidFill>
          <a:ln w="10160">
            <a:solidFill>
              <a:srgbClr val="D1D5DB">
                <a:alpha val="80000"/>
              </a:srgbClr>
            </a:solidFill>
            <a:prstDash val="solid"/>
          </a:ln>
        </p:spPr>
        <p:txBody>
          <a:bodyPr/>
          <a:lstStyle/>
          <a:p>
            <a:endParaRPr lang="en-US"/>
          </a:p>
        </p:txBody>
      </p:sp>
      <p:sp>
        <p:nvSpPr>
          <p:cNvPr id="8" name="Text 6"/>
          <p:cNvSpPr/>
          <p:nvPr/>
        </p:nvSpPr>
        <p:spPr>
          <a:xfrm>
            <a:off x="914400" y="1600200"/>
            <a:ext cx="4389120" cy="365760"/>
          </a:xfrm>
          <a:prstGeom prst="rect">
            <a:avLst/>
          </a:prstGeom>
          <a:noFill/>
          <a:ln/>
        </p:spPr>
        <p:txBody>
          <a:bodyPr wrap="square" lIns="0" tIns="0" rIns="0" bIns="0" rtlCol="0" anchor="ctr"/>
          <a:lstStyle/>
          <a:p>
            <a:pPr marL="0" indent="0">
              <a:buNone/>
            </a:pPr>
            <a:r>
              <a:rPr lang="en-US" sz="2100" b="1" dirty="0">
                <a:solidFill>
                  <a:srgbClr val="0B1F3A"/>
                </a:solidFill>
              </a:rPr>
              <a:t>Supervised classification</a:t>
            </a:r>
            <a:endParaRPr lang="en-US" sz="2100" dirty="0"/>
          </a:p>
        </p:txBody>
      </p:sp>
      <p:sp>
        <p:nvSpPr>
          <p:cNvPr id="9" name="Text 7"/>
          <p:cNvSpPr/>
          <p:nvPr/>
        </p:nvSpPr>
        <p:spPr>
          <a:xfrm>
            <a:off x="914400" y="2148840"/>
            <a:ext cx="4389120" cy="2011680"/>
          </a:xfrm>
          <a:prstGeom prst="rect">
            <a:avLst/>
          </a:prstGeom>
          <a:noFill/>
          <a:ln/>
        </p:spPr>
        <p:txBody>
          <a:bodyPr wrap="square" lIns="762" tIns="762" rIns="762" bIns="762" rtlCol="0" anchor="t">
            <a:normAutofit/>
          </a:bodyPr>
          <a:lstStyle/>
          <a:p>
            <a:pPr marL="285750" indent="-285750">
              <a:buFont typeface="Arial" panose="020B0604020202020204" pitchFamily="34" charset="0"/>
              <a:buChar char="•"/>
            </a:pPr>
            <a:r>
              <a:rPr lang="en-US" sz="1600" dirty="0">
                <a:solidFill>
                  <a:srgbClr val="0B1F3A"/>
                </a:solidFill>
              </a:rPr>
              <a:t>K-Nearest Neighbors (KNN)</a:t>
            </a:r>
          </a:p>
          <a:p>
            <a:pPr marL="285750" indent="-285750">
              <a:buFont typeface="Arial" panose="020B0604020202020204" pitchFamily="34" charset="0"/>
              <a:buChar char="•"/>
            </a:pPr>
            <a:r>
              <a:rPr lang="en-US" sz="1600" dirty="0"/>
              <a:t>Support Vector Machine (SVM)</a:t>
            </a:r>
          </a:p>
        </p:txBody>
      </p:sp>
      <p:sp>
        <p:nvSpPr>
          <p:cNvPr id="10" name="Text 8"/>
          <p:cNvSpPr/>
          <p:nvPr/>
        </p:nvSpPr>
        <p:spPr>
          <a:xfrm>
            <a:off x="6614162" y="1591056"/>
            <a:ext cx="4389120" cy="365760"/>
          </a:xfrm>
          <a:prstGeom prst="rect">
            <a:avLst/>
          </a:prstGeom>
          <a:noFill/>
          <a:ln/>
        </p:spPr>
        <p:txBody>
          <a:bodyPr wrap="square" lIns="0" tIns="0" rIns="0" bIns="0" rtlCol="0" anchor="ctr"/>
          <a:lstStyle/>
          <a:p>
            <a:pPr marL="0" indent="0">
              <a:buNone/>
            </a:pPr>
            <a:r>
              <a:rPr lang="en-US" sz="2100" b="1" dirty="0">
                <a:solidFill>
                  <a:srgbClr val="0B1F3A"/>
                </a:solidFill>
              </a:rPr>
              <a:t>Unsupervised clustering</a:t>
            </a:r>
            <a:endParaRPr lang="en-US" sz="2100" dirty="0"/>
          </a:p>
        </p:txBody>
      </p:sp>
      <p:sp>
        <p:nvSpPr>
          <p:cNvPr id="11" name="Text 9"/>
          <p:cNvSpPr/>
          <p:nvPr/>
        </p:nvSpPr>
        <p:spPr>
          <a:xfrm>
            <a:off x="6614162" y="2139696"/>
            <a:ext cx="4389120" cy="820271"/>
          </a:xfrm>
          <a:prstGeom prst="rect">
            <a:avLst/>
          </a:prstGeom>
          <a:noFill/>
          <a:ln/>
        </p:spPr>
        <p:txBody>
          <a:bodyPr wrap="square" lIns="762" tIns="762" rIns="762" bIns="762" rtlCol="0" anchor="t">
            <a:normAutofit/>
          </a:bodyPr>
          <a:lstStyle/>
          <a:p>
            <a:pPr marL="285750" indent="-285750">
              <a:buFont typeface="Arial" panose="020B0604020202020204" pitchFamily="34" charset="0"/>
              <a:buChar char="•"/>
            </a:pPr>
            <a:r>
              <a:rPr lang="en-US" sz="1600" dirty="0"/>
              <a:t>K-Means Clustering </a:t>
            </a:r>
          </a:p>
          <a:p>
            <a:pPr marL="285750" indent="-285750">
              <a:buFont typeface="Arial" panose="020B0604020202020204" pitchFamily="34" charset="0"/>
              <a:buChar char="•"/>
            </a:pPr>
            <a:r>
              <a:rPr lang="en-US" sz="1600" dirty="0"/>
              <a:t>Hierarchical Clustering</a:t>
            </a:r>
          </a:p>
        </p:txBody>
      </p:sp>
      <p:sp>
        <p:nvSpPr>
          <p:cNvPr id="13" name="Text 10"/>
          <p:cNvSpPr/>
          <p:nvPr/>
        </p:nvSpPr>
        <p:spPr>
          <a:xfrm>
            <a:off x="11475720" y="6519672"/>
            <a:ext cx="320040" cy="182880"/>
          </a:xfrm>
          <a:prstGeom prst="rect">
            <a:avLst/>
          </a:prstGeom>
          <a:noFill/>
          <a:ln/>
        </p:spPr>
        <p:txBody>
          <a:bodyPr wrap="square" lIns="0" tIns="0" rIns="0" bIns="0" rtlCol="0" anchor="ctr"/>
          <a:lstStyle/>
          <a:p>
            <a:pPr marL="0" indent="0" algn="r">
              <a:buNone/>
            </a:pPr>
            <a:r>
              <a:rPr lang="en-US" sz="800" dirty="0">
                <a:solidFill>
                  <a:srgbClr val="4B5563"/>
                </a:solidFill>
              </a:rPr>
              <a:t>5</a:t>
            </a:r>
            <a:endParaRPr lang="en-US" sz="800" dirty="0"/>
          </a:p>
        </p:txBody>
      </p:sp>
      <p:pic>
        <p:nvPicPr>
          <p:cNvPr id="16" name="Picture 15" descr="Supervised Learning vs Unsupervised Learning in Machine Learning - Kritikal  Solutions">
            <a:extLst>
              <a:ext uri="{FF2B5EF4-FFF2-40B4-BE49-F238E27FC236}">
                <a16:creationId xmlns:a16="http://schemas.microsoft.com/office/drawing/2014/main" id="{4C7F7B31-4BBB-B562-EE37-94EE31D5609D}"/>
              </a:ext>
            </a:extLst>
          </p:cNvPr>
          <p:cNvPicPr>
            <a:picLocks noChangeAspect="1"/>
          </p:cNvPicPr>
          <p:nvPr/>
        </p:nvPicPr>
        <p:blipFill>
          <a:blip r:embed="rId3"/>
          <a:stretch>
            <a:fillRect/>
          </a:stretch>
        </p:blipFill>
        <p:spPr>
          <a:xfrm>
            <a:off x="2728856" y="3783630"/>
            <a:ext cx="6734287" cy="259011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chemeClr val="bg2">
            <a:lumMod val="75000"/>
            <a:alpha val="41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chemeClr val="bg2">
              <a:lumMod val="50000"/>
            </a:schemeClr>
          </a:solidFill>
          <a:ln w="12700">
            <a:solidFill>
              <a:srgbClr val="F2A900">
                <a:alpha val="0"/>
              </a:srgbClr>
            </a:solidFill>
            <a:prstDash val="solid"/>
          </a:ln>
        </p:spPr>
        <p:txBody>
          <a:bodyPr/>
          <a:lstStyle/>
          <a:p>
            <a:endParaRPr lang="en-US"/>
          </a:p>
        </p:txBody>
      </p:sp>
      <p:sp>
        <p:nvSpPr>
          <p:cNvPr id="3" name="Shape 1"/>
          <p:cNvSpPr/>
          <p:nvPr/>
        </p:nvSpPr>
        <p:spPr>
          <a:xfrm>
            <a:off x="0" y="6812280"/>
            <a:ext cx="12191695" cy="45720"/>
          </a:xfrm>
          <a:prstGeom prst="rect">
            <a:avLst/>
          </a:prstGeom>
          <a:solidFill>
            <a:srgbClr val="0B1F3A"/>
          </a:solidFill>
          <a:ln w="12700">
            <a:solidFill>
              <a:srgbClr val="0B1F3A">
                <a:alpha val="0"/>
              </a:srgbClr>
            </a:solidFill>
            <a:prstDash val="solid"/>
          </a:ln>
        </p:spPr>
        <p:txBody>
          <a:bodyPr/>
          <a:lstStyle/>
          <a:p>
            <a:endParaRPr lang="en-US"/>
          </a:p>
        </p:txBody>
      </p:sp>
      <p:sp>
        <p:nvSpPr>
          <p:cNvPr id="4" name="Text 2"/>
          <p:cNvSpPr/>
          <p:nvPr/>
        </p:nvSpPr>
        <p:spPr>
          <a:xfrm>
            <a:off x="502920" y="347472"/>
            <a:ext cx="8138160" cy="457200"/>
          </a:xfrm>
          <a:prstGeom prst="rect">
            <a:avLst/>
          </a:prstGeom>
          <a:noFill/>
          <a:ln/>
        </p:spPr>
        <p:txBody>
          <a:bodyPr wrap="square" lIns="0" tIns="0" rIns="0" bIns="0" rtlCol="0" anchor="ctr"/>
          <a:lstStyle/>
          <a:p>
            <a:pPr marL="0" indent="0">
              <a:buNone/>
            </a:pPr>
            <a:r>
              <a:rPr lang="en-US" sz="2700" b="1" dirty="0">
                <a:solidFill>
                  <a:srgbClr val="0B1F3A"/>
                </a:solidFill>
                <a:latin typeface="Aptos Display" pitchFamily="34" charset="0"/>
                <a:ea typeface="Aptos Display" pitchFamily="34" charset="-122"/>
                <a:cs typeface="Aptos Display" pitchFamily="34" charset="-120"/>
              </a:rPr>
              <a:t>KNN results</a:t>
            </a:r>
            <a:endParaRPr lang="en-US" sz="2700" dirty="0"/>
          </a:p>
        </p:txBody>
      </p:sp>
      <p:sp>
        <p:nvSpPr>
          <p:cNvPr id="5" name="Text 3"/>
          <p:cNvSpPr/>
          <p:nvPr/>
        </p:nvSpPr>
        <p:spPr>
          <a:xfrm>
            <a:off x="521208" y="832104"/>
            <a:ext cx="8503920" cy="274320"/>
          </a:xfrm>
          <a:prstGeom prst="rect">
            <a:avLst/>
          </a:prstGeom>
          <a:noFill/>
          <a:ln/>
        </p:spPr>
        <p:txBody>
          <a:bodyPr wrap="square" lIns="0" tIns="0" rIns="0" bIns="0" rtlCol="0" anchor="ctr"/>
          <a:lstStyle/>
          <a:p>
            <a:pPr marL="0" indent="0">
              <a:buNone/>
            </a:pPr>
            <a:r>
              <a:rPr lang="en-US" sz="1250" dirty="0">
                <a:solidFill>
                  <a:srgbClr val="4B5563"/>
                </a:solidFill>
              </a:rPr>
              <a:t>Choosing K from test accuracy</a:t>
            </a:r>
            <a:endParaRPr lang="en-US" sz="1250" dirty="0"/>
          </a:p>
        </p:txBody>
      </p:sp>
      <p:sp>
        <p:nvSpPr>
          <p:cNvPr id="7" name="Shape 4"/>
          <p:cNvSpPr/>
          <p:nvPr/>
        </p:nvSpPr>
        <p:spPr>
          <a:xfrm>
            <a:off x="7904181" y="1627078"/>
            <a:ext cx="3520440" cy="3291840"/>
          </a:xfrm>
          <a:prstGeom prst="roundRect">
            <a:avLst>
              <a:gd name="adj" fmla="val 2222"/>
            </a:avLst>
          </a:prstGeom>
          <a:solidFill>
            <a:srgbClr val="F7F8FA"/>
          </a:solidFill>
          <a:ln w="10160">
            <a:solidFill>
              <a:srgbClr val="D1D5DB">
                <a:alpha val="80000"/>
              </a:srgbClr>
            </a:solidFill>
            <a:prstDash val="solid"/>
          </a:ln>
        </p:spPr>
        <p:txBody>
          <a:bodyPr/>
          <a:lstStyle/>
          <a:p>
            <a:endParaRPr lang="en-US"/>
          </a:p>
        </p:txBody>
      </p:sp>
      <p:sp>
        <p:nvSpPr>
          <p:cNvPr id="8" name="Text 5"/>
          <p:cNvSpPr/>
          <p:nvPr/>
        </p:nvSpPr>
        <p:spPr>
          <a:xfrm>
            <a:off x="8178501" y="1947118"/>
            <a:ext cx="2743200" cy="274320"/>
          </a:xfrm>
          <a:prstGeom prst="rect">
            <a:avLst/>
          </a:prstGeom>
          <a:noFill/>
          <a:ln/>
        </p:spPr>
        <p:txBody>
          <a:bodyPr wrap="square" lIns="0" tIns="0" rIns="0" bIns="0" rtlCol="0" anchor="ctr"/>
          <a:lstStyle/>
          <a:p>
            <a:pPr marL="0" indent="0">
              <a:buNone/>
            </a:pPr>
            <a:r>
              <a:rPr lang="en-US" sz="2000" b="1" dirty="0">
                <a:solidFill>
                  <a:srgbClr val="0B1F3A"/>
                </a:solidFill>
              </a:rPr>
              <a:t>KNN summary</a:t>
            </a:r>
            <a:endParaRPr lang="en-US" sz="2000" dirty="0"/>
          </a:p>
        </p:txBody>
      </p:sp>
      <p:sp>
        <p:nvSpPr>
          <p:cNvPr id="9" name="Text 6"/>
          <p:cNvSpPr/>
          <p:nvPr/>
        </p:nvSpPr>
        <p:spPr>
          <a:xfrm>
            <a:off x="8178501" y="2450038"/>
            <a:ext cx="2743200" cy="1554480"/>
          </a:xfrm>
          <a:prstGeom prst="rect">
            <a:avLst/>
          </a:prstGeom>
          <a:noFill/>
          <a:ln/>
        </p:spPr>
        <p:txBody>
          <a:bodyPr wrap="square" lIns="762" tIns="762" rIns="762" bIns="762" rtlCol="0" anchor="t">
            <a:normAutofit/>
          </a:bodyPr>
          <a:lstStyle/>
          <a:p>
            <a:pPr marL="285750" indent="-285750">
              <a:buFont typeface="Arial" panose="020B0604020202020204" pitchFamily="34" charset="0"/>
              <a:buChar char="•"/>
            </a:pPr>
            <a:r>
              <a:rPr lang="en-US" sz="1550" dirty="0">
                <a:solidFill>
                  <a:srgbClr val="0B1F3A"/>
                </a:solidFill>
              </a:rPr>
              <a:t>K tested: 1 to 25</a:t>
            </a:r>
            <a:endParaRPr lang="en-US" sz="1550" dirty="0"/>
          </a:p>
          <a:p>
            <a:pPr marL="285750" indent="-285750">
              <a:buFont typeface="Arial" panose="020B0604020202020204" pitchFamily="34" charset="0"/>
              <a:buChar char="•"/>
            </a:pPr>
            <a:r>
              <a:rPr lang="en-US" sz="1550" dirty="0">
                <a:solidFill>
                  <a:srgbClr val="0B1F3A"/>
                </a:solidFill>
              </a:rPr>
              <a:t>Chosen K: 5</a:t>
            </a:r>
            <a:endParaRPr lang="en-US" sz="1550" dirty="0"/>
          </a:p>
          <a:p>
            <a:pPr marL="285750" indent="-285750">
              <a:buFont typeface="Arial" panose="020B0604020202020204" pitchFamily="34" charset="0"/>
              <a:buChar char="•"/>
            </a:pPr>
            <a:r>
              <a:rPr lang="en-US" sz="1550" dirty="0">
                <a:solidFill>
                  <a:srgbClr val="0B1F3A"/>
                </a:solidFill>
              </a:rPr>
              <a:t>Test accuracy: 89.08%</a:t>
            </a:r>
            <a:endParaRPr lang="en-US" sz="1550" dirty="0"/>
          </a:p>
          <a:p>
            <a:pPr marL="285750" indent="-285750">
              <a:buFont typeface="Arial" panose="020B0604020202020204" pitchFamily="34" charset="0"/>
              <a:buChar char="•"/>
            </a:pPr>
            <a:r>
              <a:rPr lang="en-US" sz="1550" dirty="0">
                <a:solidFill>
                  <a:srgbClr val="0B1F3A"/>
                </a:solidFill>
              </a:rPr>
              <a:t>Balanced accuracy: 87.30%</a:t>
            </a:r>
            <a:endParaRPr lang="en-US" sz="1550" dirty="0"/>
          </a:p>
        </p:txBody>
      </p:sp>
      <p:sp>
        <p:nvSpPr>
          <p:cNvPr id="10" name="Text 7"/>
          <p:cNvSpPr/>
          <p:nvPr/>
        </p:nvSpPr>
        <p:spPr>
          <a:xfrm>
            <a:off x="8178501" y="4370278"/>
            <a:ext cx="2971800" cy="502920"/>
          </a:xfrm>
          <a:prstGeom prst="rect">
            <a:avLst/>
          </a:prstGeom>
          <a:noFill/>
          <a:ln/>
        </p:spPr>
        <p:txBody>
          <a:bodyPr wrap="square" lIns="0" tIns="0" rIns="0" bIns="0" rtlCol="0" anchor="ctr">
            <a:normAutofit/>
          </a:bodyPr>
          <a:lstStyle/>
          <a:p>
            <a:pPr marL="0" indent="0">
              <a:buNone/>
            </a:pPr>
            <a:r>
              <a:rPr lang="en-US" sz="1150" i="1" dirty="0">
                <a:solidFill>
                  <a:srgbClr val="4B5563"/>
                </a:solidFill>
              </a:rPr>
              <a:t>K = 5 was selected because it tied for best accuracy while avoiding the instability of K = 1.</a:t>
            </a:r>
            <a:endParaRPr lang="en-US" sz="1150" dirty="0"/>
          </a:p>
        </p:txBody>
      </p:sp>
      <p:sp>
        <p:nvSpPr>
          <p:cNvPr id="12" name="Text 8"/>
          <p:cNvSpPr/>
          <p:nvPr/>
        </p:nvSpPr>
        <p:spPr>
          <a:xfrm>
            <a:off x="11475720" y="6519672"/>
            <a:ext cx="320040" cy="182880"/>
          </a:xfrm>
          <a:prstGeom prst="rect">
            <a:avLst/>
          </a:prstGeom>
          <a:noFill/>
          <a:ln/>
        </p:spPr>
        <p:txBody>
          <a:bodyPr wrap="square" lIns="0" tIns="0" rIns="0" bIns="0" rtlCol="0" anchor="ctr"/>
          <a:lstStyle/>
          <a:p>
            <a:pPr marL="0" indent="0" algn="r">
              <a:buNone/>
            </a:pPr>
            <a:r>
              <a:rPr lang="en-US" sz="800" dirty="0">
                <a:solidFill>
                  <a:srgbClr val="4B5563"/>
                </a:solidFill>
              </a:rPr>
              <a:t>6</a:t>
            </a:r>
            <a:endParaRPr lang="en-US" sz="800" dirty="0"/>
          </a:p>
        </p:txBody>
      </p:sp>
      <p:pic>
        <p:nvPicPr>
          <p:cNvPr id="11" name="Picture 10">
            <a:extLst>
              <a:ext uri="{FF2B5EF4-FFF2-40B4-BE49-F238E27FC236}">
                <a16:creationId xmlns:a16="http://schemas.microsoft.com/office/drawing/2014/main" id="{5AAE5055-1B9E-3283-DADE-F3DC7E1CCF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9255" y="1279208"/>
            <a:ext cx="7017385" cy="501241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chemeClr val="accent2">
            <a:lumMod val="20000"/>
            <a:lumOff val="80000"/>
            <a:alpha val="43072"/>
          </a:schemeClr>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00000">
              <a:alpha val="45887"/>
            </a:srgbClr>
          </a:solidFill>
          <a:ln w="12700">
            <a:solidFill>
              <a:srgbClr val="F2A900">
                <a:alpha val="0"/>
              </a:srgbClr>
            </a:solidFill>
            <a:prstDash val="solid"/>
          </a:ln>
        </p:spPr>
        <p:txBody>
          <a:bodyPr/>
          <a:lstStyle/>
          <a:p>
            <a:endParaRPr lang="en-US"/>
          </a:p>
        </p:txBody>
      </p:sp>
      <p:sp>
        <p:nvSpPr>
          <p:cNvPr id="3" name="Shape 1"/>
          <p:cNvSpPr/>
          <p:nvPr/>
        </p:nvSpPr>
        <p:spPr>
          <a:xfrm>
            <a:off x="0" y="6812280"/>
            <a:ext cx="12191695" cy="45720"/>
          </a:xfrm>
          <a:prstGeom prst="rect">
            <a:avLst/>
          </a:prstGeom>
          <a:solidFill>
            <a:srgbClr val="0B1F3A"/>
          </a:solidFill>
          <a:ln w="12700">
            <a:solidFill>
              <a:srgbClr val="0B1F3A">
                <a:alpha val="0"/>
              </a:srgbClr>
            </a:solidFill>
            <a:prstDash val="solid"/>
          </a:ln>
        </p:spPr>
        <p:txBody>
          <a:bodyPr/>
          <a:lstStyle/>
          <a:p>
            <a:endParaRPr lang="en-US"/>
          </a:p>
        </p:txBody>
      </p:sp>
      <p:sp>
        <p:nvSpPr>
          <p:cNvPr id="4" name="Text 2"/>
          <p:cNvSpPr/>
          <p:nvPr/>
        </p:nvSpPr>
        <p:spPr>
          <a:xfrm>
            <a:off x="502920" y="347472"/>
            <a:ext cx="8138160" cy="457200"/>
          </a:xfrm>
          <a:prstGeom prst="rect">
            <a:avLst/>
          </a:prstGeom>
          <a:noFill/>
          <a:ln/>
        </p:spPr>
        <p:txBody>
          <a:bodyPr wrap="square" lIns="0" tIns="0" rIns="0" bIns="0" rtlCol="0" anchor="ctr"/>
          <a:lstStyle/>
          <a:p>
            <a:pPr marL="0" indent="0">
              <a:buNone/>
            </a:pPr>
            <a:r>
              <a:rPr lang="en-US" sz="2700" b="1" dirty="0">
                <a:solidFill>
                  <a:srgbClr val="0B1F3A"/>
                </a:solidFill>
                <a:latin typeface="Aptos Display" pitchFamily="34" charset="0"/>
                <a:ea typeface="Aptos Display" pitchFamily="34" charset="-122"/>
                <a:cs typeface="Aptos Display" pitchFamily="34" charset="-120"/>
              </a:rPr>
              <a:t>SVM results</a:t>
            </a:r>
            <a:endParaRPr lang="en-US" sz="2700" dirty="0"/>
          </a:p>
        </p:txBody>
      </p:sp>
      <p:sp>
        <p:nvSpPr>
          <p:cNvPr id="5" name="Text 3"/>
          <p:cNvSpPr/>
          <p:nvPr/>
        </p:nvSpPr>
        <p:spPr>
          <a:xfrm>
            <a:off x="521208" y="832104"/>
            <a:ext cx="8503920" cy="274320"/>
          </a:xfrm>
          <a:prstGeom prst="rect">
            <a:avLst/>
          </a:prstGeom>
          <a:noFill/>
          <a:ln/>
        </p:spPr>
        <p:txBody>
          <a:bodyPr wrap="square" lIns="0" tIns="0" rIns="0" bIns="0" rtlCol="0" anchor="ctr"/>
          <a:lstStyle/>
          <a:p>
            <a:pPr marL="0" indent="0">
              <a:buNone/>
            </a:pPr>
            <a:r>
              <a:rPr lang="en-US" sz="1250" dirty="0">
                <a:solidFill>
                  <a:srgbClr val="4B5563"/>
                </a:solidFill>
              </a:rPr>
              <a:t>Best supervised model using an RBF kernel</a:t>
            </a:r>
            <a:endParaRPr lang="en-US" sz="1250" dirty="0"/>
          </a:p>
        </p:txBody>
      </p:sp>
      <p:sp>
        <p:nvSpPr>
          <p:cNvPr id="6" name="Shape 4"/>
          <p:cNvSpPr/>
          <p:nvPr/>
        </p:nvSpPr>
        <p:spPr>
          <a:xfrm>
            <a:off x="685800" y="1234440"/>
            <a:ext cx="4663440" cy="4480560"/>
          </a:xfrm>
          <a:prstGeom prst="roundRect">
            <a:avLst>
              <a:gd name="adj" fmla="val 1633"/>
            </a:avLst>
          </a:prstGeom>
          <a:solidFill>
            <a:srgbClr val="F4F7FB"/>
          </a:solidFill>
          <a:ln w="10160">
            <a:solidFill>
              <a:srgbClr val="D1D5DB">
                <a:alpha val="80000"/>
              </a:srgbClr>
            </a:solidFill>
            <a:prstDash val="solid"/>
          </a:ln>
        </p:spPr>
        <p:txBody>
          <a:bodyPr/>
          <a:lstStyle/>
          <a:p>
            <a:endParaRPr lang="en-US"/>
          </a:p>
        </p:txBody>
      </p:sp>
      <p:sp>
        <p:nvSpPr>
          <p:cNvPr id="7" name="Text 5"/>
          <p:cNvSpPr/>
          <p:nvPr/>
        </p:nvSpPr>
        <p:spPr>
          <a:xfrm>
            <a:off x="960120" y="1600200"/>
            <a:ext cx="3840480" cy="320040"/>
          </a:xfrm>
          <a:prstGeom prst="rect">
            <a:avLst/>
          </a:prstGeom>
          <a:noFill/>
          <a:ln/>
        </p:spPr>
        <p:txBody>
          <a:bodyPr wrap="square" lIns="0" tIns="0" rIns="0" bIns="0" rtlCol="0" anchor="ctr"/>
          <a:lstStyle/>
          <a:p>
            <a:pPr marL="0" indent="0">
              <a:buNone/>
            </a:pPr>
            <a:r>
              <a:rPr lang="en-US" sz="2200" b="1" dirty="0">
                <a:solidFill>
                  <a:srgbClr val="0B1F3A"/>
                </a:solidFill>
              </a:rPr>
              <a:t>Tuned using cross-validation</a:t>
            </a:r>
            <a:endParaRPr lang="en-US" sz="2200" dirty="0"/>
          </a:p>
        </p:txBody>
      </p:sp>
      <p:sp>
        <p:nvSpPr>
          <p:cNvPr id="8" name="Text 6"/>
          <p:cNvSpPr/>
          <p:nvPr/>
        </p:nvSpPr>
        <p:spPr>
          <a:xfrm>
            <a:off x="945606" y="2148840"/>
            <a:ext cx="4023360" cy="2011680"/>
          </a:xfrm>
          <a:prstGeom prst="rect">
            <a:avLst/>
          </a:prstGeom>
          <a:noFill/>
          <a:ln/>
        </p:spPr>
        <p:txBody>
          <a:bodyPr wrap="square" lIns="762" tIns="762" rIns="762" bIns="762" rtlCol="0" anchor="t">
            <a:normAutofit/>
          </a:bodyPr>
          <a:lstStyle/>
          <a:p>
            <a:pPr marL="285750" indent="-285750">
              <a:buFont typeface="Arial" panose="020B0604020202020204" pitchFamily="34" charset="0"/>
              <a:buChar char="•"/>
            </a:pPr>
            <a:r>
              <a:rPr lang="en-US" sz="1600" dirty="0"/>
              <a:t>Best parameters: </a:t>
            </a:r>
          </a:p>
          <a:p>
            <a:pPr marL="742950" lvl="1" indent="-285750">
              <a:buFont typeface="Arial" panose="020B0604020202020204" pitchFamily="34" charset="0"/>
              <a:buChar char="•"/>
            </a:pPr>
            <a:r>
              <a:rPr lang="en-US" sz="1600" dirty="0">
                <a:solidFill>
                  <a:srgbClr val="0B1F3A"/>
                </a:solidFill>
              </a:rPr>
              <a:t>Cost = 10</a:t>
            </a:r>
            <a:endParaRPr lang="en-US" sz="1600" dirty="0"/>
          </a:p>
          <a:p>
            <a:pPr marL="742950" lvl="1" indent="-285750">
              <a:buFont typeface="Arial" panose="020B0604020202020204" pitchFamily="34" charset="0"/>
              <a:buChar char="•"/>
            </a:pPr>
            <a:r>
              <a:rPr lang="en-US" sz="1600" dirty="0">
                <a:solidFill>
                  <a:srgbClr val="0B1F3A"/>
                </a:solidFill>
              </a:rPr>
              <a:t>Gamma = 0.1</a:t>
            </a:r>
          </a:p>
          <a:p>
            <a:endParaRPr lang="en-US" sz="1600" dirty="0"/>
          </a:p>
          <a:p>
            <a:pPr marL="285750" indent="-285750">
              <a:buFont typeface="Arial" panose="020B0604020202020204" pitchFamily="34" charset="0"/>
              <a:buChar char="•"/>
            </a:pPr>
            <a:r>
              <a:rPr lang="en-US" sz="1600" dirty="0">
                <a:solidFill>
                  <a:srgbClr val="0B1F3A"/>
                </a:solidFill>
              </a:rPr>
              <a:t>Test accuracy: 89.92%</a:t>
            </a:r>
            <a:endParaRPr lang="en-US" sz="1600" dirty="0"/>
          </a:p>
        </p:txBody>
      </p:sp>
      <p:sp>
        <p:nvSpPr>
          <p:cNvPr id="9" name="Text 7"/>
          <p:cNvSpPr/>
          <p:nvPr/>
        </p:nvSpPr>
        <p:spPr>
          <a:xfrm>
            <a:off x="960120" y="4617720"/>
            <a:ext cx="3977640" cy="457200"/>
          </a:xfrm>
          <a:prstGeom prst="rect">
            <a:avLst/>
          </a:prstGeom>
          <a:noFill/>
          <a:ln/>
        </p:spPr>
        <p:txBody>
          <a:bodyPr wrap="square" lIns="0" tIns="0" rIns="0" bIns="0" rtlCol="0" anchor="ctr">
            <a:normAutofit/>
          </a:bodyPr>
          <a:lstStyle/>
          <a:p>
            <a:pPr marL="0" indent="0">
              <a:buNone/>
            </a:pPr>
            <a:r>
              <a:rPr lang="en-US" sz="1250" i="1" dirty="0">
                <a:solidFill>
                  <a:srgbClr val="4B5563"/>
                </a:solidFill>
              </a:rPr>
              <a:t>The SVM slightly outperformed KNN</a:t>
            </a:r>
            <a:endParaRPr lang="en-US" sz="1250" dirty="0"/>
          </a:p>
        </p:txBody>
      </p:sp>
      <p:sp>
        <p:nvSpPr>
          <p:cNvPr id="10" name="Shape 8"/>
          <p:cNvSpPr/>
          <p:nvPr/>
        </p:nvSpPr>
        <p:spPr>
          <a:xfrm>
            <a:off x="5943600" y="1234440"/>
            <a:ext cx="5303520" cy="4480560"/>
          </a:xfrm>
          <a:prstGeom prst="rect">
            <a:avLst/>
          </a:prstGeom>
          <a:solidFill>
            <a:srgbClr val="EEF2F7"/>
          </a:solidFill>
          <a:ln w="13970">
            <a:solidFill>
              <a:srgbClr val="D1D5DB"/>
            </a:solidFill>
            <a:prstDash val="solid"/>
          </a:ln>
        </p:spPr>
        <p:txBody>
          <a:bodyPr/>
          <a:lstStyle/>
          <a:p>
            <a:endParaRPr lang="en-US"/>
          </a:p>
        </p:txBody>
      </p:sp>
      <p:sp>
        <p:nvSpPr>
          <p:cNvPr id="11" name="Text 9"/>
          <p:cNvSpPr/>
          <p:nvPr/>
        </p:nvSpPr>
        <p:spPr>
          <a:xfrm>
            <a:off x="6080760" y="1318736"/>
            <a:ext cx="5029200" cy="274320"/>
          </a:xfrm>
          <a:prstGeom prst="rect">
            <a:avLst/>
          </a:prstGeom>
          <a:noFill/>
          <a:ln/>
        </p:spPr>
        <p:txBody>
          <a:bodyPr wrap="square" lIns="0" tIns="0" rIns="0" bIns="0" rtlCol="0" anchor="ctr"/>
          <a:lstStyle/>
          <a:p>
            <a:pPr marL="0" indent="0" algn="ctr">
              <a:buNone/>
            </a:pPr>
            <a:r>
              <a:rPr lang="en-US" sz="1350" b="1" dirty="0">
                <a:solidFill>
                  <a:srgbClr val="0B1F3A"/>
                </a:solidFill>
              </a:rPr>
              <a:t>SVM decision boundary</a:t>
            </a:r>
            <a:endParaRPr lang="en-US" sz="1350" dirty="0"/>
          </a:p>
        </p:txBody>
      </p:sp>
      <p:sp>
        <p:nvSpPr>
          <p:cNvPr id="14" name="Text 11"/>
          <p:cNvSpPr/>
          <p:nvPr/>
        </p:nvSpPr>
        <p:spPr>
          <a:xfrm>
            <a:off x="11475720" y="6519672"/>
            <a:ext cx="320040" cy="182880"/>
          </a:xfrm>
          <a:prstGeom prst="rect">
            <a:avLst/>
          </a:prstGeom>
          <a:noFill/>
          <a:ln/>
        </p:spPr>
        <p:txBody>
          <a:bodyPr wrap="square" lIns="0" tIns="0" rIns="0" bIns="0" rtlCol="0" anchor="ctr"/>
          <a:lstStyle/>
          <a:p>
            <a:pPr marL="0" indent="0" algn="r">
              <a:buNone/>
            </a:pPr>
            <a:r>
              <a:rPr lang="en-US" sz="800" dirty="0">
                <a:solidFill>
                  <a:srgbClr val="4B5563"/>
                </a:solidFill>
              </a:rPr>
              <a:t>7</a:t>
            </a:r>
            <a:endParaRPr lang="en-US" sz="800" dirty="0"/>
          </a:p>
        </p:txBody>
      </p:sp>
      <p:pic>
        <p:nvPicPr>
          <p:cNvPr id="13" name="Picture 12">
            <a:extLst>
              <a:ext uri="{FF2B5EF4-FFF2-40B4-BE49-F238E27FC236}">
                <a16:creationId xmlns:a16="http://schemas.microsoft.com/office/drawing/2014/main" id="{203FF170-BCB0-D9DD-5F32-E45AF4D502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1" y="1675542"/>
            <a:ext cx="5135880" cy="399419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B0F0">
              <a:alpha val="65000"/>
            </a:srgbClr>
          </a:solidFill>
          <a:ln w="12700">
            <a:solidFill>
              <a:srgbClr val="F2A900">
                <a:alpha val="0"/>
              </a:srgbClr>
            </a:solidFill>
            <a:prstDash val="solid"/>
          </a:ln>
        </p:spPr>
        <p:txBody>
          <a:bodyPr/>
          <a:lstStyle/>
          <a:p>
            <a:endParaRPr lang="en-US"/>
          </a:p>
        </p:txBody>
      </p:sp>
      <p:sp>
        <p:nvSpPr>
          <p:cNvPr id="3" name="Shape 1"/>
          <p:cNvSpPr/>
          <p:nvPr/>
        </p:nvSpPr>
        <p:spPr>
          <a:xfrm>
            <a:off x="0" y="6812280"/>
            <a:ext cx="12191695" cy="45720"/>
          </a:xfrm>
          <a:prstGeom prst="rect">
            <a:avLst/>
          </a:prstGeom>
          <a:solidFill>
            <a:srgbClr val="0B1F3A"/>
          </a:solidFill>
          <a:ln w="12700">
            <a:solidFill>
              <a:srgbClr val="0B1F3A">
                <a:alpha val="0"/>
              </a:srgbClr>
            </a:solidFill>
            <a:prstDash val="solid"/>
          </a:ln>
        </p:spPr>
        <p:txBody>
          <a:bodyPr/>
          <a:lstStyle/>
          <a:p>
            <a:endParaRPr lang="en-US"/>
          </a:p>
        </p:txBody>
      </p:sp>
      <p:sp>
        <p:nvSpPr>
          <p:cNvPr id="4" name="Text 2"/>
          <p:cNvSpPr/>
          <p:nvPr/>
        </p:nvSpPr>
        <p:spPr>
          <a:xfrm>
            <a:off x="502920" y="347472"/>
            <a:ext cx="8138160" cy="457200"/>
          </a:xfrm>
          <a:prstGeom prst="rect">
            <a:avLst/>
          </a:prstGeom>
          <a:noFill/>
          <a:ln/>
        </p:spPr>
        <p:txBody>
          <a:bodyPr wrap="square" lIns="0" tIns="0" rIns="0" bIns="0" rtlCol="0" anchor="ctr"/>
          <a:lstStyle/>
          <a:p>
            <a:pPr marL="0" indent="0">
              <a:buNone/>
            </a:pPr>
            <a:r>
              <a:rPr lang="en-US" sz="2700" b="1" dirty="0">
                <a:solidFill>
                  <a:srgbClr val="0B1F3A"/>
                </a:solidFill>
                <a:latin typeface="Aptos Display" pitchFamily="34" charset="0"/>
                <a:ea typeface="Aptos Display" pitchFamily="34" charset="-122"/>
                <a:cs typeface="Aptos Display" pitchFamily="34" charset="-120"/>
              </a:rPr>
              <a:t>Supervised model comparison</a:t>
            </a:r>
            <a:endParaRPr lang="en-US" sz="2700" dirty="0"/>
          </a:p>
        </p:txBody>
      </p:sp>
      <p:sp>
        <p:nvSpPr>
          <p:cNvPr id="5" name="Text 3"/>
          <p:cNvSpPr/>
          <p:nvPr/>
        </p:nvSpPr>
        <p:spPr>
          <a:xfrm>
            <a:off x="521208" y="832104"/>
            <a:ext cx="8503920" cy="274320"/>
          </a:xfrm>
          <a:prstGeom prst="rect">
            <a:avLst/>
          </a:prstGeom>
          <a:noFill/>
          <a:ln/>
        </p:spPr>
        <p:txBody>
          <a:bodyPr wrap="square" lIns="0" tIns="0" rIns="0" bIns="0" rtlCol="0" anchor="ctr"/>
          <a:lstStyle/>
          <a:p>
            <a:pPr marL="0" indent="0">
              <a:buNone/>
            </a:pPr>
            <a:r>
              <a:rPr lang="en-US" sz="1250" dirty="0">
                <a:solidFill>
                  <a:srgbClr val="4B5563"/>
                </a:solidFill>
              </a:rPr>
              <a:t>Both models predict position well; SVM is slightly better</a:t>
            </a:r>
            <a:endParaRPr lang="en-US" sz="1250" dirty="0"/>
          </a:p>
        </p:txBody>
      </p:sp>
      <p:graphicFrame>
        <p:nvGraphicFramePr>
          <p:cNvPr id="6" name="Chart 0"/>
          <p:cNvGraphicFramePr/>
          <p:nvPr>
            <p:extLst>
              <p:ext uri="{D42A27DB-BD31-4B8C-83A1-F6EECF244321}">
                <p14:modId xmlns:p14="http://schemas.microsoft.com/office/powerpoint/2010/main" val="3882863525"/>
              </p:ext>
            </p:extLst>
          </p:nvPr>
        </p:nvGraphicFramePr>
        <p:xfrm>
          <a:off x="685800" y="1325880"/>
          <a:ext cx="5212080" cy="379476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6400800" y="1042416"/>
            <a:ext cx="3345628" cy="374904"/>
          </a:xfrm>
          <a:prstGeom prst="rect">
            <a:avLst/>
          </a:prstGeom>
          <a:noFill/>
          <a:ln/>
        </p:spPr>
        <p:txBody>
          <a:bodyPr wrap="square" lIns="0" tIns="0" rIns="0" bIns="0" rtlCol="0" anchor="ctr"/>
          <a:lstStyle/>
          <a:p>
            <a:pPr marL="0" indent="0">
              <a:buNone/>
            </a:pPr>
            <a:r>
              <a:rPr lang="en-US" sz="2000" b="1" dirty="0">
                <a:solidFill>
                  <a:srgbClr val="0070C0"/>
                </a:solidFill>
              </a:rPr>
              <a:t>CONFUSION MATRICES</a:t>
            </a:r>
            <a:endParaRPr lang="en-US" sz="2000" dirty="0">
              <a:solidFill>
                <a:srgbClr val="0070C0"/>
              </a:solidFill>
            </a:endParaRPr>
          </a:p>
        </p:txBody>
      </p:sp>
      <p:sp>
        <p:nvSpPr>
          <p:cNvPr id="8" name="Text 5"/>
          <p:cNvSpPr/>
          <p:nvPr/>
        </p:nvSpPr>
        <p:spPr>
          <a:xfrm>
            <a:off x="6446520" y="1554480"/>
            <a:ext cx="1554480" cy="411480"/>
          </a:xfrm>
          <a:prstGeom prst="rect">
            <a:avLst/>
          </a:prstGeom>
          <a:solidFill>
            <a:schemeClr val="accent1">
              <a:lumMod val="60000"/>
              <a:lumOff val="40000"/>
            </a:schemeClr>
          </a:solidFill>
          <a:ln w="6350">
            <a:solidFill>
              <a:srgbClr val="D6DDE8"/>
            </a:solidFill>
          </a:ln>
        </p:spPr>
        <p:txBody>
          <a:bodyPr wrap="square" lIns="508" tIns="508" rIns="508" bIns="508" rtlCol="0" anchor="ctr">
            <a:normAutofit/>
          </a:bodyPr>
          <a:lstStyle/>
          <a:p>
            <a:pPr marL="0" indent="0" algn="ctr">
              <a:buNone/>
            </a:pPr>
            <a:r>
              <a:rPr lang="en-US" sz="1050" b="1" dirty="0">
                <a:solidFill>
                  <a:srgbClr val="FFFFFF"/>
                </a:solidFill>
              </a:rPr>
              <a:t>KNN</a:t>
            </a:r>
            <a:endParaRPr lang="en-US" sz="1050" dirty="0"/>
          </a:p>
        </p:txBody>
      </p:sp>
      <p:sp>
        <p:nvSpPr>
          <p:cNvPr id="9" name="Text 6"/>
          <p:cNvSpPr/>
          <p:nvPr/>
        </p:nvSpPr>
        <p:spPr>
          <a:xfrm>
            <a:off x="8001000" y="1554480"/>
            <a:ext cx="1371600" cy="411480"/>
          </a:xfrm>
          <a:prstGeom prst="rect">
            <a:avLst/>
          </a:prstGeom>
          <a:noFill/>
          <a:ln w="6350">
            <a:solidFill>
              <a:srgbClr val="D6DDE8"/>
            </a:solidFill>
          </a:ln>
        </p:spPr>
        <p:txBody>
          <a:bodyPr wrap="square" lIns="508" tIns="508" rIns="508" bIns="508" rtlCol="0" anchor="ctr">
            <a:normAutofit/>
          </a:bodyPr>
          <a:lstStyle/>
          <a:p>
            <a:pPr marL="0" indent="0" algn="ctr">
              <a:buNone/>
            </a:pPr>
            <a:r>
              <a:rPr lang="en-US" sz="1050" dirty="0"/>
              <a:t>Actual G</a:t>
            </a:r>
          </a:p>
        </p:txBody>
      </p:sp>
      <p:sp>
        <p:nvSpPr>
          <p:cNvPr id="10" name="Text 7"/>
          <p:cNvSpPr/>
          <p:nvPr/>
        </p:nvSpPr>
        <p:spPr>
          <a:xfrm>
            <a:off x="9372600" y="1554480"/>
            <a:ext cx="1417320" cy="411480"/>
          </a:xfrm>
          <a:prstGeom prst="rect">
            <a:avLst/>
          </a:prstGeom>
          <a:noFill/>
          <a:ln w="6350">
            <a:solidFill>
              <a:srgbClr val="D6DDE8"/>
            </a:solidFill>
          </a:ln>
        </p:spPr>
        <p:txBody>
          <a:bodyPr wrap="square" lIns="508" tIns="508" rIns="508" bIns="508" rtlCol="0" anchor="ctr">
            <a:normAutofit/>
          </a:bodyPr>
          <a:lstStyle/>
          <a:p>
            <a:pPr marL="0" indent="0" algn="ctr">
              <a:buNone/>
            </a:pPr>
            <a:r>
              <a:rPr lang="en-US" sz="1050" dirty="0"/>
              <a:t>Actual NG</a:t>
            </a:r>
          </a:p>
        </p:txBody>
      </p:sp>
      <p:sp>
        <p:nvSpPr>
          <p:cNvPr id="11" name="Text 8"/>
          <p:cNvSpPr/>
          <p:nvPr/>
        </p:nvSpPr>
        <p:spPr>
          <a:xfrm>
            <a:off x="6446520" y="1965960"/>
            <a:ext cx="1554480" cy="411480"/>
          </a:xfrm>
          <a:prstGeom prst="rect">
            <a:avLst/>
          </a:prstGeom>
          <a:solidFill>
            <a:srgbClr val="FFFFFF"/>
          </a:solidFill>
          <a:ln w="6350">
            <a:solidFill>
              <a:srgbClr val="D6DDE8"/>
            </a:solidFill>
          </a:ln>
        </p:spPr>
        <p:txBody>
          <a:bodyPr wrap="square" lIns="508" tIns="508" rIns="508" bIns="508" rtlCol="0" anchor="ctr">
            <a:normAutofit/>
          </a:bodyPr>
          <a:lstStyle/>
          <a:p>
            <a:pPr marL="0" indent="0" algn="ctr">
              <a:buNone/>
            </a:pPr>
            <a:r>
              <a:rPr lang="en-US" sz="1050" dirty="0">
                <a:solidFill>
                  <a:srgbClr val="0B1F3A"/>
                </a:solidFill>
              </a:rPr>
              <a:t>Pred G</a:t>
            </a:r>
            <a:endParaRPr lang="en-US" sz="1050" dirty="0"/>
          </a:p>
        </p:txBody>
      </p:sp>
      <p:sp>
        <p:nvSpPr>
          <p:cNvPr id="12" name="Text 9"/>
          <p:cNvSpPr/>
          <p:nvPr/>
        </p:nvSpPr>
        <p:spPr>
          <a:xfrm>
            <a:off x="8001000" y="1965960"/>
            <a:ext cx="1371600" cy="411480"/>
          </a:xfrm>
          <a:prstGeom prst="rect">
            <a:avLst/>
          </a:prstGeom>
          <a:solidFill>
            <a:srgbClr val="FFFFFF"/>
          </a:solidFill>
          <a:ln w="6350">
            <a:solidFill>
              <a:srgbClr val="D6DDE8"/>
            </a:solidFill>
          </a:ln>
        </p:spPr>
        <p:txBody>
          <a:bodyPr wrap="square" lIns="508" tIns="508" rIns="508" bIns="508" rtlCol="0" anchor="ctr">
            <a:normAutofit/>
          </a:bodyPr>
          <a:lstStyle/>
          <a:p>
            <a:pPr marL="0" indent="0" algn="ctr">
              <a:buNone/>
            </a:pPr>
            <a:r>
              <a:rPr lang="en-US" sz="1050" dirty="0">
                <a:solidFill>
                  <a:srgbClr val="0B1F3A"/>
                </a:solidFill>
              </a:rPr>
              <a:t>70</a:t>
            </a:r>
            <a:endParaRPr lang="en-US" sz="1050" dirty="0"/>
          </a:p>
        </p:txBody>
      </p:sp>
      <p:sp>
        <p:nvSpPr>
          <p:cNvPr id="13" name="Text 10"/>
          <p:cNvSpPr/>
          <p:nvPr/>
        </p:nvSpPr>
        <p:spPr>
          <a:xfrm>
            <a:off x="9372600" y="1965960"/>
            <a:ext cx="1417320" cy="411480"/>
          </a:xfrm>
          <a:prstGeom prst="rect">
            <a:avLst/>
          </a:prstGeom>
          <a:solidFill>
            <a:srgbClr val="FFFFFF"/>
          </a:solidFill>
          <a:ln w="6350">
            <a:solidFill>
              <a:srgbClr val="D6DDE8"/>
            </a:solidFill>
          </a:ln>
        </p:spPr>
        <p:txBody>
          <a:bodyPr wrap="square" lIns="508" tIns="508" rIns="508" bIns="508" rtlCol="0" anchor="ctr">
            <a:normAutofit/>
          </a:bodyPr>
          <a:lstStyle/>
          <a:p>
            <a:pPr marL="0" indent="0" algn="ctr">
              <a:buNone/>
            </a:pPr>
            <a:r>
              <a:rPr lang="en-US" sz="1050" dirty="0">
                <a:solidFill>
                  <a:srgbClr val="0B1F3A"/>
                </a:solidFill>
              </a:rPr>
              <a:t>9</a:t>
            </a:r>
            <a:endParaRPr lang="en-US" sz="1050" dirty="0"/>
          </a:p>
        </p:txBody>
      </p:sp>
      <p:sp>
        <p:nvSpPr>
          <p:cNvPr id="14" name="Text 11"/>
          <p:cNvSpPr/>
          <p:nvPr/>
        </p:nvSpPr>
        <p:spPr>
          <a:xfrm>
            <a:off x="6446520" y="2377440"/>
            <a:ext cx="1554480" cy="411480"/>
          </a:xfrm>
          <a:prstGeom prst="rect">
            <a:avLst/>
          </a:prstGeom>
          <a:solidFill>
            <a:srgbClr val="FFFFFF"/>
          </a:solidFill>
          <a:ln w="6350">
            <a:solidFill>
              <a:srgbClr val="D6DDE8"/>
            </a:solidFill>
          </a:ln>
        </p:spPr>
        <p:txBody>
          <a:bodyPr wrap="square" lIns="508" tIns="508" rIns="508" bIns="508" rtlCol="0" anchor="ctr">
            <a:normAutofit/>
          </a:bodyPr>
          <a:lstStyle/>
          <a:p>
            <a:pPr marL="0" indent="0" algn="ctr">
              <a:buNone/>
            </a:pPr>
            <a:r>
              <a:rPr lang="en-US" sz="1050" dirty="0">
                <a:solidFill>
                  <a:srgbClr val="0B1F3A"/>
                </a:solidFill>
              </a:rPr>
              <a:t>Pred NG</a:t>
            </a:r>
            <a:endParaRPr lang="en-US" sz="1050" dirty="0"/>
          </a:p>
        </p:txBody>
      </p:sp>
      <p:sp>
        <p:nvSpPr>
          <p:cNvPr id="15" name="Text 12"/>
          <p:cNvSpPr/>
          <p:nvPr/>
        </p:nvSpPr>
        <p:spPr>
          <a:xfrm>
            <a:off x="8001000" y="2377440"/>
            <a:ext cx="1371600" cy="411480"/>
          </a:xfrm>
          <a:prstGeom prst="rect">
            <a:avLst/>
          </a:prstGeom>
          <a:solidFill>
            <a:srgbClr val="FFFFFF"/>
          </a:solidFill>
          <a:ln w="6350">
            <a:solidFill>
              <a:srgbClr val="D6DDE8"/>
            </a:solidFill>
          </a:ln>
        </p:spPr>
        <p:txBody>
          <a:bodyPr wrap="square" lIns="508" tIns="508" rIns="508" bIns="508" rtlCol="0" anchor="ctr">
            <a:normAutofit/>
          </a:bodyPr>
          <a:lstStyle/>
          <a:p>
            <a:pPr marL="0" indent="0" algn="ctr">
              <a:buNone/>
            </a:pPr>
            <a:r>
              <a:rPr lang="en-US" sz="1050" dirty="0">
                <a:solidFill>
                  <a:srgbClr val="0B1F3A"/>
                </a:solidFill>
              </a:rPr>
              <a:t>4</a:t>
            </a:r>
            <a:endParaRPr lang="en-US" sz="1050" dirty="0"/>
          </a:p>
        </p:txBody>
      </p:sp>
      <p:sp>
        <p:nvSpPr>
          <p:cNvPr id="16" name="Text 13"/>
          <p:cNvSpPr/>
          <p:nvPr/>
        </p:nvSpPr>
        <p:spPr>
          <a:xfrm>
            <a:off x="9372600" y="2377440"/>
            <a:ext cx="1417320" cy="411480"/>
          </a:xfrm>
          <a:prstGeom prst="rect">
            <a:avLst/>
          </a:prstGeom>
          <a:solidFill>
            <a:srgbClr val="FFFFFF"/>
          </a:solidFill>
          <a:ln w="6350">
            <a:solidFill>
              <a:srgbClr val="D6DDE8"/>
            </a:solidFill>
          </a:ln>
        </p:spPr>
        <p:txBody>
          <a:bodyPr wrap="square" lIns="508" tIns="508" rIns="508" bIns="508" rtlCol="0" anchor="ctr">
            <a:normAutofit/>
          </a:bodyPr>
          <a:lstStyle/>
          <a:p>
            <a:pPr marL="0" indent="0" algn="ctr">
              <a:buNone/>
            </a:pPr>
            <a:r>
              <a:rPr lang="en-US" sz="1050" dirty="0">
                <a:solidFill>
                  <a:srgbClr val="0B1F3A"/>
                </a:solidFill>
              </a:rPr>
              <a:t>36</a:t>
            </a:r>
            <a:endParaRPr lang="en-US" sz="1050" dirty="0"/>
          </a:p>
        </p:txBody>
      </p:sp>
      <p:sp>
        <p:nvSpPr>
          <p:cNvPr id="17" name="Text 14"/>
          <p:cNvSpPr/>
          <p:nvPr/>
        </p:nvSpPr>
        <p:spPr>
          <a:xfrm>
            <a:off x="6446520" y="3063240"/>
            <a:ext cx="1554480" cy="411480"/>
          </a:xfrm>
          <a:prstGeom prst="rect">
            <a:avLst/>
          </a:prstGeom>
          <a:solidFill>
            <a:schemeClr val="accent4">
              <a:lumMod val="40000"/>
              <a:lumOff val="60000"/>
            </a:schemeClr>
          </a:solidFill>
          <a:ln w="6350">
            <a:solidFill>
              <a:srgbClr val="D6DDE8"/>
            </a:solidFill>
          </a:ln>
        </p:spPr>
        <p:txBody>
          <a:bodyPr wrap="square" lIns="508" tIns="508" rIns="508" bIns="508" rtlCol="0" anchor="ctr">
            <a:normAutofit/>
          </a:bodyPr>
          <a:lstStyle/>
          <a:p>
            <a:pPr marL="0" indent="0" algn="ctr">
              <a:buNone/>
            </a:pPr>
            <a:r>
              <a:rPr lang="en-US" sz="1050" b="1" dirty="0">
                <a:solidFill>
                  <a:srgbClr val="0B1F3A"/>
                </a:solidFill>
              </a:rPr>
              <a:t>SVM</a:t>
            </a:r>
            <a:endParaRPr lang="en-US" sz="1050" dirty="0"/>
          </a:p>
        </p:txBody>
      </p:sp>
      <p:sp>
        <p:nvSpPr>
          <p:cNvPr id="18" name="Text 15"/>
          <p:cNvSpPr/>
          <p:nvPr/>
        </p:nvSpPr>
        <p:spPr>
          <a:xfrm>
            <a:off x="8001000" y="3063240"/>
            <a:ext cx="1371600" cy="411480"/>
          </a:xfrm>
          <a:prstGeom prst="rect">
            <a:avLst/>
          </a:prstGeom>
          <a:noFill/>
          <a:ln w="6350">
            <a:solidFill>
              <a:srgbClr val="D6DDE8"/>
            </a:solidFill>
          </a:ln>
        </p:spPr>
        <p:txBody>
          <a:bodyPr wrap="square" lIns="508" tIns="508" rIns="508" bIns="508" rtlCol="0" anchor="ctr">
            <a:normAutofit/>
          </a:bodyPr>
          <a:lstStyle/>
          <a:p>
            <a:pPr marL="0" indent="0" algn="ctr">
              <a:buNone/>
            </a:pPr>
            <a:r>
              <a:rPr lang="en-US" sz="1050" dirty="0"/>
              <a:t>Actual G</a:t>
            </a:r>
          </a:p>
        </p:txBody>
      </p:sp>
      <p:sp>
        <p:nvSpPr>
          <p:cNvPr id="19" name="Text 16"/>
          <p:cNvSpPr/>
          <p:nvPr/>
        </p:nvSpPr>
        <p:spPr>
          <a:xfrm>
            <a:off x="9372600" y="3063240"/>
            <a:ext cx="1417320" cy="411480"/>
          </a:xfrm>
          <a:prstGeom prst="rect">
            <a:avLst/>
          </a:prstGeom>
          <a:noFill/>
          <a:ln w="6350">
            <a:solidFill>
              <a:srgbClr val="D6DDE8"/>
            </a:solidFill>
          </a:ln>
        </p:spPr>
        <p:txBody>
          <a:bodyPr wrap="square" lIns="508" tIns="508" rIns="508" bIns="508" rtlCol="0" anchor="ctr">
            <a:normAutofit/>
          </a:bodyPr>
          <a:lstStyle/>
          <a:p>
            <a:pPr marL="0" indent="0" algn="ctr">
              <a:buNone/>
            </a:pPr>
            <a:r>
              <a:rPr lang="en-US" sz="1050" dirty="0"/>
              <a:t>Actual NG</a:t>
            </a:r>
          </a:p>
        </p:txBody>
      </p:sp>
      <p:sp>
        <p:nvSpPr>
          <p:cNvPr id="20" name="Text 17"/>
          <p:cNvSpPr/>
          <p:nvPr/>
        </p:nvSpPr>
        <p:spPr>
          <a:xfrm>
            <a:off x="6446520" y="3474720"/>
            <a:ext cx="1554480" cy="411480"/>
          </a:xfrm>
          <a:prstGeom prst="rect">
            <a:avLst/>
          </a:prstGeom>
          <a:solidFill>
            <a:srgbClr val="FFFFFF"/>
          </a:solidFill>
          <a:ln w="6350">
            <a:solidFill>
              <a:srgbClr val="D6DDE8"/>
            </a:solidFill>
          </a:ln>
        </p:spPr>
        <p:txBody>
          <a:bodyPr wrap="square" lIns="508" tIns="508" rIns="508" bIns="508" rtlCol="0" anchor="ctr">
            <a:normAutofit/>
          </a:bodyPr>
          <a:lstStyle/>
          <a:p>
            <a:pPr marL="0" indent="0" algn="ctr">
              <a:buNone/>
            </a:pPr>
            <a:r>
              <a:rPr lang="en-US" sz="1050" dirty="0">
                <a:solidFill>
                  <a:srgbClr val="0B1F3A"/>
                </a:solidFill>
              </a:rPr>
              <a:t>Pred G</a:t>
            </a:r>
            <a:endParaRPr lang="en-US" sz="1050" dirty="0"/>
          </a:p>
        </p:txBody>
      </p:sp>
      <p:sp>
        <p:nvSpPr>
          <p:cNvPr id="21" name="Text 18"/>
          <p:cNvSpPr/>
          <p:nvPr/>
        </p:nvSpPr>
        <p:spPr>
          <a:xfrm>
            <a:off x="8001000" y="3474720"/>
            <a:ext cx="1371600" cy="411480"/>
          </a:xfrm>
          <a:prstGeom prst="rect">
            <a:avLst/>
          </a:prstGeom>
          <a:solidFill>
            <a:srgbClr val="FFFFFF"/>
          </a:solidFill>
          <a:ln w="6350">
            <a:solidFill>
              <a:srgbClr val="D6DDE8"/>
            </a:solidFill>
          </a:ln>
        </p:spPr>
        <p:txBody>
          <a:bodyPr wrap="square" lIns="508" tIns="508" rIns="508" bIns="508" rtlCol="0" anchor="ctr">
            <a:normAutofit/>
          </a:bodyPr>
          <a:lstStyle/>
          <a:p>
            <a:pPr marL="0" indent="0" algn="ctr">
              <a:buNone/>
            </a:pPr>
            <a:r>
              <a:rPr lang="en-US" sz="1050" dirty="0">
                <a:solidFill>
                  <a:srgbClr val="0B1F3A"/>
                </a:solidFill>
              </a:rPr>
              <a:t>70</a:t>
            </a:r>
            <a:endParaRPr lang="en-US" sz="1050" dirty="0"/>
          </a:p>
        </p:txBody>
      </p:sp>
      <p:sp>
        <p:nvSpPr>
          <p:cNvPr id="22" name="Text 19"/>
          <p:cNvSpPr/>
          <p:nvPr/>
        </p:nvSpPr>
        <p:spPr>
          <a:xfrm>
            <a:off x="9372600" y="3474720"/>
            <a:ext cx="1417320" cy="411480"/>
          </a:xfrm>
          <a:prstGeom prst="rect">
            <a:avLst/>
          </a:prstGeom>
          <a:solidFill>
            <a:srgbClr val="FFFFFF"/>
          </a:solidFill>
          <a:ln w="6350">
            <a:solidFill>
              <a:srgbClr val="D6DDE8"/>
            </a:solidFill>
          </a:ln>
        </p:spPr>
        <p:txBody>
          <a:bodyPr wrap="square" lIns="508" tIns="508" rIns="508" bIns="508" rtlCol="0" anchor="ctr">
            <a:normAutofit/>
          </a:bodyPr>
          <a:lstStyle/>
          <a:p>
            <a:pPr marL="0" indent="0" algn="ctr">
              <a:buNone/>
            </a:pPr>
            <a:r>
              <a:rPr lang="en-US" sz="1050" dirty="0">
                <a:solidFill>
                  <a:srgbClr val="0B1F3A"/>
                </a:solidFill>
              </a:rPr>
              <a:t>8</a:t>
            </a:r>
            <a:endParaRPr lang="en-US" sz="1050" dirty="0"/>
          </a:p>
        </p:txBody>
      </p:sp>
      <p:sp>
        <p:nvSpPr>
          <p:cNvPr id="23" name="Text 20"/>
          <p:cNvSpPr/>
          <p:nvPr/>
        </p:nvSpPr>
        <p:spPr>
          <a:xfrm>
            <a:off x="6446520" y="3886200"/>
            <a:ext cx="1554480" cy="411480"/>
          </a:xfrm>
          <a:prstGeom prst="rect">
            <a:avLst/>
          </a:prstGeom>
          <a:solidFill>
            <a:srgbClr val="FFFFFF"/>
          </a:solidFill>
          <a:ln w="6350">
            <a:solidFill>
              <a:srgbClr val="D6DDE8"/>
            </a:solidFill>
          </a:ln>
        </p:spPr>
        <p:txBody>
          <a:bodyPr wrap="square" lIns="508" tIns="508" rIns="508" bIns="508" rtlCol="0" anchor="ctr">
            <a:normAutofit/>
          </a:bodyPr>
          <a:lstStyle/>
          <a:p>
            <a:pPr marL="0" indent="0" algn="ctr">
              <a:buNone/>
            </a:pPr>
            <a:r>
              <a:rPr lang="en-US" sz="1050" dirty="0">
                <a:solidFill>
                  <a:srgbClr val="0B1F3A"/>
                </a:solidFill>
              </a:rPr>
              <a:t>Pred NG</a:t>
            </a:r>
            <a:endParaRPr lang="en-US" sz="1050" dirty="0"/>
          </a:p>
        </p:txBody>
      </p:sp>
      <p:sp>
        <p:nvSpPr>
          <p:cNvPr id="24" name="Text 21"/>
          <p:cNvSpPr/>
          <p:nvPr/>
        </p:nvSpPr>
        <p:spPr>
          <a:xfrm>
            <a:off x="8001000" y="3886200"/>
            <a:ext cx="1371600" cy="411480"/>
          </a:xfrm>
          <a:prstGeom prst="rect">
            <a:avLst/>
          </a:prstGeom>
          <a:solidFill>
            <a:srgbClr val="FFFFFF"/>
          </a:solidFill>
          <a:ln w="6350">
            <a:solidFill>
              <a:srgbClr val="D6DDE8"/>
            </a:solidFill>
          </a:ln>
        </p:spPr>
        <p:txBody>
          <a:bodyPr wrap="square" lIns="508" tIns="508" rIns="508" bIns="508" rtlCol="0" anchor="ctr">
            <a:normAutofit/>
          </a:bodyPr>
          <a:lstStyle/>
          <a:p>
            <a:pPr marL="0" indent="0" algn="ctr">
              <a:buNone/>
            </a:pPr>
            <a:r>
              <a:rPr lang="en-US" sz="1050" dirty="0">
                <a:solidFill>
                  <a:srgbClr val="0B1F3A"/>
                </a:solidFill>
              </a:rPr>
              <a:t>4</a:t>
            </a:r>
            <a:endParaRPr lang="en-US" sz="1050" dirty="0"/>
          </a:p>
        </p:txBody>
      </p:sp>
      <p:sp>
        <p:nvSpPr>
          <p:cNvPr id="25" name="Text 22"/>
          <p:cNvSpPr/>
          <p:nvPr/>
        </p:nvSpPr>
        <p:spPr>
          <a:xfrm>
            <a:off x="9372600" y="3886200"/>
            <a:ext cx="1417320" cy="411480"/>
          </a:xfrm>
          <a:prstGeom prst="rect">
            <a:avLst/>
          </a:prstGeom>
          <a:solidFill>
            <a:srgbClr val="FFFFFF"/>
          </a:solidFill>
          <a:ln w="6350">
            <a:solidFill>
              <a:srgbClr val="D6DDE8"/>
            </a:solidFill>
          </a:ln>
        </p:spPr>
        <p:txBody>
          <a:bodyPr wrap="square" lIns="508" tIns="508" rIns="508" bIns="508" rtlCol="0" anchor="ctr">
            <a:normAutofit/>
          </a:bodyPr>
          <a:lstStyle/>
          <a:p>
            <a:pPr marL="0" indent="0" algn="ctr">
              <a:buNone/>
            </a:pPr>
            <a:r>
              <a:rPr lang="en-US" sz="1050" dirty="0">
                <a:solidFill>
                  <a:srgbClr val="0B1F3A"/>
                </a:solidFill>
              </a:rPr>
              <a:t>37</a:t>
            </a:r>
            <a:endParaRPr lang="en-US" sz="1050" dirty="0"/>
          </a:p>
        </p:txBody>
      </p:sp>
      <p:sp>
        <p:nvSpPr>
          <p:cNvPr id="26" name="Text 23"/>
          <p:cNvSpPr/>
          <p:nvPr/>
        </p:nvSpPr>
        <p:spPr>
          <a:xfrm>
            <a:off x="6446520" y="4553712"/>
            <a:ext cx="4434840" cy="685800"/>
          </a:xfrm>
          <a:prstGeom prst="rect">
            <a:avLst/>
          </a:prstGeom>
          <a:noFill/>
          <a:ln/>
        </p:spPr>
        <p:txBody>
          <a:bodyPr wrap="square" lIns="254" tIns="254" rIns="254" bIns="254" rtlCol="0" anchor="ctr">
            <a:normAutofit/>
          </a:bodyPr>
          <a:lstStyle/>
          <a:p>
            <a:pPr marL="0" indent="0">
              <a:buNone/>
            </a:pPr>
            <a:r>
              <a:rPr lang="en-US" sz="1400" dirty="0">
                <a:solidFill>
                  <a:srgbClr val="0B1F3A"/>
                </a:solidFill>
              </a:rPr>
              <a:t>Takeaway: SVM reduced one additional non-guard error compared with KNN, giving it the best test accuracy.</a:t>
            </a:r>
            <a:endParaRPr lang="en-US" sz="1400" dirty="0"/>
          </a:p>
        </p:txBody>
      </p:sp>
      <p:sp>
        <p:nvSpPr>
          <p:cNvPr id="28" name="Text 24"/>
          <p:cNvSpPr/>
          <p:nvPr/>
        </p:nvSpPr>
        <p:spPr>
          <a:xfrm>
            <a:off x="11403149" y="6629400"/>
            <a:ext cx="320040" cy="182880"/>
          </a:xfrm>
          <a:prstGeom prst="rect">
            <a:avLst/>
          </a:prstGeom>
          <a:noFill/>
          <a:ln/>
        </p:spPr>
        <p:txBody>
          <a:bodyPr wrap="square" lIns="0" tIns="0" rIns="0" bIns="0" rtlCol="0" anchor="ctr"/>
          <a:lstStyle/>
          <a:p>
            <a:pPr marL="0" indent="0" algn="r">
              <a:buNone/>
            </a:pPr>
            <a:r>
              <a:rPr lang="en-US" sz="800" dirty="0">
                <a:solidFill>
                  <a:srgbClr val="4B5563"/>
                </a:solidFill>
              </a:rPr>
              <a:t>8</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chemeClr val="accent4">
              <a:lumMod val="20000"/>
              <a:lumOff val="80000"/>
            </a:schemeClr>
          </a:solidFill>
          <a:ln w="12700">
            <a:solidFill>
              <a:srgbClr val="F2A900">
                <a:alpha val="0"/>
              </a:srgbClr>
            </a:solidFill>
            <a:prstDash val="solid"/>
          </a:ln>
        </p:spPr>
        <p:txBody>
          <a:bodyPr/>
          <a:lstStyle/>
          <a:p>
            <a:endParaRPr lang="en-US"/>
          </a:p>
        </p:txBody>
      </p:sp>
      <p:sp>
        <p:nvSpPr>
          <p:cNvPr id="3" name="Shape 1"/>
          <p:cNvSpPr/>
          <p:nvPr/>
        </p:nvSpPr>
        <p:spPr>
          <a:xfrm>
            <a:off x="0" y="6812280"/>
            <a:ext cx="12191695" cy="45720"/>
          </a:xfrm>
          <a:prstGeom prst="rect">
            <a:avLst/>
          </a:prstGeom>
          <a:solidFill>
            <a:srgbClr val="0B1F3A"/>
          </a:solidFill>
          <a:ln w="12700">
            <a:solidFill>
              <a:srgbClr val="0B1F3A">
                <a:alpha val="0"/>
              </a:srgbClr>
            </a:solidFill>
            <a:prstDash val="solid"/>
          </a:ln>
        </p:spPr>
        <p:txBody>
          <a:bodyPr/>
          <a:lstStyle/>
          <a:p>
            <a:endParaRPr lang="en-US"/>
          </a:p>
        </p:txBody>
      </p:sp>
      <p:sp>
        <p:nvSpPr>
          <p:cNvPr id="4" name="Text 2"/>
          <p:cNvSpPr/>
          <p:nvPr/>
        </p:nvSpPr>
        <p:spPr>
          <a:xfrm>
            <a:off x="502920" y="347472"/>
            <a:ext cx="8138160" cy="457200"/>
          </a:xfrm>
          <a:prstGeom prst="rect">
            <a:avLst/>
          </a:prstGeom>
          <a:noFill/>
          <a:ln/>
        </p:spPr>
        <p:txBody>
          <a:bodyPr wrap="square" lIns="0" tIns="0" rIns="0" bIns="0" rtlCol="0" anchor="ctr"/>
          <a:lstStyle/>
          <a:p>
            <a:pPr marL="0" indent="0">
              <a:buNone/>
            </a:pPr>
            <a:r>
              <a:rPr lang="en-US" sz="2700" b="1" dirty="0">
                <a:solidFill>
                  <a:srgbClr val="0B1F3A"/>
                </a:solidFill>
                <a:latin typeface="Aptos Display" pitchFamily="34" charset="0"/>
                <a:ea typeface="Aptos Display" pitchFamily="34" charset="-122"/>
                <a:cs typeface="Aptos Display" pitchFamily="34" charset="-120"/>
              </a:rPr>
              <a:t>Clustering setup</a:t>
            </a:r>
            <a:endParaRPr lang="en-US" sz="2700" dirty="0"/>
          </a:p>
        </p:txBody>
      </p:sp>
      <p:sp>
        <p:nvSpPr>
          <p:cNvPr id="5" name="Text 3"/>
          <p:cNvSpPr/>
          <p:nvPr/>
        </p:nvSpPr>
        <p:spPr>
          <a:xfrm>
            <a:off x="521208" y="832104"/>
            <a:ext cx="8503920" cy="274320"/>
          </a:xfrm>
          <a:prstGeom prst="rect">
            <a:avLst/>
          </a:prstGeom>
          <a:noFill/>
          <a:ln/>
        </p:spPr>
        <p:txBody>
          <a:bodyPr wrap="square" lIns="0" tIns="0" rIns="0" bIns="0" rtlCol="0" anchor="ctr"/>
          <a:lstStyle/>
          <a:p>
            <a:pPr marL="0" indent="0">
              <a:buNone/>
            </a:pPr>
            <a:r>
              <a:rPr lang="en-US" sz="1250" dirty="0">
                <a:solidFill>
                  <a:srgbClr val="4B5563"/>
                </a:solidFill>
              </a:rPr>
              <a:t>Testing whether natural groups match basketball roles</a:t>
            </a:r>
            <a:endParaRPr lang="en-US" sz="1250" dirty="0"/>
          </a:p>
        </p:txBody>
      </p:sp>
      <p:sp>
        <p:nvSpPr>
          <p:cNvPr id="6" name="Shape 4"/>
          <p:cNvSpPr/>
          <p:nvPr/>
        </p:nvSpPr>
        <p:spPr>
          <a:xfrm>
            <a:off x="777240" y="1234440"/>
            <a:ext cx="4937760" cy="4343400"/>
          </a:xfrm>
          <a:prstGeom prst="roundRect">
            <a:avLst>
              <a:gd name="adj" fmla="val 1684"/>
            </a:avLst>
          </a:prstGeom>
          <a:solidFill>
            <a:srgbClr val="F7F8FA"/>
          </a:solidFill>
          <a:ln w="10160">
            <a:solidFill>
              <a:srgbClr val="D1D5DB">
                <a:alpha val="80000"/>
              </a:srgbClr>
            </a:solidFill>
            <a:prstDash val="solid"/>
          </a:ln>
        </p:spPr>
        <p:txBody>
          <a:bodyPr/>
          <a:lstStyle/>
          <a:p>
            <a:endParaRPr lang="en-US"/>
          </a:p>
        </p:txBody>
      </p:sp>
      <p:sp>
        <p:nvSpPr>
          <p:cNvPr id="7" name="Text 5"/>
          <p:cNvSpPr/>
          <p:nvPr/>
        </p:nvSpPr>
        <p:spPr>
          <a:xfrm>
            <a:off x="1051560" y="1600200"/>
            <a:ext cx="3931920" cy="320040"/>
          </a:xfrm>
          <a:prstGeom prst="rect">
            <a:avLst/>
          </a:prstGeom>
          <a:noFill/>
          <a:ln/>
        </p:spPr>
        <p:txBody>
          <a:bodyPr wrap="square" lIns="0" tIns="0" rIns="0" bIns="0" rtlCol="0" anchor="ctr"/>
          <a:lstStyle/>
          <a:p>
            <a:pPr marL="0" indent="0">
              <a:buNone/>
            </a:pPr>
            <a:r>
              <a:rPr lang="en-US" sz="2200" b="1" dirty="0">
                <a:solidFill>
                  <a:srgbClr val="0B1F3A"/>
                </a:solidFill>
              </a:rPr>
              <a:t>K-means</a:t>
            </a:r>
            <a:endParaRPr lang="en-US" sz="2200" dirty="0"/>
          </a:p>
        </p:txBody>
      </p:sp>
      <p:sp>
        <p:nvSpPr>
          <p:cNvPr id="8" name="Text 6"/>
          <p:cNvSpPr/>
          <p:nvPr/>
        </p:nvSpPr>
        <p:spPr>
          <a:xfrm>
            <a:off x="1051560" y="2103120"/>
            <a:ext cx="4069080" cy="2057400"/>
          </a:xfrm>
          <a:prstGeom prst="rect">
            <a:avLst/>
          </a:prstGeom>
          <a:noFill/>
          <a:ln/>
        </p:spPr>
        <p:txBody>
          <a:bodyPr wrap="square" lIns="762" tIns="762" rIns="762" bIns="762" rtlCol="0" anchor="t">
            <a:normAutofit/>
          </a:bodyPr>
          <a:lstStyle/>
          <a:p>
            <a:pPr marL="285750" indent="-285750">
              <a:buFont typeface="Arial" panose="020B0604020202020204" pitchFamily="34" charset="0"/>
              <a:buChar char="•"/>
            </a:pPr>
            <a:r>
              <a:rPr lang="en-US" sz="1600" dirty="0">
                <a:solidFill>
                  <a:srgbClr val="0B1F3A"/>
                </a:solidFill>
              </a:rPr>
              <a:t>Tested K = 2 to 10</a:t>
            </a:r>
            <a:endParaRPr lang="en-US" sz="1600" dirty="0"/>
          </a:p>
          <a:p>
            <a:pPr marL="285750" indent="-285750">
              <a:buFont typeface="Arial" panose="020B0604020202020204" pitchFamily="34" charset="0"/>
              <a:buChar char="•"/>
            </a:pPr>
            <a:r>
              <a:rPr lang="en-US" sz="1600" dirty="0">
                <a:solidFill>
                  <a:srgbClr val="0B1F3A"/>
                </a:solidFill>
              </a:rPr>
              <a:t>Best K = 2</a:t>
            </a:r>
          </a:p>
          <a:p>
            <a:pPr marL="285750" indent="-285750">
              <a:buFont typeface="Arial" panose="020B0604020202020204" pitchFamily="34" charset="0"/>
              <a:buChar char="•"/>
            </a:pPr>
            <a:r>
              <a:rPr lang="en-US" sz="1600" dirty="0"/>
              <a:t>Silhouette Score = 0.174</a:t>
            </a:r>
          </a:p>
          <a:p>
            <a:pPr marL="742950" lvl="1" indent="-285750">
              <a:buFont typeface="Arial" panose="020B0604020202020204" pitchFamily="34" charset="0"/>
              <a:buChar char="•"/>
            </a:pPr>
            <a:r>
              <a:rPr lang="en-US" sz="1600" dirty="0"/>
              <a:t>Indicates weak cluster separation</a:t>
            </a:r>
          </a:p>
          <a:p>
            <a:pPr marL="742950" lvl="1"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solidFill>
                  <a:srgbClr val="0B1F3A"/>
                </a:solidFill>
              </a:rPr>
              <a:t>Goal: compact groups of similar players</a:t>
            </a:r>
            <a:endParaRPr lang="en-US" sz="1600" dirty="0"/>
          </a:p>
        </p:txBody>
      </p:sp>
      <p:sp>
        <p:nvSpPr>
          <p:cNvPr id="9" name="Shape 7"/>
          <p:cNvSpPr/>
          <p:nvPr/>
        </p:nvSpPr>
        <p:spPr>
          <a:xfrm>
            <a:off x="6400800" y="1234440"/>
            <a:ext cx="4937760" cy="4343400"/>
          </a:xfrm>
          <a:prstGeom prst="roundRect">
            <a:avLst>
              <a:gd name="adj" fmla="val 1684"/>
            </a:avLst>
          </a:prstGeom>
          <a:solidFill>
            <a:srgbClr val="FFF8EA"/>
          </a:solidFill>
          <a:ln w="10160">
            <a:solidFill>
              <a:srgbClr val="D1D5DB">
                <a:alpha val="80000"/>
              </a:srgbClr>
            </a:solidFill>
            <a:prstDash val="solid"/>
          </a:ln>
        </p:spPr>
        <p:txBody>
          <a:bodyPr/>
          <a:lstStyle/>
          <a:p>
            <a:endParaRPr lang="en-US"/>
          </a:p>
        </p:txBody>
      </p:sp>
      <p:sp>
        <p:nvSpPr>
          <p:cNvPr id="10" name="Text 8"/>
          <p:cNvSpPr/>
          <p:nvPr/>
        </p:nvSpPr>
        <p:spPr>
          <a:xfrm>
            <a:off x="6675120" y="1600200"/>
            <a:ext cx="3931920" cy="320040"/>
          </a:xfrm>
          <a:prstGeom prst="rect">
            <a:avLst/>
          </a:prstGeom>
          <a:noFill/>
          <a:ln/>
        </p:spPr>
        <p:txBody>
          <a:bodyPr wrap="square" lIns="0" tIns="0" rIns="0" bIns="0" rtlCol="0" anchor="ctr"/>
          <a:lstStyle/>
          <a:p>
            <a:pPr marL="0" indent="0">
              <a:buNone/>
            </a:pPr>
            <a:r>
              <a:rPr lang="en-US" sz="2200" b="1" dirty="0">
                <a:solidFill>
                  <a:srgbClr val="0B1F3A"/>
                </a:solidFill>
              </a:rPr>
              <a:t>Hierarchical</a:t>
            </a:r>
            <a:endParaRPr lang="en-US" sz="2200" dirty="0"/>
          </a:p>
        </p:txBody>
      </p:sp>
      <p:sp>
        <p:nvSpPr>
          <p:cNvPr id="11" name="Text 9"/>
          <p:cNvSpPr/>
          <p:nvPr/>
        </p:nvSpPr>
        <p:spPr>
          <a:xfrm>
            <a:off x="6675120" y="2103120"/>
            <a:ext cx="4069080" cy="2057400"/>
          </a:xfrm>
          <a:prstGeom prst="rect">
            <a:avLst/>
          </a:prstGeom>
          <a:noFill/>
          <a:ln/>
        </p:spPr>
        <p:txBody>
          <a:bodyPr wrap="square" lIns="762" tIns="762" rIns="762" bIns="762" rtlCol="0" anchor="t">
            <a:normAutofit/>
          </a:bodyPr>
          <a:lstStyle/>
          <a:p>
            <a:pPr marL="285750" indent="-285750">
              <a:buFont typeface="Arial" panose="020B0604020202020204" pitchFamily="34" charset="0"/>
              <a:buChar char="•"/>
            </a:pPr>
            <a:r>
              <a:rPr lang="en-US" sz="1600" dirty="0">
                <a:solidFill>
                  <a:srgbClr val="0B1F3A"/>
                </a:solidFill>
              </a:rPr>
              <a:t>Tested complete, average, and Ward linkage</a:t>
            </a:r>
            <a:endParaRPr lang="en-US" sz="1600" dirty="0"/>
          </a:p>
          <a:p>
            <a:pPr marL="285750" indent="-285750">
              <a:buFont typeface="Arial" panose="020B0604020202020204" pitchFamily="34" charset="0"/>
              <a:buChar char="•"/>
            </a:pPr>
            <a:r>
              <a:rPr lang="en-US" sz="1600" dirty="0">
                <a:solidFill>
                  <a:srgbClr val="0B1F3A"/>
                </a:solidFill>
              </a:rPr>
              <a:t>Selected average linkage</a:t>
            </a:r>
            <a:endParaRPr lang="en-US" sz="1600" dirty="0"/>
          </a:p>
          <a:p>
            <a:pPr marL="285750" indent="-285750">
              <a:buFont typeface="Arial" panose="020B0604020202020204" pitchFamily="34" charset="0"/>
              <a:buChar char="•"/>
            </a:pPr>
            <a:r>
              <a:rPr lang="en-US" sz="1600" dirty="0">
                <a:solidFill>
                  <a:srgbClr val="0B1F3A"/>
                </a:solidFill>
              </a:rPr>
              <a:t>Best K = 2</a:t>
            </a:r>
          </a:p>
          <a:p>
            <a:pPr marL="285750" indent="-285750">
              <a:buFont typeface="Arial" panose="020B0604020202020204" pitchFamily="34" charset="0"/>
              <a:buChar char="•"/>
            </a:pPr>
            <a:r>
              <a:rPr lang="en-US" sz="1600" dirty="0"/>
              <a:t>Silhouette Score = 0.208</a:t>
            </a:r>
          </a:p>
          <a:p>
            <a:pPr marL="742950" lvl="1" indent="-285750">
              <a:buFont typeface="Arial" panose="020B0604020202020204" pitchFamily="34" charset="0"/>
              <a:buChar char="•"/>
            </a:pPr>
            <a:r>
              <a:rPr lang="en-US" sz="1600" dirty="0"/>
              <a:t>Slightly better than K-Means</a:t>
            </a:r>
          </a:p>
          <a:p>
            <a:endParaRPr lang="en-US" sz="1600" dirty="0"/>
          </a:p>
          <a:p>
            <a:pPr marL="285750" indent="-285750">
              <a:buFont typeface="Arial" panose="020B0604020202020204" pitchFamily="34" charset="0"/>
              <a:buChar char="•"/>
            </a:pPr>
            <a:r>
              <a:rPr lang="en-US" sz="1600" dirty="0">
                <a:solidFill>
                  <a:srgbClr val="0B1F3A"/>
                </a:solidFill>
              </a:rPr>
              <a:t>Goal: visualize cluster hierarchy</a:t>
            </a:r>
            <a:endParaRPr lang="en-US" sz="1600" dirty="0"/>
          </a:p>
        </p:txBody>
      </p:sp>
      <p:sp>
        <p:nvSpPr>
          <p:cNvPr id="12" name="Text 10"/>
          <p:cNvSpPr/>
          <p:nvPr/>
        </p:nvSpPr>
        <p:spPr>
          <a:xfrm>
            <a:off x="914400" y="5897880"/>
            <a:ext cx="10332720" cy="274320"/>
          </a:xfrm>
          <a:prstGeom prst="rect">
            <a:avLst/>
          </a:prstGeom>
          <a:noFill/>
          <a:ln/>
        </p:spPr>
        <p:txBody>
          <a:bodyPr wrap="square" lIns="0" tIns="0" rIns="0" bIns="0" rtlCol="0" anchor="ctr"/>
          <a:lstStyle/>
          <a:p>
            <a:pPr marL="0" indent="0" algn="ctr">
              <a:buNone/>
            </a:pPr>
            <a:r>
              <a:rPr lang="en-US" sz="1350" i="1" dirty="0">
                <a:solidFill>
                  <a:srgbClr val="4B5563"/>
                </a:solidFill>
              </a:rPr>
              <a:t>Silhouette values closer to 1 indicate cleaner separation; values near 0 suggest overlap.</a:t>
            </a:r>
            <a:endParaRPr lang="en-US" sz="1350" dirty="0"/>
          </a:p>
        </p:txBody>
      </p:sp>
      <p:sp>
        <p:nvSpPr>
          <p:cNvPr id="14" name="Text 11"/>
          <p:cNvSpPr/>
          <p:nvPr/>
        </p:nvSpPr>
        <p:spPr>
          <a:xfrm>
            <a:off x="11475720" y="6519672"/>
            <a:ext cx="320040" cy="182880"/>
          </a:xfrm>
          <a:prstGeom prst="rect">
            <a:avLst/>
          </a:prstGeom>
          <a:noFill/>
          <a:ln/>
        </p:spPr>
        <p:txBody>
          <a:bodyPr wrap="square" lIns="0" tIns="0" rIns="0" bIns="0" rtlCol="0" anchor="ctr"/>
          <a:lstStyle/>
          <a:p>
            <a:pPr marL="0" indent="0" algn="r">
              <a:buNone/>
            </a:pPr>
            <a:r>
              <a:rPr lang="en-US" sz="800" dirty="0">
                <a:solidFill>
                  <a:srgbClr val="4B5563"/>
                </a:solidFill>
              </a:rPr>
              <a:t>9</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3BFC4"/>
          </a:solidFill>
          <a:ln w="12700">
            <a:solidFill>
              <a:srgbClr val="F2A900">
                <a:alpha val="0"/>
              </a:srgbClr>
            </a:solidFill>
            <a:prstDash val="solid"/>
          </a:ln>
        </p:spPr>
        <p:txBody>
          <a:bodyPr/>
          <a:lstStyle/>
          <a:p>
            <a:endParaRPr lang="en-US"/>
          </a:p>
        </p:txBody>
      </p:sp>
      <p:sp>
        <p:nvSpPr>
          <p:cNvPr id="3" name="Shape 1"/>
          <p:cNvSpPr/>
          <p:nvPr/>
        </p:nvSpPr>
        <p:spPr>
          <a:xfrm>
            <a:off x="0" y="6812280"/>
            <a:ext cx="12191695" cy="45720"/>
          </a:xfrm>
          <a:prstGeom prst="rect">
            <a:avLst/>
          </a:prstGeom>
          <a:solidFill>
            <a:srgbClr val="0B1F3A"/>
          </a:solidFill>
          <a:ln w="12700">
            <a:solidFill>
              <a:srgbClr val="0B1F3A">
                <a:alpha val="0"/>
              </a:srgbClr>
            </a:solidFill>
            <a:prstDash val="solid"/>
          </a:ln>
        </p:spPr>
        <p:txBody>
          <a:bodyPr/>
          <a:lstStyle/>
          <a:p>
            <a:endParaRPr lang="en-US"/>
          </a:p>
        </p:txBody>
      </p:sp>
      <p:sp>
        <p:nvSpPr>
          <p:cNvPr id="4" name="Text 2"/>
          <p:cNvSpPr/>
          <p:nvPr/>
        </p:nvSpPr>
        <p:spPr>
          <a:xfrm>
            <a:off x="502920" y="347472"/>
            <a:ext cx="8138160" cy="457200"/>
          </a:xfrm>
          <a:prstGeom prst="rect">
            <a:avLst/>
          </a:prstGeom>
          <a:noFill/>
          <a:ln/>
        </p:spPr>
        <p:txBody>
          <a:bodyPr wrap="square" lIns="0" tIns="0" rIns="0" bIns="0" rtlCol="0" anchor="ctr"/>
          <a:lstStyle/>
          <a:p>
            <a:pPr marL="0" indent="0">
              <a:buNone/>
            </a:pPr>
            <a:r>
              <a:rPr lang="en-US" sz="2700" b="1" dirty="0">
                <a:solidFill>
                  <a:srgbClr val="0B1F3A"/>
                </a:solidFill>
                <a:latin typeface="Aptos Display" pitchFamily="34" charset="0"/>
                <a:ea typeface="Aptos Display" pitchFamily="34" charset="-122"/>
                <a:cs typeface="Aptos Display" pitchFamily="34" charset="-120"/>
              </a:rPr>
              <a:t>K-means clustering results</a:t>
            </a:r>
            <a:endParaRPr lang="en-US" sz="2700" dirty="0"/>
          </a:p>
        </p:txBody>
      </p:sp>
      <p:sp>
        <p:nvSpPr>
          <p:cNvPr id="5" name="Text 3"/>
          <p:cNvSpPr/>
          <p:nvPr/>
        </p:nvSpPr>
        <p:spPr>
          <a:xfrm>
            <a:off x="521208" y="832104"/>
            <a:ext cx="8503920" cy="274320"/>
          </a:xfrm>
          <a:prstGeom prst="rect">
            <a:avLst/>
          </a:prstGeom>
          <a:noFill/>
          <a:ln/>
        </p:spPr>
        <p:txBody>
          <a:bodyPr wrap="square" lIns="0" tIns="0" rIns="0" bIns="0" rtlCol="0" anchor="ctr"/>
          <a:lstStyle/>
          <a:p>
            <a:pPr marL="0" indent="0">
              <a:buNone/>
            </a:pPr>
            <a:r>
              <a:rPr lang="en-US" sz="1250" dirty="0">
                <a:solidFill>
                  <a:srgbClr val="4B5563"/>
                </a:solidFill>
              </a:rPr>
              <a:t>K = 2 had the best silhouette score</a:t>
            </a:r>
            <a:endParaRPr lang="en-US" sz="1250" dirty="0"/>
          </a:p>
        </p:txBody>
      </p:sp>
      <p:sp>
        <p:nvSpPr>
          <p:cNvPr id="7" name="Text 4"/>
          <p:cNvSpPr/>
          <p:nvPr/>
        </p:nvSpPr>
        <p:spPr>
          <a:xfrm>
            <a:off x="502920" y="4414329"/>
            <a:ext cx="3533887" cy="374904"/>
          </a:xfrm>
          <a:prstGeom prst="rect">
            <a:avLst/>
          </a:prstGeom>
          <a:noFill/>
          <a:ln/>
        </p:spPr>
        <p:txBody>
          <a:bodyPr wrap="square" lIns="0" tIns="0" rIns="0" bIns="0" rtlCol="0" anchor="ctr"/>
          <a:lstStyle/>
          <a:p>
            <a:pPr marL="0" indent="0">
              <a:buNone/>
            </a:pPr>
            <a:r>
              <a:rPr lang="en-US" sz="2000" b="1" dirty="0"/>
              <a:t>MATRIX</a:t>
            </a:r>
            <a:endParaRPr lang="en-US" sz="2000" dirty="0"/>
          </a:p>
        </p:txBody>
      </p:sp>
      <p:sp>
        <p:nvSpPr>
          <p:cNvPr id="8" name="Text 5"/>
          <p:cNvSpPr/>
          <p:nvPr/>
        </p:nvSpPr>
        <p:spPr>
          <a:xfrm>
            <a:off x="521208" y="4874138"/>
            <a:ext cx="1645920" cy="472440"/>
          </a:xfrm>
          <a:prstGeom prst="rect">
            <a:avLst/>
          </a:prstGeom>
          <a:solidFill>
            <a:srgbClr val="0B1F3A"/>
          </a:solidFill>
          <a:ln w="6350">
            <a:solidFill>
              <a:srgbClr val="D6DDE8"/>
            </a:solidFill>
          </a:ln>
        </p:spPr>
        <p:txBody>
          <a:bodyPr wrap="square" lIns="508" tIns="508" rIns="508" bIns="508" rtlCol="0" anchor="ctr">
            <a:normAutofit/>
          </a:bodyPr>
          <a:lstStyle/>
          <a:p>
            <a:pPr marL="0" indent="0" algn="ctr">
              <a:buNone/>
            </a:pPr>
            <a:r>
              <a:rPr lang="en-US" sz="1050" b="1" dirty="0">
                <a:solidFill>
                  <a:srgbClr val="FFFFFF"/>
                </a:solidFill>
              </a:rPr>
              <a:t>K-means</a:t>
            </a:r>
            <a:endParaRPr lang="en-US" sz="1050" dirty="0"/>
          </a:p>
        </p:txBody>
      </p:sp>
      <p:sp>
        <p:nvSpPr>
          <p:cNvPr id="9" name="Text 6"/>
          <p:cNvSpPr/>
          <p:nvPr/>
        </p:nvSpPr>
        <p:spPr>
          <a:xfrm>
            <a:off x="2167128" y="4874138"/>
            <a:ext cx="1188720" cy="472440"/>
          </a:xfrm>
          <a:prstGeom prst="rect">
            <a:avLst/>
          </a:prstGeom>
          <a:solidFill>
            <a:srgbClr val="0B1F3A"/>
          </a:solidFill>
          <a:ln w="6350">
            <a:solidFill>
              <a:srgbClr val="D6DDE8"/>
            </a:solidFill>
          </a:ln>
        </p:spPr>
        <p:txBody>
          <a:bodyPr wrap="square" lIns="508" tIns="508" rIns="508" bIns="508" rtlCol="0" anchor="ctr">
            <a:normAutofit/>
          </a:bodyPr>
          <a:lstStyle/>
          <a:p>
            <a:pPr marL="0" indent="0" algn="ctr">
              <a:buNone/>
            </a:pPr>
            <a:r>
              <a:rPr lang="en-US" sz="1050" b="1" dirty="0">
                <a:solidFill>
                  <a:srgbClr val="FFFFFF"/>
                </a:solidFill>
              </a:rPr>
              <a:t>Guard</a:t>
            </a:r>
            <a:endParaRPr lang="en-US" sz="1050" dirty="0"/>
          </a:p>
        </p:txBody>
      </p:sp>
      <p:sp>
        <p:nvSpPr>
          <p:cNvPr id="10" name="Text 7"/>
          <p:cNvSpPr/>
          <p:nvPr/>
        </p:nvSpPr>
        <p:spPr>
          <a:xfrm>
            <a:off x="3355848" y="4874138"/>
            <a:ext cx="1280160" cy="472440"/>
          </a:xfrm>
          <a:prstGeom prst="rect">
            <a:avLst/>
          </a:prstGeom>
          <a:solidFill>
            <a:srgbClr val="0B1F3A"/>
          </a:solidFill>
          <a:ln w="6350">
            <a:solidFill>
              <a:srgbClr val="D6DDE8"/>
            </a:solidFill>
          </a:ln>
        </p:spPr>
        <p:txBody>
          <a:bodyPr wrap="square" lIns="508" tIns="508" rIns="508" bIns="508" rtlCol="0" anchor="ctr">
            <a:normAutofit/>
          </a:bodyPr>
          <a:lstStyle/>
          <a:p>
            <a:pPr marL="0" indent="0" algn="ctr">
              <a:buNone/>
            </a:pPr>
            <a:r>
              <a:rPr lang="en-US" sz="1050" b="1" dirty="0">
                <a:solidFill>
                  <a:srgbClr val="FFFFFF"/>
                </a:solidFill>
              </a:rPr>
              <a:t>NonGuard</a:t>
            </a:r>
            <a:endParaRPr lang="en-US" sz="1050" dirty="0"/>
          </a:p>
        </p:txBody>
      </p:sp>
      <p:sp>
        <p:nvSpPr>
          <p:cNvPr id="11" name="Text 8"/>
          <p:cNvSpPr/>
          <p:nvPr/>
        </p:nvSpPr>
        <p:spPr>
          <a:xfrm>
            <a:off x="521208" y="5346578"/>
            <a:ext cx="1645920" cy="472440"/>
          </a:xfrm>
          <a:prstGeom prst="rect">
            <a:avLst/>
          </a:prstGeom>
          <a:solidFill>
            <a:srgbClr val="FFFFFF"/>
          </a:solidFill>
          <a:ln w="6350">
            <a:solidFill>
              <a:srgbClr val="D6DDE8"/>
            </a:solidFill>
          </a:ln>
        </p:spPr>
        <p:txBody>
          <a:bodyPr wrap="square" lIns="508" tIns="508" rIns="508" bIns="508" rtlCol="0" anchor="ctr">
            <a:normAutofit/>
          </a:bodyPr>
          <a:lstStyle/>
          <a:p>
            <a:pPr marL="0" indent="0" algn="ctr">
              <a:buNone/>
            </a:pPr>
            <a:r>
              <a:rPr lang="en-US" sz="1050" dirty="0">
                <a:solidFill>
                  <a:srgbClr val="0B1F3A"/>
                </a:solidFill>
              </a:rPr>
              <a:t>Cluster 1</a:t>
            </a:r>
            <a:endParaRPr lang="en-US" sz="1050" dirty="0"/>
          </a:p>
        </p:txBody>
      </p:sp>
      <p:sp>
        <p:nvSpPr>
          <p:cNvPr id="12" name="Text 9"/>
          <p:cNvSpPr/>
          <p:nvPr/>
        </p:nvSpPr>
        <p:spPr>
          <a:xfrm>
            <a:off x="2167128" y="5346578"/>
            <a:ext cx="1188720" cy="472440"/>
          </a:xfrm>
          <a:prstGeom prst="rect">
            <a:avLst/>
          </a:prstGeom>
          <a:solidFill>
            <a:srgbClr val="FFFFFF"/>
          </a:solidFill>
          <a:ln w="6350">
            <a:solidFill>
              <a:srgbClr val="D6DDE8"/>
            </a:solidFill>
          </a:ln>
        </p:spPr>
        <p:txBody>
          <a:bodyPr wrap="square" lIns="508" tIns="508" rIns="508" bIns="508" rtlCol="0" anchor="ctr">
            <a:normAutofit/>
          </a:bodyPr>
          <a:lstStyle/>
          <a:p>
            <a:pPr marL="0" indent="0" algn="ctr">
              <a:buNone/>
            </a:pPr>
            <a:r>
              <a:rPr lang="en-US" sz="1050" dirty="0">
                <a:solidFill>
                  <a:srgbClr val="0B1F3A"/>
                </a:solidFill>
              </a:rPr>
              <a:t>295</a:t>
            </a:r>
            <a:endParaRPr lang="en-US" sz="1050" dirty="0"/>
          </a:p>
        </p:txBody>
      </p:sp>
      <p:sp>
        <p:nvSpPr>
          <p:cNvPr id="13" name="Text 10"/>
          <p:cNvSpPr/>
          <p:nvPr/>
        </p:nvSpPr>
        <p:spPr>
          <a:xfrm>
            <a:off x="3355848" y="5346578"/>
            <a:ext cx="1280160" cy="472440"/>
          </a:xfrm>
          <a:prstGeom prst="rect">
            <a:avLst/>
          </a:prstGeom>
          <a:solidFill>
            <a:srgbClr val="FFFFFF"/>
          </a:solidFill>
          <a:ln w="6350">
            <a:solidFill>
              <a:srgbClr val="D6DDE8"/>
            </a:solidFill>
          </a:ln>
        </p:spPr>
        <p:txBody>
          <a:bodyPr wrap="square" lIns="508" tIns="508" rIns="508" bIns="508" rtlCol="0" anchor="ctr">
            <a:normAutofit/>
          </a:bodyPr>
          <a:lstStyle/>
          <a:p>
            <a:pPr marL="0" indent="0" algn="ctr">
              <a:buNone/>
            </a:pPr>
            <a:r>
              <a:rPr lang="en-US" sz="1050" dirty="0">
                <a:solidFill>
                  <a:srgbClr val="0B1F3A"/>
                </a:solidFill>
              </a:rPr>
              <a:t>64</a:t>
            </a:r>
            <a:endParaRPr lang="en-US" sz="1050" dirty="0"/>
          </a:p>
        </p:txBody>
      </p:sp>
      <p:sp>
        <p:nvSpPr>
          <p:cNvPr id="14" name="Text 11"/>
          <p:cNvSpPr/>
          <p:nvPr/>
        </p:nvSpPr>
        <p:spPr>
          <a:xfrm>
            <a:off x="521208" y="5819018"/>
            <a:ext cx="1645920" cy="472440"/>
          </a:xfrm>
          <a:prstGeom prst="rect">
            <a:avLst/>
          </a:prstGeom>
          <a:solidFill>
            <a:srgbClr val="FFFFFF"/>
          </a:solidFill>
          <a:ln w="6350">
            <a:solidFill>
              <a:srgbClr val="D6DDE8"/>
            </a:solidFill>
          </a:ln>
        </p:spPr>
        <p:txBody>
          <a:bodyPr wrap="square" lIns="508" tIns="508" rIns="508" bIns="508" rtlCol="0" anchor="ctr">
            <a:normAutofit/>
          </a:bodyPr>
          <a:lstStyle/>
          <a:p>
            <a:pPr marL="0" indent="0" algn="ctr">
              <a:buNone/>
            </a:pPr>
            <a:r>
              <a:rPr lang="en-US" sz="1050" dirty="0">
                <a:solidFill>
                  <a:srgbClr val="0B1F3A"/>
                </a:solidFill>
              </a:rPr>
              <a:t>Cluster 2</a:t>
            </a:r>
            <a:endParaRPr lang="en-US" sz="1050" dirty="0"/>
          </a:p>
        </p:txBody>
      </p:sp>
      <p:sp>
        <p:nvSpPr>
          <p:cNvPr id="15" name="Text 12"/>
          <p:cNvSpPr/>
          <p:nvPr/>
        </p:nvSpPr>
        <p:spPr>
          <a:xfrm>
            <a:off x="2167128" y="5819018"/>
            <a:ext cx="1188720" cy="472440"/>
          </a:xfrm>
          <a:prstGeom prst="rect">
            <a:avLst/>
          </a:prstGeom>
          <a:solidFill>
            <a:srgbClr val="FFFFFF"/>
          </a:solidFill>
          <a:ln w="6350">
            <a:solidFill>
              <a:srgbClr val="D6DDE8"/>
            </a:solidFill>
          </a:ln>
        </p:spPr>
        <p:txBody>
          <a:bodyPr wrap="square" lIns="508" tIns="508" rIns="508" bIns="508" rtlCol="0" anchor="ctr">
            <a:normAutofit/>
          </a:bodyPr>
          <a:lstStyle/>
          <a:p>
            <a:pPr marL="0" indent="0" algn="ctr">
              <a:buNone/>
            </a:pPr>
            <a:r>
              <a:rPr lang="en-US" sz="1050" dirty="0">
                <a:solidFill>
                  <a:srgbClr val="0B1F3A"/>
                </a:solidFill>
              </a:rPr>
              <a:t>78</a:t>
            </a:r>
            <a:endParaRPr lang="en-US" sz="1050" dirty="0"/>
          </a:p>
        </p:txBody>
      </p:sp>
      <p:sp>
        <p:nvSpPr>
          <p:cNvPr id="16" name="Text 13"/>
          <p:cNvSpPr/>
          <p:nvPr/>
        </p:nvSpPr>
        <p:spPr>
          <a:xfrm>
            <a:off x="3355848" y="5819018"/>
            <a:ext cx="1280160" cy="472440"/>
          </a:xfrm>
          <a:prstGeom prst="rect">
            <a:avLst/>
          </a:prstGeom>
          <a:solidFill>
            <a:srgbClr val="FFFFFF"/>
          </a:solidFill>
          <a:ln w="6350">
            <a:solidFill>
              <a:srgbClr val="D6DDE8"/>
            </a:solidFill>
          </a:ln>
        </p:spPr>
        <p:txBody>
          <a:bodyPr wrap="square" lIns="508" tIns="508" rIns="508" bIns="508" rtlCol="0" anchor="ctr">
            <a:normAutofit/>
          </a:bodyPr>
          <a:lstStyle/>
          <a:p>
            <a:pPr marL="0" indent="0" algn="ctr">
              <a:buNone/>
            </a:pPr>
            <a:r>
              <a:rPr lang="en-US" sz="1050" dirty="0">
                <a:solidFill>
                  <a:srgbClr val="0B1F3A"/>
                </a:solidFill>
              </a:rPr>
              <a:t>163</a:t>
            </a:r>
            <a:endParaRPr lang="en-US" sz="1050" dirty="0"/>
          </a:p>
        </p:txBody>
      </p:sp>
      <p:sp>
        <p:nvSpPr>
          <p:cNvPr id="17" name="Text 14"/>
          <p:cNvSpPr/>
          <p:nvPr/>
        </p:nvSpPr>
        <p:spPr>
          <a:xfrm>
            <a:off x="6096000" y="4809045"/>
            <a:ext cx="3200400" cy="274320"/>
          </a:xfrm>
          <a:prstGeom prst="rect">
            <a:avLst/>
          </a:prstGeom>
          <a:noFill/>
          <a:ln/>
        </p:spPr>
        <p:txBody>
          <a:bodyPr wrap="square" lIns="0" tIns="0" rIns="0" bIns="0" rtlCol="0" anchor="ctr"/>
          <a:lstStyle/>
          <a:p>
            <a:pPr marL="0" indent="0">
              <a:buNone/>
            </a:pPr>
            <a:r>
              <a:rPr lang="en-US" sz="2000" b="1" dirty="0">
                <a:solidFill>
                  <a:srgbClr val="0B1F3A"/>
                </a:solidFill>
              </a:rPr>
              <a:t>Interpretation</a:t>
            </a:r>
            <a:endParaRPr lang="en-US" sz="1900" dirty="0"/>
          </a:p>
        </p:txBody>
      </p:sp>
      <p:sp>
        <p:nvSpPr>
          <p:cNvPr id="18" name="Text 15"/>
          <p:cNvSpPr/>
          <p:nvPr/>
        </p:nvSpPr>
        <p:spPr>
          <a:xfrm>
            <a:off x="6096000" y="5232718"/>
            <a:ext cx="4420454" cy="865631"/>
          </a:xfrm>
          <a:prstGeom prst="rect">
            <a:avLst/>
          </a:prstGeom>
          <a:noFill/>
          <a:ln/>
        </p:spPr>
        <p:txBody>
          <a:bodyPr wrap="square" lIns="762" tIns="762" rIns="762" bIns="762" rtlCol="0" anchor="t">
            <a:normAutofit/>
          </a:bodyPr>
          <a:lstStyle/>
          <a:p>
            <a:pPr marL="285750" indent="-285750">
              <a:buFont typeface="Arial" panose="020B0604020202020204" pitchFamily="34" charset="0"/>
              <a:buChar char="•"/>
            </a:pPr>
            <a:r>
              <a:rPr lang="en-US" sz="1500" dirty="0">
                <a:solidFill>
                  <a:srgbClr val="0B1F3A"/>
                </a:solidFill>
              </a:rPr>
              <a:t>Cluster 1 is guard-heavy.</a:t>
            </a:r>
            <a:endParaRPr lang="en-US" sz="1500" dirty="0"/>
          </a:p>
          <a:p>
            <a:pPr marL="285750" indent="-285750">
              <a:buFont typeface="Arial" panose="020B0604020202020204" pitchFamily="34" charset="0"/>
              <a:buChar char="•"/>
            </a:pPr>
            <a:r>
              <a:rPr lang="en-US" sz="1500" dirty="0">
                <a:solidFill>
                  <a:srgbClr val="0B1F3A"/>
                </a:solidFill>
              </a:rPr>
              <a:t>Cluster 2 has more non-guards.</a:t>
            </a:r>
            <a:endParaRPr lang="en-US" sz="1500" dirty="0"/>
          </a:p>
          <a:p>
            <a:pPr marL="285750" indent="-285750">
              <a:buFont typeface="Arial" panose="020B0604020202020204" pitchFamily="34" charset="0"/>
              <a:buChar char="•"/>
            </a:pPr>
            <a:r>
              <a:rPr lang="en-US" sz="1500" dirty="0">
                <a:solidFill>
                  <a:srgbClr val="0B1F3A"/>
                </a:solidFill>
              </a:rPr>
              <a:t>Separation exists, but overlap is still meaningful.</a:t>
            </a:r>
            <a:endParaRPr lang="en-US" sz="1500" dirty="0"/>
          </a:p>
        </p:txBody>
      </p:sp>
      <p:sp>
        <p:nvSpPr>
          <p:cNvPr id="20" name="Text 16"/>
          <p:cNvSpPr/>
          <p:nvPr/>
        </p:nvSpPr>
        <p:spPr>
          <a:xfrm>
            <a:off x="9186731" y="5977953"/>
            <a:ext cx="320040" cy="182880"/>
          </a:xfrm>
          <a:prstGeom prst="rect">
            <a:avLst/>
          </a:prstGeom>
          <a:noFill/>
          <a:ln/>
        </p:spPr>
        <p:txBody>
          <a:bodyPr wrap="square" lIns="0" tIns="0" rIns="0" bIns="0" rtlCol="0" anchor="ctr"/>
          <a:lstStyle/>
          <a:p>
            <a:pPr marL="0" indent="0" algn="r">
              <a:buNone/>
            </a:pPr>
            <a:r>
              <a:rPr lang="en-US" sz="800" dirty="0">
                <a:solidFill>
                  <a:srgbClr val="4B5563"/>
                </a:solidFill>
              </a:rPr>
              <a:t>10</a:t>
            </a:r>
            <a:endParaRPr lang="en-US" sz="800" dirty="0"/>
          </a:p>
        </p:txBody>
      </p:sp>
      <p:pic>
        <p:nvPicPr>
          <p:cNvPr id="21" name="Picture 20">
            <a:extLst>
              <a:ext uri="{FF2B5EF4-FFF2-40B4-BE49-F238E27FC236}">
                <a16:creationId xmlns:a16="http://schemas.microsoft.com/office/drawing/2014/main" id="{66089971-C50A-06BB-F732-AE8626ACDBC1}"/>
              </a:ext>
            </a:extLst>
          </p:cNvPr>
          <p:cNvPicPr>
            <a:picLocks noChangeAspect="1"/>
          </p:cNvPicPr>
          <p:nvPr/>
        </p:nvPicPr>
        <p:blipFill>
          <a:blip r:embed="rId3"/>
          <a:stretch>
            <a:fillRect/>
          </a:stretch>
        </p:blipFill>
        <p:spPr>
          <a:xfrm>
            <a:off x="5754142" y="250129"/>
            <a:ext cx="6143816" cy="4388440"/>
          </a:xfrm>
          <a:prstGeom prst="rect">
            <a:avLst/>
          </a:prstGeom>
        </p:spPr>
      </p:pic>
      <p:pic>
        <p:nvPicPr>
          <p:cNvPr id="23" name="Picture 22">
            <a:extLst>
              <a:ext uri="{FF2B5EF4-FFF2-40B4-BE49-F238E27FC236}">
                <a16:creationId xmlns:a16="http://schemas.microsoft.com/office/drawing/2014/main" id="{D5B8F8C4-D48B-A8E7-D7EA-107B38122558}"/>
              </a:ext>
            </a:extLst>
          </p:cNvPr>
          <p:cNvPicPr>
            <a:picLocks noChangeAspect="1"/>
          </p:cNvPicPr>
          <p:nvPr/>
        </p:nvPicPr>
        <p:blipFill>
          <a:blip r:embed="rId4"/>
          <a:stretch>
            <a:fillRect/>
          </a:stretch>
        </p:blipFill>
        <p:spPr>
          <a:xfrm>
            <a:off x="198902" y="1252728"/>
            <a:ext cx="4340826" cy="310058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chemeClr val="bg2">
            <a:lumMod val="9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chemeClr val="accent1">
              <a:lumMod val="50000"/>
            </a:schemeClr>
          </a:solidFill>
          <a:ln w="12700">
            <a:solidFill>
              <a:srgbClr val="F2A900">
                <a:alpha val="0"/>
              </a:srgbClr>
            </a:solidFill>
            <a:prstDash val="solid"/>
          </a:ln>
        </p:spPr>
        <p:txBody>
          <a:bodyPr/>
          <a:lstStyle/>
          <a:p>
            <a:endParaRPr lang="en-US"/>
          </a:p>
        </p:txBody>
      </p:sp>
      <p:sp>
        <p:nvSpPr>
          <p:cNvPr id="3" name="Shape 1"/>
          <p:cNvSpPr/>
          <p:nvPr/>
        </p:nvSpPr>
        <p:spPr>
          <a:xfrm>
            <a:off x="0" y="6812280"/>
            <a:ext cx="12191695" cy="45720"/>
          </a:xfrm>
          <a:prstGeom prst="rect">
            <a:avLst/>
          </a:prstGeom>
          <a:solidFill>
            <a:srgbClr val="0B1F3A"/>
          </a:solidFill>
          <a:ln w="12700">
            <a:solidFill>
              <a:srgbClr val="0B1F3A">
                <a:alpha val="0"/>
              </a:srgbClr>
            </a:solidFill>
            <a:prstDash val="solid"/>
          </a:ln>
        </p:spPr>
        <p:txBody>
          <a:bodyPr/>
          <a:lstStyle/>
          <a:p>
            <a:endParaRPr lang="en-US"/>
          </a:p>
        </p:txBody>
      </p:sp>
      <p:sp>
        <p:nvSpPr>
          <p:cNvPr id="4" name="Text 2"/>
          <p:cNvSpPr/>
          <p:nvPr/>
        </p:nvSpPr>
        <p:spPr>
          <a:xfrm>
            <a:off x="502920" y="347472"/>
            <a:ext cx="8138160" cy="457200"/>
          </a:xfrm>
          <a:prstGeom prst="rect">
            <a:avLst/>
          </a:prstGeom>
          <a:noFill/>
          <a:ln/>
        </p:spPr>
        <p:txBody>
          <a:bodyPr wrap="square" lIns="0" tIns="0" rIns="0" bIns="0" rtlCol="0" anchor="ctr"/>
          <a:lstStyle/>
          <a:p>
            <a:pPr marL="0" indent="0">
              <a:buNone/>
            </a:pPr>
            <a:r>
              <a:rPr lang="en-US" sz="2700" b="1" dirty="0">
                <a:solidFill>
                  <a:srgbClr val="0B1F3A"/>
                </a:solidFill>
                <a:latin typeface="Aptos Display" pitchFamily="34" charset="0"/>
                <a:ea typeface="Aptos Display" pitchFamily="34" charset="-122"/>
                <a:cs typeface="Aptos Display" pitchFamily="34" charset="-120"/>
              </a:rPr>
              <a:t>Hierarchical clustering results</a:t>
            </a:r>
            <a:endParaRPr lang="en-US" sz="2700" dirty="0"/>
          </a:p>
        </p:txBody>
      </p:sp>
      <p:sp>
        <p:nvSpPr>
          <p:cNvPr id="5" name="Text 3"/>
          <p:cNvSpPr/>
          <p:nvPr/>
        </p:nvSpPr>
        <p:spPr>
          <a:xfrm>
            <a:off x="521208" y="832104"/>
            <a:ext cx="8503920" cy="274320"/>
          </a:xfrm>
          <a:prstGeom prst="rect">
            <a:avLst/>
          </a:prstGeom>
          <a:noFill/>
          <a:ln/>
        </p:spPr>
        <p:txBody>
          <a:bodyPr wrap="square" lIns="0" tIns="0" rIns="0" bIns="0" rtlCol="0" anchor="ctr"/>
          <a:lstStyle/>
          <a:p>
            <a:pPr marL="0" indent="0">
              <a:buNone/>
            </a:pPr>
            <a:r>
              <a:rPr lang="en-US" sz="1250" dirty="0">
                <a:solidFill>
                  <a:srgbClr val="4B5563"/>
                </a:solidFill>
              </a:rPr>
              <a:t>Average linkage performed best</a:t>
            </a:r>
            <a:endParaRPr lang="en-US" sz="1250" dirty="0"/>
          </a:p>
        </p:txBody>
      </p:sp>
      <p:sp>
        <p:nvSpPr>
          <p:cNvPr id="6" name="Shape 4"/>
          <p:cNvSpPr/>
          <p:nvPr/>
        </p:nvSpPr>
        <p:spPr>
          <a:xfrm>
            <a:off x="731520" y="1234440"/>
            <a:ext cx="4754880" cy="4480560"/>
          </a:xfrm>
          <a:prstGeom prst="roundRect">
            <a:avLst>
              <a:gd name="adj" fmla="val 1633"/>
            </a:avLst>
          </a:prstGeom>
          <a:solidFill>
            <a:srgbClr val="F4F7FB"/>
          </a:solidFill>
          <a:ln w="10160">
            <a:solidFill>
              <a:srgbClr val="D1D5DB">
                <a:alpha val="80000"/>
              </a:srgbClr>
            </a:solidFill>
            <a:prstDash val="solid"/>
          </a:ln>
        </p:spPr>
        <p:txBody>
          <a:bodyPr/>
          <a:lstStyle/>
          <a:p>
            <a:endParaRPr lang="en-US"/>
          </a:p>
        </p:txBody>
      </p:sp>
      <p:sp>
        <p:nvSpPr>
          <p:cNvPr id="7" name="Text 5"/>
          <p:cNvSpPr/>
          <p:nvPr/>
        </p:nvSpPr>
        <p:spPr>
          <a:xfrm>
            <a:off x="1005840" y="1600200"/>
            <a:ext cx="3931920" cy="320040"/>
          </a:xfrm>
          <a:prstGeom prst="rect">
            <a:avLst/>
          </a:prstGeom>
          <a:noFill/>
          <a:ln/>
        </p:spPr>
        <p:txBody>
          <a:bodyPr wrap="square" lIns="0" tIns="0" rIns="0" bIns="0" rtlCol="0" anchor="ctr"/>
          <a:lstStyle/>
          <a:p>
            <a:pPr marL="0" indent="0">
              <a:buNone/>
            </a:pPr>
            <a:r>
              <a:rPr lang="en-US" sz="2200" b="1" dirty="0">
                <a:solidFill>
                  <a:srgbClr val="0B1F3A"/>
                </a:solidFill>
              </a:rPr>
              <a:t>Best configuration</a:t>
            </a:r>
            <a:endParaRPr lang="en-US" sz="2200" dirty="0"/>
          </a:p>
        </p:txBody>
      </p:sp>
      <p:sp>
        <p:nvSpPr>
          <p:cNvPr id="8" name="Text 6"/>
          <p:cNvSpPr/>
          <p:nvPr/>
        </p:nvSpPr>
        <p:spPr>
          <a:xfrm>
            <a:off x="1005840" y="2148840"/>
            <a:ext cx="3931920" cy="1554480"/>
          </a:xfrm>
          <a:prstGeom prst="rect">
            <a:avLst/>
          </a:prstGeom>
          <a:noFill/>
          <a:ln/>
        </p:spPr>
        <p:txBody>
          <a:bodyPr wrap="square" lIns="762" tIns="762" rIns="762" bIns="762" rtlCol="0" anchor="t">
            <a:normAutofit/>
          </a:bodyPr>
          <a:lstStyle/>
          <a:p>
            <a:pPr marL="285750" indent="-285750">
              <a:buFont typeface="Arial" panose="020B0604020202020204" pitchFamily="34" charset="0"/>
              <a:buChar char="•"/>
            </a:pPr>
            <a:r>
              <a:rPr lang="en-US" sz="1600" dirty="0">
                <a:solidFill>
                  <a:srgbClr val="0B1F3A"/>
                </a:solidFill>
              </a:rPr>
              <a:t>Linkage: average</a:t>
            </a:r>
            <a:endParaRPr lang="en-US" sz="1600" dirty="0"/>
          </a:p>
          <a:p>
            <a:pPr marL="285750" indent="-285750">
              <a:buFont typeface="Arial" panose="020B0604020202020204" pitchFamily="34" charset="0"/>
              <a:buChar char="•"/>
            </a:pPr>
            <a:r>
              <a:rPr lang="en-US" sz="1600" dirty="0">
                <a:solidFill>
                  <a:srgbClr val="0B1F3A"/>
                </a:solidFill>
              </a:rPr>
              <a:t>K = 2</a:t>
            </a:r>
            <a:endParaRPr lang="en-US" sz="1600" dirty="0"/>
          </a:p>
          <a:p>
            <a:pPr marL="285750" indent="-285750">
              <a:buFont typeface="Arial" panose="020B0604020202020204" pitchFamily="34" charset="0"/>
              <a:buChar char="•"/>
            </a:pPr>
            <a:r>
              <a:rPr lang="en-US" sz="1600" dirty="0">
                <a:solidFill>
                  <a:srgbClr val="0B1F3A"/>
                </a:solidFill>
              </a:rPr>
              <a:t>Silhouette: 0.208</a:t>
            </a:r>
            <a:endParaRPr lang="en-US" sz="1600" dirty="0"/>
          </a:p>
          <a:p>
            <a:pPr marL="285750" indent="-285750">
              <a:buFont typeface="Arial" panose="020B0604020202020204" pitchFamily="34" charset="0"/>
              <a:buChar char="•"/>
            </a:pPr>
            <a:r>
              <a:rPr lang="en-US" sz="1600" dirty="0">
                <a:solidFill>
                  <a:srgbClr val="0B1F3A"/>
                </a:solidFill>
              </a:rPr>
              <a:t>Slightly higher than K-means</a:t>
            </a:r>
            <a:endParaRPr lang="en-US" sz="1600" dirty="0"/>
          </a:p>
        </p:txBody>
      </p:sp>
      <p:sp>
        <p:nvSpPr>
          <p:cNvPr id="9" name="Text 7"/>
          <p:cNvSpPr/>
          <p:nvPr/>
        </p:nvSpPr>
        <p:spPr>
          <a:xfrm>
            <a:off x="1005840" y="4160520"/>
            <a:ext cx="1645920" cy="365760"/>
          </a:xfrm>
          <a:prstGeom prst="rect">
            <a:avLst/>
          </a:prstGeom>
          <a:solidFill>
            <a:srgbClr val="0B1F3A"/>
          </a:solidFill>
          <a:ln w="6350">
            <a:solidFill>
              <a:srgbClr val="D6DDE8"/>
            </a:solidFill>
          </a:ln>
        </p:spPr>
        <p:txBody>
          <a:bodyPr wrap="square" lIns="508" tIns="508" rIns="508" bIns="508" rtlCol="0" anchor="ctr">
            <a:normAutofit/>
          </a:bodyPr>
          <a:lstStyle/>
          <a:p>
            <a:pPr marL="0" indent="0" algn="ctr">
              <a:buNone/>
            </a:pPr>
            <a:r>
              <a:rPr lang="en-US" sz="1050" b="1" dirty="0">
                <a:solidFill>
                  <a:srgbClr val="FFFFFF"/>
                </a:solidFill>
              </a:rPr>
              <a:t>Hierarchical</a:t>
            </a:r>
            <a:endParaRPr lang="en-US" sz="1050" dirty="0"/>
          </a:p>
        </p:txBody>
      </p:sp>
      <p:sp>
        <p:nvSpPr>
          <p:cNvPr id="10" name="Text 8"/>
          <p:cNvSpPr/>
          <p:nvPr/>
        </p:nvSpPr>
        <p:spPr>
          <a:xfrm>
            <a:off x="2651760" y="4160520"/>
            <a:ext cx="1143000" cy="365760"/>
          </a:xfrm>
          <a:prstGeom prst="rect">
            <a:avLst/>
          </a:prstGeom>
          <a:solidFill>
            <a:srgbClr val="0B1F3A"/>
          </a:solidFill>
          <a:ln w="6350">
            <a:solidFill>
              <a:srgbClr val="D6DDE8"/>
            </a:solidFill>
          </a:ln>
        </p:spPr>
        <p:txBody>
          <a:bodyPr wrap="square" lIns="508" tIns="508" rIns="508" bIns="508" rtlCol="0" anchor="ctr">
            <a:normAutofit/>
          </a:bodyPr>
          <a:lstStyle/>
          <a:p>
            <a:pPr marL="0" indent="0" algn="ctr">
              <a:buNone/>
            </a:pPr>
            <a:r>
              <a:rPr lang="en-US" sz="1050" b="1" dirty="0">
                <a:solidFill>
                  <a:srgbClr val="FFFFFF"/>
                </a:solidFill>
              </a:rPr>
              <a:t>Guard</a:t>
            </a:r>
            <a:endParaRPr lang="en-US" sz="1050" dirty="0"/>
          </a:p>
        </p:txBody>
      </p:sp>
      <p:sp>
        <p:nvSpPr>
          <p:cNvPr id="11" name="Text 9"/>
          <p:cNvSpPr/>
          <p:nvPr/>
        </p:nvSpPr>
        <p:spPr>
          <a:xfrm>
            <a:off x="3794760" y="4160520"/>
            <a:ext cx="1188720" cy="365760"/>
          </a:xfrm>
          <a:prstGeom prst="rect">
            <a:avLst/>
          </a:prstGeom>
          <a:solidFill>
            <a:srgbClr val="0B1F3A"/>
          </a:solidFill>
          <a:ln w="6350">
            <a:solidFill>
              <a:srgbClr val="D6DDE8"/>
            </a:solidFill>
          </a:ln>
        </p:spPr>
        <p:txBody>
          <a:bodyPr wrap="square" lIns="508" tIns="508" rIns="508" bIns="508" rtlCol="0" anchor="ctr">
            <a:normAutofit/>
          </a:bodyPr>
          <a:lstStyle/>
          <a:p>
            <a:pPr marL="0" indent="0" algn="ctr">
              <a:buNone/>
            </a:pPr>
            <a:r>
              <a:rPr lang="en-US" sz="1050" b="1" dirty="0">
                <a:solidFill>
                  <a:srgbClr val="FFFFFF"/>
                </a:solidFill>
              </a:rPr>
              <a:t>NonGuard</a:t>
            </a:r>
            <a:endParaRPr lang="en-US" sz="1050" dirty="0"/>
          </a:p>
        </p:txBody>
      </p:sp>
      <p:sp>
        <p:nvSpPr>
          <p:cNvPr id="12" name="Text 10"/>
          <p:cNvSpPr/>
          <p:nvPr/>
        </p:nvSpPr>
        <p:spPr>
          <a:xfrm>
            <a:off x="1005840" y="4526280"/>
            <a:ext cx="1645920" cy="365760"/>
          </a:xfrm>
          <a:prstGeom prst="rect">
            <a:avLst/>
          </a:prstGeom>
          <a:solidFill>
            <a:srgbClr val="FFFFFF"/>
          </a:solidFill>
          <a:ln w="6350">
            <a:solidFill>
              <a:srgbClr val="D6DDE8"/>
            </a:solidFill>
          </a:ln>
        </p:spPr>
        <p:txBody>
          <a:bodyPr wrap="square" lIns="508" tIns="508" rIns="508" bIns="508" rtlCol="0" anchor="ctr">
            <a:normAutofit/>
          </a:bodyPr>
          <a:lstStyle/>
          <a:p>
            <a:pPr marL="0" indent="0" algn="ctr">
              <a:buNone/>
            </a:pPr>
            <a:r>
              <a:rPr lang="en-US" sz="1050" dirty="0">
                <a:solidFill>
                  <a:srgbClr val="0B1F3A"/>
                </a:solidFill>
              </a:rPr>
              <a:t>Cluster 1</a:t>
            </a:r>
            <a:endParaRPr lang="en-US" sz="1050" dirty="0"/>
          </a:p>
        </p:txBody>
      </p:sp>
      <p:sp>
        <p:nvSpPr>
          <p:cNvPr id="13" name="Text 11"/>
          <p:cNvSpPr/>
          <p:nvPr/>
        </p:nvSpPr>
        <p:spPr>
          <a:xfrm>
            <a:off x="2651760" y="4526280"/>
            <a:ext cx="1143000" cy="365760"/>
          </a:xfrm>
          <a:prstGeom prst="rect">
            <a:avLst/>
          </a:prstGeom>
          <a:solidFill>
            <a:srgbClr val="FFFFFF"/>
          </a:solidFill>
          <a:ln w="6350">
            <a:solidFill>
              <a:srgbClr val="D6DDE8"/>
            </a:solidFill>
          </a:ln>
        </p:spPr>
        <p:txBody>
          <a:bodyPr wrap="square" lIns="508" tIns="508" rIns="508" bIns="508" rtlCol="0" anchor="ctr">
            <a:normAutofit/>
          </a:bodyPr>
          <a:lstStyle/>
          <a:p>
            <a:pPr marL="0" indent="0" algn="ctr">
              <a:buNone/>
            </a:pPr>
            <a:r>
              <a:rPr lang="en-US" sz="1050" dirty="0">
                <a:solidFill>
                  <a:srgbClr val="0B1F3A"/>
                </a:solidFill>
              </a:rPr>
              <a:t>368</a:t>
            </a:r>
            <a:endParaRPr lang="en-US" sz="1050" dirty="0"/>
          </a:p>
        </p:txBody>
      </p:sp>
      <p:sp>
        <p:nvSpPr>
          <p:cNvPr id="14" name="Text 12"/>
          <p:cNvSpPr/>
          <p:nvPr/>
        </p:nvSpPr>
        <p:spPr>
          <a:xfrm>
            <a:off x="3794760" y="4526280"/>
            <a:ext cx="1188720" cy="365760"/>
          </a:xfrm>
          <a:prstGeom prst="rect">
            <a:avLst/>
          </a:prstGeom>
          <a:solidFill>
            <a:srgbClr val="FFFFFF"/>
          </a:solidFill>
          <a:ln w="6350">
            <a:solidFill>
              <a:srgbClr val="D6DDE8"/>
            </a:solidFill>
          </a:ln>
        </p:spPr>
        <p:txBody>
          <a:bodyPr wrap="square" lIns="508" tIns="508" rIns="508" bIns="508" rtlCol="0" anchor="ctr">
            <a:normAutofit/>
          </a:bodyPr>
          <a:lstStyle/>
          <a:p>
            <a:pPr marL="0" indent="0" algn="ctr">
              <a:buNone/>
            </a:pPr>
            <a:r>
              <a:rPr lang="en-US" sz="1050" dirty="0">
                <a:solidFill>
                  <a:srgbClr val="0B1F3A"/>
                </a:solidFill>
              </a:rPr>
              <a:t>227</a:t>
            </a:r>
            <a:endParaRPr lang="en-US" sz="1050" dirty="0"/>
          </a:p>
        </p:txBody>
      </p:sp>
      <p:sp>
        <p:nvSpPr>
          <p:cNvPr id="15" name="Text 13"/>
          <p:cNvSpPr/>
          <p:nvPr/>
        </p:nvSpPr>
        <p:spPr>
          <a:xfrm>
            <a:off x="1005840" y="4892040"/>
            <a:ext cx="1645920" cy="365760"/>
          </a:xfrm>
          <a:prstGeom prst="rect">
            <a:avLst/>
          </a:prstGeom>
          <a:solidFill>
            <a:srgbClr val="FFFFFF"/>
          </a:solidFill>
          <a:ln w="6350">
            <a:solidFill>
              <a:srgbClr val="D6DDE8"/>
            </a:solidFill>
          </a:ln>
        </p:spPr>
        <p:txBody>
          <a:bodyPr wrap="square" lIns="508" tIns="508" rIns="508" bIns="508" rtlCol="0" anchor="ctr">
            <a:normAutofit/>
          </a:bodyPr>
          <a:lstStyle/>
          <a:p>
            <a:pPr marL="0" indent="0" algn="ctr">
              <a:buNone/>
            </a:pPr>
            <a:r>
              <a:rPr lang="en-US" sz="1050" dirty="0">
                <a:solidFill>
                  <a:srgbClr val="0B1F3A"/>
                </a:solidFill>
              </a:rPr>
              <a:t>Cluster 2</a:t>
            </a:r>
            <a:endParaRPr lang="en-US" sz="1050" dirty="0"/>
          </a:p>
        </p:txBody>
      </p:sp>
      <p:sp>
        <p:nvSpPr>
          <p:cNvPr id="16" name="Text 14"/>
          <p:cNvSpPr/>
          <p:nvPr/>
        </p:nvSpPr>
        <p:spPr>
          <a:xfrm>
            <a:off x="2651760" y="4892040"/>
            <a:ext cx="1143000" cy="365760"/>
          </a:xfrm>
          <a:prstGeom prst="rect">
            <a:avLst/>
          </a:prstGeom>
          <a:solidFill>
            <a:srgbClr val="FFFFFF"/>
          </a:solidFill>
          <a:ln w="6350">
            <a:solidFill>
              <a:srgbClr val="D6DDE8"/>
            </a:solidFill>
          </a:ln>
        </p:spPr>
        <p:txBody>
          <a:bodyPr wrap="square" lIns="508" tIns="508" rIns="508" bIns="508" rtlCol="0" anchor="ctr">
            <a:normAutofit/>
          </a:bodyPr>
          <a:lstStyle/>
          <a:p>
            <a:pPr marL="0" indent="0" algn="ctr">
              <a:buNone/>
            </a:pPr>
            <a:r>
              <a:rPr lang="en-US" sz="1050" dirty="0">
                <a:solidFill>
                  <a:srgbClr val="0B1F3A"/>
                </a:solidFill>
              </a:rPr>
              <a:t>5</a:t>
            </a:r>
            <a:endParaRPr lang="en-US" sz="1050" dirty="0"/>
          </a:p>
        </p:txBody>
      </p:sp>
      <p:sp>
        <p:nvSpPr>
          <p:cNvPr id="17" name="Text 15"/>
          <p:cNvSpPr/>
          <p:nvPr/>
        </p:nvSpPr>
        <p:spPr>
          <a:xfrm>
            <a:off x="3794760" y="4892040"/>
            <a:ext cx="1188720" cy="365760"/>
          </a:xfrm>
          <a:prstGeom prst="rect">
            <a:avLst/>
          </a:prstGeom>
          <a:solidFill>
            <a:srgbClr val="FFFFFF"/>
          </a:solidFill>
          <a:ln w="6350">
            <a:solidFill>
              <a:srgbClr val="D6DDE8"/>
            </a:solidFill>
          </a:ln>
        </p:spPr>
        <p:txBody>
          <a:bodyPr wrap="square" lIns="508" tIns="508" rIns="508" bIns="508" rtlCol="0" anchor="ctr">
            <a:normAutofit/>
          </a:bodyPr>
          <a:lstStyle/>
          <a:p>
            <a:pPr marL="0" indent="0" algn="ctr">
              <a:buNone/>
            </a:pPr>
            <a:r>
              <a:rPr lang="en-US" sz="1050" dirty="0">
                <a:solidFill>
                  <a:srgbClr val="0B1F3A"/>
                </a:solidFill>
              </a:rPr>
              <a:t>0</a:t>
            </a:r>
            <a:endParaRPr lang="en-US" sz="1050" dirty="0"/>
          </a:p>
        </p:txBody>
      </p:sp>
      <p:sp>
        <p:nvSpPr>
          <p:cNvPr id="18" name="Shape 16"/>
          <p:cNvSpPr/>
          <p:nvPr/>
        </p:nvSpPr>
        <p:spPr>
          <a:xfrm>
            <a:off x="5989320" y="1234440"/>
            <a:ext cx="5303520" cy="4480560"/>
          </a:xfrm>
          <a:prstGeom prst="rect">
            <a:avLst/>
          </a:prstGeom>
          <a:solidFill>
            <a:srgbClr val="EEF2F7"/>
          </a:solidFill>
          <a:ln w="13970">
            <a:solidFill>
              <a:srgbClr val="D1D5DB"/>
            </a:solidFill>
            <a:prstDash val="solid"/>
          </a:ln>
        </p:spPr>
        <p:txBody>
          <a:bodyPr/>
          <a:lstStyle/>
          <a:p>
            <a:endParaRPr lang="en-US"/>
          </a:p>
        </p:txBody>
      </p:sp>
      <p:sp>
        <p:nvSpPr>
          <p:cNvPr id="19" name="Text 17"/>
          <p:cNvSpPr/>
          <p:nvPr/>
        </p:nvSpPr>
        <p:spPr>
          <a:xfrm>
            <a:off x="6126480" y="1325880"/>
            <a:ext cx="5029200" cy="274320"/>
          </a:xfrm>
          <a:prstGeom prst="rect">
            <a:avLst/>
          </a:prstGeom>
          <a:noFill/>
          <a:ln/>
        </p:spPr>
        <p:txBody>
          <a:bodyPr wrap="square" lIns="0" tIns="0" rIns="0" bIns="0" rtlCol="0" anchor="ctr"/>
          <a:lstStyle/>
          <a:p>
            <a:pPr marL="0" indent="0" algn="ctr">
              <a:buNone/>
            </a:pPr>
            <a:r>
              <a:rPr lang="en-US" sz="1350" b="1" dirty="0">
                <a:solidFill>
                  <a:srgbClr val="0B1F3A"/>
                </a:solidFill>
              </a:rPr>
              <a:t>Hierarchical dendrogram</a:t>
            </a:r>
            <a:endParaRPr lang="en-US" sz="1350" dirty="0"/>
          </a:p>
        </p:txBody>
      </p:sp>
      <p:sp>
        <p:nvSpPr>
          <p:cNvPr id="22" name="Text 19"/>
          <p:cNvSpPr/>
          <p:nvPr/>
        </p:nvSpPr>
        <p:spPr>
          <a:xfrm>
            <a:off x="11475720" y="6519672"/>
            <a:ext cx="320040" cy="182880"/>
          </a:xfrm>
          <a:prstGeom prst="rect">
            <a:avLst/>
          </a:prstGeom>
          <a:noFill/>
          <a:ln/>
        </p:spPr>
        <p:txBody>
          <a:bodyPr wrap="square" lIns="0" tIns="0" rIns="0" bIns="0" rtlCol="0" anchor="ctr"/>
          <a:lstStyle/>
          <a:p>
            <a:pPr marL="0" indent="0" algn="r">
              <a:buNone/>
            </a:pPr>
            <a:r>
              <a:rPr lang="en-US" sz="800" dirty="0">
                <a:solidFill>
                  <a:srgbClr val="4B5563"/>
                </a:solidFill>
              </a:rPr>
              <a:t>11</a:t>
            </a:r>
            <a:endParaRPr lang="en-US" sz="800" dirty="0"/>
          </a:p>
        </p:txBody>
      </p:sp>
      <p:pic>
        <p:nvPicPr>
          <p:cNvPr id="21" name="Picture 20">
            <a:extLst>
              <a:ext uri="{FF2B5EF4-FFF2-40B4-BE49-F238E27FC236}">
                <a16:creationId xmlns:a16="http://schemas.microsoft.com/office/drawing/2014/main" id="{88D78570-93CD-E7FB-48A8-782D437D9F8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26480" y="1691640"/>
            <a:ext cx="5029200" cy="391110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3A6BC7"/>
          </a:solidFill>
          <a:ln w="12700">
            <a:solidFill>
              <a:srgbClr val="F2A900">
                <a:alpha val="0"/>
              </a:srgbClr>
            </a:solidFill>
            <a:prstDash val="solid"/>
          </a:ln>
        </p:spPr>
        <p:txBody>
          <a:bodyPr/>
          <a:lstStyle/>
          <a:p>
            <a:endParaRPr lang="en-US"/>
          </a:p>
        </p:txBody>
      </p:sp>
      <p:sp>
        <p:nvSpPr>
          <p:cNvPr id="3" name="Shape 1"/>
          <p:cNvSpPr/>
          <p:nvPr/>
        </p:nvSpPr>
        <p:spPr>
          <a:xfrm>
            <a:off x="0" y="6812280"/>
            <a:ext cx="12191695" cy="45720"/>
          </a:xfrm>
          <a:prstGeom prst="rect">
            <a:avLst/>
          </a:prstGeom>
          <a:solidFill>
            <a:srgbClr val="0B1F3A"/>
          </a:solidFill>
          <a:ln w="12700">
            <a:solidFill>
              <a:srgbClr val="0B1F3A">
                <a:alpha val="0"/>
              </a:srgbClr>
            </a:solidFill>
            <a:prstDash val="solid"/>
          </a:ln>
        </p:spPr>
        <p:txBody>
          <a:bodyPr/>
          <a:lstStyle/>
          <a:p>
            <a:endParaRPr lang="en-US"/>
          </a:p>
        </p:txBody>
      </p:sp>
      <p:sp>
        <p:nvSpPr>
          <p:cNvPr id="4" name="Text 2"/>
          <p:cNvSpPr/>
          <p:nvPr/>
        </p:nvSpPr>
        <p:spPr>
          <a:xfrm>
            <a:off x="502920" y="347472"/>
            <a:ext cx="8138160" cy="457200"/>
          </a:xfrm>
          <a:prstGeom prst="rect">
            <a:avLst/>
          </a:prstGeom>
          <a:noFill/>
          <a:ln/>
        </p:spPr>
        <p:txBody>
          <a:bodyPr wrap="square" lIns="0" tIns="0" rIns="0" bIns="0" rtlCol="0" anchor="ctr"/>
          <a:lstStyle/>
          <a:p>
            <a:pPr marL="0" indent="0">
              <a:buNone/>
            </a:pPr>
            <a:r>
              <a:rPr lang="en-US" sz="2700" b="1" dirty="0">
                <a:solidFill>
                  <a:srgbClr val="0B1F3A"/>
                </a:solidFill>
                <a:latin typeface="Aptos Display" pitchFamily="34" charset="0"/>
                <a:ea typeface="Aptos Display" pitchFamily="34" charset="-122"/>
                <a:cs typeface="Aptos Display" pitchFamily="34" charset="-120"/>
              </a:rPr>
              <a:t>Clustering comparison</a:t>
            </a:r>
            <a:endParaRPr lang="en-US" sz="2700" dirty="0"/>
          </a:p>
        </p:txBody>
      </p:sp>
      <p:sp>
        <p:nvSpPr>
          <p:cNvPr id="5" name="Text 3"/>
          <p:cNvSpPr/>
          <p:nvPr/>
        </p:nvSpPr>
        <p:spPr>
          <a:xfrm>
            <a:off x="521208" y="832104"/>
            <a:ext cx="8503920" cy="274320"/>
          </a:xfrm>
          <a:prstGeom prst="rect">
            <a:avLst/>
          </a:prstGeom>
          <a:noFill/>
          <a:ln/>
        </p:spPr>
        <p:txBody>
          <a:bodyPr wrap="square" lIns="0" tIns="0" rIns="0" bIns="0" rtlCol="0" anchor="ctr"/>
          <a:lstStyle/>
          <a:p>
            <a:pPr marL="0" indent="0">
              <a:buNone/>
            </a:pPr>
            <a:r>
              <a:rPr lang="en-US" sz="1250" dirty="0">
                <a:solidFill>
                  <a:srgbClr val="4B5563"/>
                </a:solidFill>
              </a:rPr>
              <a:t>Natural groups are weaker than supervised labels</a:t>
            </a:r>
            <a:endParaRPr lang="en-US" sz="1250" dirty="0"/>
          </a:p>
        </p:txBody>
      </p:sp>
      <p:graphicFrame>
        <p:nvGraphicFramePr>
          <p:cNvPr id="6" name="Chart 0"/>
          <p:cNvGraphicFramePr/>
          <p:nvPr>
            <p:extLst>
              <p:ext uri="{D42A27DB-BD31-4B8C-83A1-F6EECF244321}">
                <p14:modId xmlns:p14="http://schemas.microsoft.com/office/powerpoint/2010/main" val="704956409"/>
              </p:ext>
            </p:extLst>
          </p:nvPr>
        </p:nvGraphicFramePr>
        <p:xfrm>
          <a:off x="521208" y="1348740"/>
          <a:ext cx="5394960" cy="3963924"/>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6400799" y="1325880"/>
            <a:ext cx="5394959" cy="3986784"/>
          </a:xfrm>
          <a:prstGeom prst="roundRect">
            <a:avLst>
              <a:gd name="adj" fmla="val 2025"/>
            </a:avLst>
          </a:prstGeom>
          <a:solidFill>
            <a:schemeClr val="accent1">
              <a:lumMod val="40000"/>
              <a:lumOff val="60000"/>
            </a:schemeClr>
          </a:solidFill>
          <a:ln w="10160">
            <a:solidFill>
              <a:srgbClr val="D1D5DB">
                <a:alpha val="80000"/>
              </a:srgbClr>
            </a:solidFill>
            <a:prstDash val="solid"/>
          </a:ln>
        </p:spPr>
        <p:txBody>
          <a:bodyPr/>
          <a:lstStyle/>
          <a:p>
            <a:endParaRPr lang="en-US"/>
          </a:p>
        </p:txBody>
      </p:sp>
      <p:sp>
        <p:nvSpPr>
          <p:cNvPr id="8" name="Text 5"/>
          <p:cNvSpPr/>
          <p:nvPr/>
        </p:nvSpPr>
        <p:spPr>
          <a:xfrm>
            <a:off x="6675120" y="1463039"/>
            <a:ext cx="3383280" cy="292608"/>
          </a:xfrm>
          <a:prstGeom prst="rect">
            <a:avLst/>
          </a:prstGeom>
          <a:noFill/>
          <a:ln/>
        </p:spPr>
        <p:txBody>
          <a:bodyPr wrap="square" lIns="0" tIns="0" rIns="0" bIns="0" rtlCol="0" anchor="ctr"/>
          <a:lstStyle/>
          <a:p>
            <a:pPr marL="0" indent="0">
              <a:buNone/>
            </a:pPr>
            <a:r>
              <a:rPr lang="en-US" sz="2200" b="1" dirty="0">
                <a:solidFill>
                  <a:srgbClr val="0B1F3A"/>
                </a:solidFill>
              </a:rPr>
              <a:t>Interpretation</a:t>
            </a:r>
            <a:endParaRPr lang="en-US" sz="2200" dirty="0"/>
          </a:p>
        </p:txBody>
      </p:sp>
      <p:sp>
        <p:nvSpPr>
          <p:cNvPr id="9" name="Text 6"/>
          <p:cNvSpPr/>
          <p:nvPr/>
        </p:nvSpPr>
        <p:spPr>
          <a:xfrm>
            <a:off x="6675120" y="2020824"/>
            <a:ext cx="5120638" cy="3081530"/>
          </a:xfrm>
          <a:prstGeom prst="rect">
            <a:avLst/>
          </a:prstGeom>
          <a:noFill/>
          <a:ln/>
        </p:spPr>
        <p:txBody>
          <a:bodyPr wrap="square" lIns="762" tIns="762" rIns="762" bIns="762" rtlCol="0" anchor="t">
            <a:normAutofit fontScale="92500" lnSpcReduction="10000"/>
          </a:bodyPr>
          <a:lstStyle/>
          <a:p>
            <a:pPr marL="285750" indent="-285750">
              <a:lnSpc>
                <a:spcPct val="150000"/>
              </a:lnSpc>
              <a:buFont typeface="Arial" panose="020B0604020202020204" pitchFamily="34" charset="0"/>
              <a:buChar char="•"/>
            </a:pPr>
            <a:r>
              <a:rPr lang="en-US" sz="1550" dirty="0"/>
              <a:t>Hierarchical clustering performed slightly better than K-Means based on silhouette score.</a:t>
            </a:r>
          </a:p>
          <a:p>
            <a:pPr marL="285750" indent="-285750">
              <a:lnSpc>
                <a:spcPct val="150000"/>
              </a:lnSpc>
              <a:buFont typeface="Arial" panose="020B0604020202020204" pitchFamily="34" charset="0"/>
              <a:buChar char="•"/>
            </a:pPr>
            <a:r>
              <a:rPr lang="en-US" sz="1550" dirty="0"/>
              <a:t>However, both methods produced relatively low scores, indicating weak cluster separation.</a:t>
            </a:r>
          </a:p>
          <a:p>
            <a:pPr marL="285750" indent="-285750">
              <a:lnSpc>
                <a:spcPct val="150000"/>
              </a:lnSpc>
              <a:buFont typeface="Arial" panose="020B0604020202020204" pitchFamily="34" charset="0"/>
              <a:buChar char="•"/>
            </a:pPr>
            <a:r>
              <a:rPr lang="en-US" sz="1550" dirty="0"/>
              <a:t>This suggests that player positions are not clearly distinguishable based on statistical profiles alone.</a:t>
            </a:r>
          </a:p>
          <a:p>
            <a:pPr marL="285750" indent="-285750">
              <a:lnSpc>
                <a:spcPct val="150000"/>
              </a:lnSpc>
              <a:buFont typeface="Arial" panose="020B0604020202020204" pitchFamily="34" charset="0"/>
              <a:buChar char="•"/>
            </a:pPr>
            <a:r>
              <a:rPr lang="en-US" sz="1550" dirty="0"/>
              <a:t>Significant overlap exists between guards and non-guards, reflecting shared skill sets.</a:t>
            </a:r>
          </a:p>
          <a:p>
            <a:pPr marL="285750" indent="-285750">
              <a:lnSpc>
                <a:spcPct val="150000"/>
              </a:lnSpc>
              <a:buFont typeface="Arial" panose="020B0604020202020204" pitchFamily="34" charset="0"/>
              <a:buChar char="•"/>
            </a:pPr>
            <a:r>
              <a:rPr lang="en-US" sz="1550" dirty="0"/>
              <a:t>Overall, the data shows weak natural grouping, making clustering a challenging task.</a:t>
            </a:r>
          </a:p>
          <a:p>
            <a:pPr>
              <a:lnSpc>
                <a:spcPct val="150000"/>
              </a:lnSpc>
            </a:pPr>
            <a:endParaRPr lang="en-US" sz="1550" dirty="0"/>
          </a:p>
        </p:txBody>
      </p:sp>
      <p:sp>
        <p:nvSpPr>
          <p:cNvPr id="11" name="Text 7"/>
          <p:cNvSpPr/>
          <p:nvPr/>
        </p:nvSpPr>
        <p:spPr>
          <a:xfrm>
            <a:off x="11475720" y="6519672"/>
            <a:ext cx="320040" cy="182880"/>
          </a:xfrm>
          <a:prstGeom prst="rect">
            <a:avLst/>
          </a:prstGeom>
          <a:noFill/>
          <a:ln/>
        </p:spPr>
        <p:txBody>
          <a:bodyPr wrap="square" lIns="0" tIns="0" rIns="0" bIns="0" rtlCol="0" anchor="ctr"/>
          <a:lstStyle/>
          <a:p>
            <a:pPr marL="0" indent="0" algn="r">
              <a:buNone/>
            </a:pPr>
            <a:r>
              <a:rPr lang="en-US" sz="800" dirty="0">
                <a:solidFill>
                  <a:srgbClr val="4B5563"/>
                </a:solidFill>
              </a:rPr>
              <a:t>12</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alpha val="66963"/>
          </a:schemeClr>
        </a:solidFill>
        <a:effectLst/>
      </p:bgPr>
    </p:bg>
    <p:spTree>
      <p:nvGrpSpPr>
        <p:cNvPr id="1" name="">
          <a:extLst>
            <a:ext uri="{FF2B5EF4-FFF2-40B4-BE49-F238E27FC236}">
              <a16:creationId xmlns:a16="http://schemas.microsoft.com/office/drawing/2014/main" id="{51D02C1C-B527-2285-C2BC-A301697AEFA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774B325-2E49-F762-9689-E05786C7233C}"/>
              </a:ext>
            </a:extLst>
          </p:cNvPr>
          <p:cNvSpPr/>
          <p:nvPr/>
        </p:nvSpPr>
        <p:spPr>
          <a:xfrm>
            <a:off x="0" y="0"/>
            <a:ext cx="12191695" cy="109728"/>
          </a:xfrm>
          <a:prstGeom prst="rect">
            <a:avLst/>
          </a:prstGeom>
          <a:solidFill>
            <a:srgbClr val="0A378D"/>
          </a:solidFill>
          <a:ln w="12700">
            <a:solidFill>
              <a:srgbClr val="F2A900">
                <a:alpha val="0"/>
              </a:srgbClr>
            </a:solidFill>
            <a:prstDash val="solid"/>
          </a:ln>
        </p:spPr>
        <p:txBody>
          <a:bodyPr/>
          <a:lstStyle/>
          <a:p>
            <a:endParaRPr lang="en-US"/>
          </a:p>
        </p:txBody>
      </p:sp>
      <p:sp>
        <p:nvSpPr>
          <p:cNvPr id="3" name="Shape 1">
            <a:extLst>
              <a:ext uri="{FF2B5EF4-FFF2-40B4-BE49-F238E27FC236}">
                <a16:creationId xmlns:a16="http://schemas.microsoft.com/office/drawing/2014/main" id="{4F568476-BD1E-CAED-7D02-E77F1303BCB2}"/>
              </a:ext>
            </a:extLst>
          </p:cNvPr>
          <p:cNvSpPr/>
          <p:nvPr/>
        </p:nvSpPr>
        <p:spPr>
          <a:xfrm>
            <a:off x="0" y="6812280"/>
            <a:ext cx="12191695" cy="45720"/>
          </a:xfrm>
          <a:prstGeom prst="rect">
            <a:avLst/>
          </a:prstGeom>
          <a:solidFill>
            <a:srgbClr val="0B1F3A"/>
          </a:solidFill>
          <a:ln w="12700">
            <a:solidFill>
              <a:srgbClr val="0B1F3A">
                <a:alpha val="0"/>
              </a:srgbClr>
            </a:solidFill>
            <a:prstDash val="solid"/>
          </a:ln>
        </p:spPr>
        <p:txBody>
          <a:bodyPr/>
          <a:lstStyle/>
          <a:p>
            <a:endParaRPr lang="en-US"/>
          </a:p>
        </p:txBody>
      </p:sp>
      <p:sp>
        <p:nvSpPr>
          <p:cNvPr id="4" name="Text 2">
            <a:extLst>
              <a:ext uri="{FF2B5EF4-FFF2-40B4-BE49-F238E27FC236}">
                <a16:creationId xmlns:a16="http://schemas.microsoft.com/office/drawing/2014/main" id="{7FCC5EA5-459A-5410-0F45-C2E48772A7A9}"/>
              </a:ext>
            </a:extLst>
          </p:cNvPr>
          <p:cNvSpPr/>
          <p:nvPr/>
        </p:nvSpPr>
        <p:spPr>
          <a:xfrm>
            <a:off x="502920" y="347472"/>
            <a:ext cx="8138160" cy="457200"/>
          </a:xfrm>
          <a:prstGeom prst="rect">
            <a:avLst/>
          </a:prstGeom>
          <a:noFill/>
          <a:ln/>
        </p:spPr>
        <p:txBody>
          <a:bodyPr wrap="square" lIns="0" tIns="0" rIns="0" bIns="0" rtlCol="0" anchor="ctr"/>
          <a:lstStyle/>
          <a:p>
            <a:pPr marL="0" indent="0">
              <a:buNone/>
            </a:pPr>
            <a:r>
              <a:rPr lang="en-US" sz="2700" b="1" dirty="0">
                <a:solidFill>
                  <a:srgbClr val="002060"/>
                </a:solidFill>
                <a:latin typeface="Aptos Display" pitchFamily="34" charset="0"/>
                <a:ea typeface="Aptos Display" pitchFamily="34" charset="-122"/>
                <a:cs typeface="Aptos Display" pitchFamily="34" charset="-120"/>
              </a:rPr>
              <a:t>Positional Flexibility in Modern Basketball</a:t>
            </a:r>
            <a:endParaRPr lang="en-US" sz="2700" dirty="0">
              <a:solidFill>
                <a:srgbClr val="002060"/>
              </a:solidFill>
            </a:endParaRPr>
          </a:p>
        </p:txBody>
      </p:sp>
      <p:sp>
        <p:nvSpPr>
          <p:cNvPr id="5" name="Text 3">
            <a:extLst>
              <a:ext uri="{FF2B5EF4-FFF2-40B4-BE49-F238E27FC236}">
                <a16:creationId xmlns:a16="http://schemas.microsoft.com/office/drawing/2014/main" id="{9F5D943C-C85C-F4E2-6C16-3C597C1DB5E6}"/>
              </a:ext>
            </a:extLst>
          </p:cNvPr>
          <p:cNvSpPr/>
          <p:nvPr/>
        </p:nvSpPr>
        <p:spPr>
          <a:xfrm>
            <a:off x="521208" y="832104"/>
            <a:ext cx="8503920" cy="274320"/>
          </a:xfrm>
          <a:prstGeom prst="rect">
            <a:avLst/>
          </a:prstGeom>
          <a:noFill/>
          <a:ln/>
        </p:spPr>
        <p:txBody>
          <a:bodyPr wrap="square" lIns="0" tIns="0" rIns="0" bIns="0" rtlCol="0" anchor="ctr"/>
          <a:lstStyle/>
          <a:p>
            <a:pPr marL="0" indent="0">
              <a:buNone/>
            </a:pPr>
            <a:r>
              <a:rPr lang="en-US" sz="1250" dirty="0">
                <a:solidFill>
                  <a:srgbClr val="4B5563"/>
                </a:solidFill>
              </a:rPr>
              <a:t>Why player roles are no longer clearly separated</a:t>
            </a:r>
            <a:endParaRPr lang="en-US" sz="1250" dirty="0"/>
          </a:p>
        </p:txBody>
      </p:sp>
      <p:sp>
        <p:nvSpPr>
          <p:cNvPr id="6" name="Text 4">
            <a:extLst>
              <a:ext uri="{FF2B5EF4-FFF2-40B4-BE49-F238E27FC236}">
                <a16:creationId xmlns:a16="http://schemas.microsoft.com/office/drawing/2014/main" id="{A6209FC1-133D-B31B-A4C7-5D52D029572C}"/>
              </a:ext>
            </a:extLst>
          </p:cNvPr>
          <p:cNvSpPr/>
          <p:nvPr/>
        </p:nvSpPr>
        <p:spPr>
          <a:xfrm>
            <a:off x="521208" y="1376172"/>
            <a:ext cx="6369449" cy="651510"/>
          </a:xfrm>
          <a:prstGeom prst="rect">
            <a:avLst/>
          </a:prstGeom>
          <a:noFill/>
          <a:ln/>
        </p:spPr>
        <p:txBody>
          <a:bodyPr wrap="square" lIns="0" tIns="0" rIns="0" bIns="0" rtlCol="0" anchor="ctr"/>
          <a:lstStyle/>
          <a:p>
            <a:pPr marL="0" indent="0">
              <a:buNone/>
            </a:pPr>
            <a:r>
              <a:rPr lang="en-US" sz="2000" b="1" dirty="0">
                <a:solidFill>
                  <a:srgbClr val="002060"/>
                </a:solidFill>
              </a:rPr>
              <a:t>Modern basketball has shifted toward greater positional flexibility.</a:t>
            </a:r>
          </a:p>
        </p:txBody>
      </p:sp>
      <p:sp>
        <p:nvSpPr>
          <p:cNvPr id="9" name="Text 7">
            <a:extLst>
              <a:ext uri="{FF2B5EF4-FFF2-40B4-BE49-F238E27FC236}">
                <a16:creationId xmlns:a16="http://schemas.microsoft.com/office/drawing/2014/main" id="{D2F8B391-4247-02DF-B8C0-9EA54D1F607E}"/>
              </a:ext>
            </a:extLst>
          </p:cNvPr>
          <p:cNvSpPr/>
          <p:nvPr/>
        </p:nvSpPr>
        <p:spPr>
          <a:xfrm>
            <a:off x="502919" y="2027682"/>
            <a:ext cx="7299963" cy="4491990"/>
          </a:xfrm>
          <a:prstGeom prst="rect">
            <a:avLst/>
          </a:prstGeom>
          <a:noFill/>
          <a:ln/>
        </p:spPr>
        <p:txBody>
          <a:bodyPr wrap="square" lIns="762" tIns="762" rIns="762" bIns="762" rtlCol="0" anchor="t">
            <a:noAutofit/>
          </a:bodyPr>
          <a:lstStyle/>
          <a:p>
            <a:endParaRPr lang="en-US" dirty="0"/>
          </a:p>
          <a:p>
            <a:r>
              <a:rPr lang="en-US" dirty="0"/>
              <a:t>Traditionally:</a:t>
            </a:r>
          </a:p>
          <a:p>
            <a:pPr marL="285750" indent="-285750">
              <a:buFont typeface="Arial" panose="020B0604020202020204" pitchFamily="34" charset="0"/>
              <a:buChar char="•"/>
            </a:pPr>
            <a:r>
              <a:rPr lang="en-US" dirty="0"/>
              <a:t>Guards handled ball movement and perimeter shooting </a:t>
            </a:r>
          </a:p>
          <a:p>
            <a:pPr marL="285750" indent="-285750">
              <a:buFont typeface="Arial" panose="020B0604020202020204" pitchFamily="34" charset="0"/>
              <a:buChar char="•"/>
            </a:pPr>
            <a:r>
              <a:rPr lang="en-US" dirty="0"/>
              <a:t>Forwards/Centers focused on rebounding and interior play </a:t>
            </a:r>
          </a:p>
          <a:p>
            <a:endParaRPr lang="en-US" dirty="0"/>
          </a:p>
          <a:p>
            <a:r>
              <a:rPr lang="en-US" dirty="0"/>
              <a:t>Today:</a:t>
            </a:r>
          </a:p>
          <a:p>
            <a:pPr marL="285750" indent="-285750">
              <a:buFont typeface="Arial" panose="020B0604020202020204" pitchFamily="34" charset="0"/>
              <a:buChar char="•"/>
            </a:pPr>
            <a:r>
              <a:rPr lang="en-US" dirty="0"/>
              <a:t>Players often perform multiple roles (e.g., point-forwards, stretch </a:t>
            </a:r>
            <a:r>
              <a:rPr lang="en-US" dirty="0" err="1"/>
              <a:t>bigs</a:t>
            </a:r>
            <a:r>
              <a:rPr lang="en-US" dirty="0"/>
              <a:t>) </a:t>
            </a:r>
          </a:p>
          <a:p>
            <a:pPr marL="285750" indent="-285750">
              <a:buFont typeface="Arial" panose="020B0604020202020204" pitchFamily="34" charset="0"/>
              <a:buChar char="•"/>
            </a:pPr>
            <a:r>
              <a:rPr lang="en-US" dirty="0"/>
              <a:t>Skill sets overlap across positions </a:t>
            </a:r>
          </a:p>
          <a:p>
            <a:endParaRPr lang="en-US" dirty="0"/>
          </a:p>
          <a:p>
            <a:r>
              <a:rPr lang="en-US" dirty="0"/>
              <a:t>As a result:</a:t>
            </a:r>
          </a:p>
          <a:p>
            <a:pPr marL="285750" indent="-285750">
              <a:buFont typeface="Arial" panose="020B0604020202020204" pitchFamily="34" charset="0"/>
              <a:buChar char="•"/>
            </a:pPr>
            <a:r>
              <a:rPr lang="en-US" dirty="0"/>
              <a:t>Statistical profiles between guards and non-guards are less distinct </a:t>
            </a:r>
          </a:p>
          <a:p>
            <a:pPr marL="285750" indent="-285750">
              <a:buFont typeface="Arial" panose="020B0604020202020204" pitchFamily="34" charset="0"/>
              <a:buChar char="•"/>
            </a:pPr>
            <a:r>
              <a:rPr lang="en-US" dirty="0"/>
              <a:t>Clear boundaries between positions are harder to define</a:t>
            </a:r>
          </a:p>
          <a:p>
            <a:pPr marL="285750" indent="-285750">
              <a:buFont typeface="Arial" panose="020B0604020202020204" pitchFamily="34" charset="0"/>
              <a:buChar char="•"/>
            </a:pPr>
            <a:endParaRPr lang="en-US" dirty="0"/>
          </a:p>
          <a:p>
            <a:r>
              <a:rPr lang="en-US" dirty="0"/>
              <a:t>This helps explain why clustering methods showed weak separation and overlapping groups in our results.</a:t>
            </a:r>
          </a:p>
        </p:txBody>
      </p:sp>
      <p:sp>
        <p:nvSpPr>
          <p:cNvPr id="14" name="Text 11">
            <a:extLst>
              <a:ext uri="{FF2B5EF4-FFF2-40B4-BE49-F238E27FC236}">
                <a16:creationId xmlns:a16="http://schemas.microsoft.com/office/drawing/2014/main" id="{9BC10E4B-36B7-78F9-DD9A-CD87BA8780A7}"/>
              </a:ext>
            </a:extLst>
          </p:cNvPr>
          <p:cNvSpPr/>
          <p:nvPr/>
        </p:nvSpPr>
        <p:spPr>
          <a:xfrm>
            <a:off x="11475720" y="6519672"/>
            <a:ext cx="320040" cy="182880"/>
          </a:xfrm>
          <a:prstGeom prst="rect">
            <a:avLst/>
          </a:prstGeom>
          <a:noFill/>
          <a:ln/>
        </p:spPr>
        <p:txBody>
          <a:bodyPr wrap="square" lIns="0" tIns="0" rIns="0" bIns="0" rtlCol="0" anchor="ctr"/>
          <a:lstStyle/>
          <a:p>
            <a:pPr marL="0" indent="0" algn="r">
              <a:buNone/>
            </a:pPr>
            <a:r>
              <a:rPr lang="en-US" sz="800" dirty="0">
                <a:solidFill>
                  <a:srgbClr val="4B5563"/>
                </a:solidFill>
              </a:rPr>
              <a:t>2</a:t>
            </a:r>
            <a:endParaRPr lang="en-US" sz="800" dirty="0"/>
          </a:p>
        </p:txBody>
      </p:sp>
      <p:pic>
        <p:nvPicPr>
          <p:cNvPr id="10" name="Picture 9">
            <a:extLst>
              <a:ext uri="{FF2B5EF4-FFF2-40B4-BE49-F238E27FC236}">
                <a16:creationId xmlns:a16="http://schemas.microsoft.com/office/drawing/2014/main" id="{F6863377-C6AE-4582-F3D8-7151F7456B3E}"/>
              </a:ext>
            </a:extLst>
          </p:cNvPr>
          <p:cNvPicPr>
            <a:picLocks noChangeAspect="1"/>
          </p:cNvPicPr>
          <p:nvPr/>
        </p:nvPicPr>
        <p:blipFill>
          <a:blip r:embed="rId3"/>
          <a:stretch>
            <a:fillRect/>
          </a:stretch>
        </p:blipFill>
        <p:spPr>
          <a:xfrm>
            <a:off x="7802882" y="781812"/>
            <a:ext cx="4291955" cy="6030468"/>
          </a:xfrm>
          <a:prstGeom prst="rect">
            <a:avLst/>
          </a:prstGeom>
        </p:spPr>
      </p:pic>
    </p:spTree>
    <p:extLst>
      <p:ext uri="{BB962C8B-B14F-4D97-AF65-F5344CB8AC3E}">
        <p14:creationId xmlns:p14="http://schemas.microsoft.com/office/powerpoint/2010/main" val="28418974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FF0600">
            <a:alpha val="8604"/>
          </a:srgbClr>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C00000"/>
          </a:solidFill>
          <a:ln w="12700">
            <a:solidFill>
              <a:srgbClr val="F2A900">
                <a:alpha val="0"/>
              </a:srgbClr>
            </a:solidFill>
            <a:prstDash val="solid"/>
          </a:ln>
        </p:spPr>
        <p:txBody>
          <a:bodyPr/>
          <a:lstStyle/>
          <a:p>
            <a:endParaRPr lang="en-US"/>
          </a:p>
        </p:txBody>
      </p:sp>
      <p:sp>
        <p:nvSpPr>
          <p:cNvPr id="3" name="Shape 1"/>
          <p:cNvSpPr/>
          <p:nvPr/>
        </p:nvSpPr>
        <p:spPr>
          <a:xfrm>
            <a:off x="0" y="6812280"/>
            <a:ext cx="12191695" cy="45720"/>
          </a:xfrm>
          <a:prstGeom prst="rect">
            <a:avLst/>
          </a:prstGeom>
          <a:solidFill>
            <a:srgbClr val="0B1F3A"/>
          </a:solidFill>
          <a:ln w="12700">
            <a:solidFill>
              <a:srgbClr val="0B1F3A">
                <a:alpha val="0"/>
              </a:srgbClr>
            </a:solidFill>
            <a:prstDash val="solid"/>
          </a:ln>
        </p:spPr>
        <p:txBody>
          <a:bodyPr/>
          <a:lstStyle/>
          <a:p>
            <a:endParaRPr lang="en-US"/>
          </a:p>
        </p:txBody>
      </p:sp>
      <p:sp>
        <p:nvSpPr>
          <p:cNvPr id="4" name="Text 2"/>
          <p:cNvSpPr/>
          <p:nvPr/>
        </p:nvSpPr>
        <p:spPr>
          <a:xfrm>
            <a:off x="502920" y="347472"/>
            <a:ext cx="8138160" cy="457200"/>
          </a:xfrm>
          <a:prstGeom prst="rect">
            <a:avLst/>
          </a:prstGeom>
          <a:noFill/>
          <a:ln/>
        </p:spPr>
        <p:txBody>
          <a:bodyPr wrap="square" lIns="0" tIns="0" rIns="0" bIns="0" rtlCol="0" anchor="ctr"/>
          <a:lstStyle/>
          <a:p>
            <a:pPr marL="0" indent="0">
              <a:buNone/>
            </a:pPr>
            <a:r>
              <a:rPr lang="en-US" sz="2700" b="1" dirty="0">
                <a:solidFill>
                  <a:srgbClr val="0B1F3A"/>
                </a:solidFill>
                <a:latin typeface="Aptos Display" pitchFamily="34" charset="0"/>
                <a:ea typeface="Aptos Display" pitchFamily="34" charset="-122"/>
                <a:cs typeface="Aptos Display" pitchFamily="34" charset="-120"/>
              </a:rPr>
              <a:t>Final model on the full dataset</a:t>
            </a:r>
            <a:endParaRPr lang="en-US" sz="2700" dirty="0"/>
          </a:p>
        </p:txBody>
      </p:sp>
      <p:sp>
        <p:nvSpPr>
          <p:cNvPr id="5" name="Text 3"/>
          <p:cNvSpPr/>
          <p:nvPr/>
        </p:nvSpPr>
        <p:spPr>
          <a:xfrm>
            <a:off x="521208" y="832104"/>
            <a:ext cx="8503920" cy="274320"/>
          </a:xfrm>
          <a:prstGeom prst="rect">
            <a:avLst/>
          </a:prstGeom>
          <a:noFill/>
          <a:ln/>
        </p:spPr>
        <p:txBody>
          <a:bodyPr wrap="square" lIns="0" tIns="0" rIns="0" bIns="0" rtlCol="0" anchor="ctr"/>
          <a:lstStyle/>
          <a:p>
            <a:pPr marL="0" indent="0">
              <a:buNone/>
            </a:pPr>
            <a:r>
              <a:rPr lang="en-US" sz="1250" dirty="0">
                <a:solidFill>
                  <a:srgbClr val="4B5563"/>
                </a:solidFill>
              </a:rPr>
              <a:t>SVM was selected as the best supervised model</a:t>
            </a:r>
            <a:endParaRPr lang="en-US" sz="1250" dirty="0"/>
          </a:p>
        </p:txBody>
      </p:sp>
      <p:sp>
        <p:nvSpPr>
          <p:cNvPr id="6" name="Text 4"/>
          <p:cNvSpPr/>
          <p:nvPr/>
        </p:nvSpPr>
        <p:spPr>
          <a:xfrm>
            <a:off x="822960" y="1371600"/>
            <a:ext cx="2194560" cy="438912"/>
          </a:xfrm>
          <a:prstGeom prst="rect">
            <a:avLst/>
          </a:prstGeom>
          <a:noFill/>
          <a:ln/>
        </p:spPr>
        <p:txBody>
          <a:bodyPr wrap="square" lIns="0" tIns="0" rIns="0" bIns="0" rtlCol="0" anchor="ctr"/>
          <a:lstStyle/>
          <a:p>
            <a:pPr marL="0" indent="0" algn="ctr">
              <a:buNone/>
            </a:pPr>
            <a:r>
              <a:rPr lang="en-US" sz="2600" b="1" dirty="0">
                <a:solidFill>
                  <a:srgbClr val="0B1F3A"/>
                </a:solidFill>
              </a:rPr>
              <a:t>382</a:t>
            </a:r>
            <a:endParaRPr lang="en-US" sz="2600" dirty="0"/>
          </a:p>
        </p:txBody>
      </p:sp>
      <p:sp>
        <p:nvSpPr>
          <p:cNvPr id="7" name="Text 5"/>
          <p:cNvSpPr/>
          <p:nvPr/>
        </p:nvSpPr>
        <p:spPr>
          <a:xfrm>
            <a:off x="822960" y="1865376"/>
            <a:ext cx="2194560" cy="320040"/>
          </a:xfrm>
          <a:prstGeom prst="rect">
            <a:avLst/>
          </a:prstGeom>
          <a:noFill/>
          <a:ln/>
        </p:spPr>
        <p:txBody>
          <a:bodyPr wrap="square" lIns="0" tIns="0" rIns="0" bIns="0" rtlCol="0" anchor="ctr"/>
          <a:lstStyle/>
          <a:p>
            <a:pPr marL="0" indent="0" algn="ctr">
              <a:buNone/>
            </a:pPr>
            <a:r>
              <a:rPr lang="en-US" sz="1050" dirty="0">
                <a:solidFill>
                  <a:srgbClr val="4B5563"/>
                </a:solidFill>
              </a:rPr>
              <a:t>support vectors</a:t>
            </a:r>
            <a:endParaRPr lang="en-US" sz="1050" dirty="0"/>
          </a:p>
        </p:txBody>
      </p:sp>
      <p:sp>
        <p:nvSpPr>
          <p:cNvPr id="8" name="Text 6"/>
          <p:cNvSpPr/>
          <p:nvPr/>
        </p:nvSpPr>
        <p:spPr>
          <a:xfrm>
            <a:off x="3474720" y="1371600"/>
            <a:ext cx="2743200" cy="438912"/>
          </a:xfrm>
          <a:prstGeom prst="rect">
            <a:avLst/>
          </a:prstGeom>
          <a:noFill/>
          <a:ln/>
        </p:spPr>
        <p:txBody>
          <a:bodyPr wrap="square" lIns="0" tIns="0" rIns="0" bIns="0" rtlCol="0" anchor="ctr"/>
          <a:lstStyle/>
          <a:p>
            <a:pPr marL="0" indent="0" algn="ctr">
              <a:buNone/>
            </a:pPr>
            <a:r>
              <a:rPr lang="en-US" sz="2600" b="1" dirty="0">
                <a:solidFill>
                  <a:srgbClr val="0B1F3A"/>
                </a:solidFill>
              </a:rPr>
              <a:t>209 / 173</a:t>
            </a:r>
            <a:endParaRPr lang="en-US" sz="2600" dirty="0"/>
          </a:p>
        </p:txBody>
      </p:sp>
      <p:sp>
        <p:nvSpPr>
          <p:cNvPr id="9" name="Text 7"/>
          <p:cNvSpPr/>
          <p:nvPr/>
        </p:nvSpPr>
        <p:spPr>
          <a:xfrm>
            <a:off x="3474720" y="1865376"/>
            <a:ext cx="2743200" cy="320040"/>
          </a:xfrm>
          <a:prstGeom prst="rect">
            <a:avLst/>
          </a:prstGeom>
          <a:noFill/>
          <a:ln/>
        </p:spPr>
        <p:txBody>
          <a:bodyPr wrap="square" lIns="0" tIns="0" rIns="0" bIns="0" rtlCol="0" anchor="ctr"/>
          <a:lstStyle/>
          <a:p>
            <a:pPr marL="0" indent="0" algn="ctr">
              <a:buNone/>
            </a:pPr>
            <a:r>
              <a:rPr lang="en-US" sz="1050" dirty="0">
                <a:solidFill>
                  <a:srgbClr val="4B5563"/>
                </a:solidFill>
              </a:rPr>
              <a:t>Guard / NonGuard support vectors</a:t>
            </a:r>
            <a:endParaRPr lang="en-US" sz="1050" dirty="0"/>
          </a:p>
        </p:txBody>
      </p:sp>
      <p:sp>
        <p:nvSpPr>
          <p:cNvPr id="10" name="Text 8"/>
          <p:cNvSpPr/>
          <p:nvPr/>
        </p:nvSpPr>
        <p:spPr>
          <a:xfrm>
            <a:off x="6720840" y="1371600"/>
            <a:ext cx="2377440" cy="438912"/>
          </a:xfrm>
          <a:prstGeom prst="rect">
            <a:avLst/>
          </a:prstGeom>
          <a:noFill/>
          <a:ln/>
        </p:spPr>
        <p:txBody>
          <a:bodyPr wrap="square" lIns="0" tIns="0" rIns="0" bIns="0" rtlCol="0" anchor="ctr"/>
          <a:lstStyle/>
          <a:p>
            <a:pPr marL="0" indent="0" algn="ctr">
              <a:buNone/>
            </a:pPr>
            <a:r>
              <a:rPr lang="en-US" sz="2600" b="1" dirty="0">
                <a:solidFill>
                  <a:srgbClr val="C53030"/>
                </a:solidFill>
              </a:rPr>
              <a:t>100%</a:t>
            </a:r>
            <a:endParaRPr lang="en-US" sz="2600" dirty="0"/>
          </a:p>
        </p:txBody>
      </p:sp>
      <p:sp>
        <p:nvSpPr>
          <p:cNvPr id="11" name="Text 9"/>
          <p:cNvSpPr/>
          <p:nvPr/>
        </p:nvSpPr>
        <p:spPr>
          <a:xfrm>
            <a:off x="6720840" y="1865376"/>
            <a:ext cx="2377440" cy="320040"/>
          </a:xfrm>
          <a:prstGeom prst="rect">
            <a:avLst/>
          </a:prstGeom>
          <a:noFill/>
          <a:ln/>
        </p:spPr>
        <p:txBody>
          <a:bodyPr wrap="square" lIns="0" tIns="0" rIns="0" bIns="0" rtlCol="0" anchor="ctr"/>
          <a:lstStyle/>
          <a:p>
            <a:pPr marL="0" indent="0" algn="ctr">
              <a:buNone/>
            </a:pPr>
            <a:r>
              <a:rPr lang="en-US" sz="1050" dirty="0">
                <a:solidFill>
                  <a:srgbClr val="4B5563"/>
                </a:solidFill>
              </a:rPr>
              <a:t>full-data accuracy</a:t>
            </a:r>
            <a:endParaRPr lang="en-US" sz="1050" dirty="0"/>
          </a:p>
        </p:txBody>
      </p:sp>
      <p:sp>
        <p:nvSpPr>
          <p:cNvPr id="12" name="Shape 10"/>
          <p:cNvSpPr/>
          <p:nvPr/>
        </p:nvSpPr>
        <p:spPr>
          <a:xfrm>
            <a:off x="868680" y="3063240"/>
            <a:ext cx="10469880" cy="1828800"/>
          </a:xfrm>
          <a:prstGeom prst="roundRect">
            <a:avLst>
              <a:gd name="adj" fmla="val 4000"/>
            </a:avLst>
          </a:prstGeom>
          <a:solidFill>
            <a:srgbClr val="FFF6F6"/>
          </a:solidFill>
          <a:ln w="10160">
            <a:solidFill>
              <a:srgbClr val="F1C8C8">
                <a:alpha val="80000"/>
              </a:srgbClr>
            </a:solidFill>
            <a:prstDash val="solid"/>
          </a:ln>
        </p:spPr>
        <p:txBody>
          <a:bodyPr/>
          <a:lstStyle/>
          <a:p>
            <a:endParaRPr lang="en-US"/>
          </a:p>
        </p:txBody>
      </p:sp>
      <p:sp>
        <p:nvSpPr>
          <p:cNvPr id="13" name="Text 11"/>
          <p:cNvSpPr/>
          <p:nvPr/>
        </p:nvSpPr>
        <p:spPr>
          <a:xfrm>
            <a:off x="1143000" y="3383280"/>
            <a:ext cx="2926080" cy="292608"/>
          </a:xfrm>
          <a:prstGeom prst="rect">
            <a:avLst/>
          </a:prstGeom>
          <a:noFill/>
          <a:ln/>
        </p:spPr>
        <p:txBody>
          <a:bodyPr wrap="square" lIns="0" tIns="0" rIns="0" bIns="0" rtlCol="0" anchor="ctr"/>
          <a:lstStyle/>
          <a:p>
            <a:pPr marL="0" indent="0">
              <a:buNone/>
            </a:pPr>
            <a:r>
              <a:rPr lang="en-US" sz="2200" b="1" dirty="0">
                <a:solidFill>
                  <a:srgbClr val="C53030"/>
                </a:solidFill>
              </a:rPr>
              <a:t>Important caution</a:t>
            </a:r>
            <a:endParaRPr lang="en-US" sz="2200" dirty="0"/>
          </a:p>
        </p:txBody>
      </p:sp>
      <p:sp>
        <p:nvSpPr>
          <p:cNvPr id="14" name="Text 12"/>
          <p:cNvSpPr/>
          <p:nvPr/>
        </p:nvSpPr>
        <p:spPr>
          <a:xfrm>
            <a:off x="1143000" y="3886200"/>
            <a:ext cx="9464040" cy="548640"/>
          </a:xfrm>
          <a:prstGeom prst="rect">
            <a:avLst/>
          </a:prstGeom>
          <a:noFill/>
          <a:ln/>
        </p:spPr>
        <p:txBody>
          <a:bodyPr wrap="square" lIns="0" tIns="0" rIns="0" bIns="0" rtlCol="0" anchor="ctr">
            <a:normAutofit/>
          </a:bodyPr>
          <a:lstStyle/>
          <a:p>
            <a:pPr marL="0" indent="0">
              <a:buNone/>
            </a:pPr>
            <a:r>
              <a:rPr lang="en-US" sz="1600" dirty="0">
                <a:solidFill>
                  <a:srgbClr val="0B1F3A"/>
                </a:solidFill>
              </a:rPr>
              <a:t>The 100% full-data accuracy is not the true predictive estimate because the model is evaluated on the same data it was trained on. The realistic performance estimate is the test accuracy: 89.92%.</a:t>
            </a:r>
            <a:endParaRPr lang="en-US" sz="1600" dirty="0"/>
          </a:p>
        </p:txBody>
      </p:sp>
      <p:sp>
        <p:nvSpPr>
          <p:cNvPr id="16" name="Text 13"/>
          <p:cNvSpPr/>
          <p:nvPr/>
        </p:nvSpPr>
        <p:spPr>
          <a:xfrm>
            <a:off x="11475720" y="6519672"/>
            <a:ext cx="320040" cy="182880"/>
          </a:xfrm>
          <a:prstGeom prst="rect">
            <a:avLst/>
          </a:prstGeom>
          <a:noFill/>
          <a:ln/>
        </p:spPr>
        <p:txBody>
          <a:bodyPr wrap="square" lIns="0" tIns="0" rIns="0" bIns="0" rtlCol="0" anchor="ctr"/>
          <a:lstStyle/>
          <a:p>
            <a:pPr marL="0" indent="0" algn="r">
              <a:buNone/>
            </a:pPr>
            <a:r>
              <a:rPr lang="en-US" sz="800" dirty="0">
                <a:solidFill>
                  <a:srgbClr val="4B5563"/>
                </a:solidFill>
              </a:rPr>
              <a:t>13</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chemeClr val="tx2">
            <a:lumMod val="40000"/>
            <a:lumOff val="60000"/>
            <a:alpha val="60222"/>
          </a:schemeClr>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chemeClr val="accent1"/>
          </a:solidFill>
          <a:ln w="12700">
            <a:solidFill>
              <a:srgbClr val="F2A900">
                <a:alpha val="0"/>
              </a:srgbClr>
            </a:solidFill>
            <a:prstDash val="solid"/>
          </a:ln>
        </p:spPr>
        <p:txBody>
          <a:bodyPr/>
          <a:lstStyle/>
          <a:p>
            <a:endParaRPr lang="en-US"/>
          </a:p>
        </p:txBody>
      </p:sp>
      <p:sp>
        <p:nvSpPr>
          <p:cNvPr id="3" name="Shape 1"/>
          <p:cNvSpPr/>
          <p:nvPr/>
        </p:nvSpPr>
        <p:spPr>
          <a:xfrm>
            <a:off x="0" y="6812280"/>
            <a:ext cx="12191695" cy="45720"/>
          </a:xfrm>
          <a:prstGeom prst="rect">
            <a:avLst/>
          </a:prstGeom>
          <a:solidFill>
            <a:srgbClr val="0B1F3A"/>
          </a:solidFill>
          <a:ln w="12700">
            <a:solidFill>
              <a:srgbClr val="0B1F3A">
                <a:alpha val="0"/>
              </a:srgbClr>
            </a:solidFill>
            <a:prstDash val="solid"/>
          </a:ln>
        </p:spPr>
        <p:txBody>
          <a:bodyPr/>
          <a:lstStyle/>
          <a:p>
            <a:endParaRPr lang="en-US"/>
          </a:p>
        </p:txBody>
      </p:sp>
      <p:sp>
        <p:nvSpPr>
          <p:cNvPr id="4" name="Text 2"/>
          <p:cNvSpPr/>
          <p:nvPr/>
        </p:nvSpPr>
        <p:spPr>
          <a:xfrm>
            <a:off x="502920" y="347472"/>
            <a:ext cx="8138160" cy="457200"/>
          </a:xfrm>
          <a:prstGeom prst="rect">
            <a:avLst/>
          </a:prstGeom>
          <a:noFill/>
          <a:ln/>
        </p:spPr>
        <p:txBody>
          <a:bodyPr wrap="square" lIns="0" tIns="0" rIns="0" bIns="0" rtlCol="0" anchor="ctr"/>
          <a:lstStyle/>
          <a:p>
            <a:pPr marL="0" indent="0">
              <a:buNone/>
            </a:pPr>
            <a:r>
              <a:rPr lang="en-US" sz="2700" b="1" dirty="0">
                <a:solidFill>
                  <a:srgbClr val="0B1F3A"/>
                </a:solidFill>
                <a:latin typeface="Aptos Display" pitchFamily="34" charset="0"/>
                <a:ea typeface="Aptos Display" pitchFamily="34" charset="-122"/>
                <a:cs typeface="Aptos Display" pitchFamily="34" charset="-120"/>
              </a:rPr>
              <a:t>Limitations and difficulties</a:t>
            </a:r>
            <a:endParaRPr lang="en-US" sz="2700" dirty="0"/>
          </a:p>
        </p:txBody>
      </p:sp>
      <p:sp>
        <p:nvSpPr>
          <p:cNvPr id="5" name="Text 3"/>
          <p:cNvSpPr/>
          <p:nvPr/>
        </p:nvSpPr>
        <p:spPr>
          <a:xfrm>
            <a:off x="521208" y="832104"/>
            <a:ext cx="8503920" cy="274320"/>
          </a:xfrm>
          <a:prstGeom prst="rect">
            <a:avLst/>
          </a:prstGeom>
          <a:noFill/>
          <a:ln/>
        </p:spPr>
        <p:txBody>
          <a:bodyPr wrap="square" lIns="0" tIns="0" rIns="0" bIns="0" rtlCol="0" anchor="ctr"/>
          <a:lstStyle/>
          <a:p>
            <a:pPr marL="0" indent="0">
              <a:buNone/>
            </a:pPr>
            <a:r>
              <a:rPr lang="en-US" sz="1250" dirty="0">
                <a:solidFill>
                  <a:srgbClr val="4B5563"/>
                </a:solidFill>
              </a:rPr>
              <a:t>What made the analysis challenging</a:t>
            </a:r>
            <a:endParaRPr lang="en-US" sz="1250" dirty="0"/>
          </a:p>
        </p:txBody>
      </p:sp>
      <p:sp>
        <p:nvSpPr>
          <p:cNvPr id="6" name="Text 4"/>
          <p:cNvSpPr/>
          <p:nvPr/>
        </p:nvSpPr>
        <p:spPr>
          <a:xfrm>
            <a:off x="868680" y="1325880"/>
            <a:ext cx="5760720" cy="3840480"/>
          </a:xfrm>
          <a:prstGeom prst="rect">
            <a:avLst/>
          </a:prstGeom>
          <a:noFill/>
          <a:ln/>
        </p:spPr>
        <p:txBody>
          <a:bodyPr wrap="square" lIns="762" tIns="762" rIns="762" bIns="762" rtlCol="0" anchor="t">
            <a:normAutofit/>
          </a:bodyPr>
          <a:lstStyle/>
          <a:p>
            <a:pPr marL="285750" indent="-285750">
              <a:buFont typeface="Arial" panose="020B0604020202020204" pitchFamily="34" charset="0"/>
              <a:buChar char="•"/>
            </a:pPr>
            <a:r>
              <a:rPr lang="en-US" sz="1800" dirty="0">
                <a:solidFill>
                  <a:srgbClr val="0B1F3A"/>
                </a:solidFill>
              </a:rPr>
              <a:t>Hybrid positions such as G-F and F-G blur class boundaries.</a:t>
            </a:r>
            <a:endParaRPr lang="en-US" dirty="0"/>
          </a:p>
          <a:p>
            <a:pPr marL="285750" indent="-285750">
              <a:buFont typeface="Arial" panose="020B0604020202020204" pitchFamily="34" charset="0"/>
              <a:buChar char="•"/>
            </a:pPr>
            <a:r>
              <a:rPr lang="en-US" sz="1800" dirty="0">
                <a:solidFill>
                  <a:srgbClr val="0B1F3A"/>
                </a:solidFill>
              </a:rPr>
              <a:t>Correlated efficiency variables such as TS% and eFG% may add redundancy.</a:t>
            </a:r>
            <a:endParaRPr lang="en-US" dirty="0"/>
          </a:p>
          <a:p>
            <a:pPr marL="285750" indent="-285750">
              <a:buFont typeface="Arial" panose="020B0604020202020204" pitchFamily="34" charset="0"/>
              <a:buChar char="•"/>
            </a:pPr>
            <a:r>
              <a:rPr lang="en-US" sz="1800" dirty="0">
                <a:solidFill>
                  <a:srgbClr val="0B1F3A"/>
                </a:solidFill>
              </a:rPr>
              <a:t>Clustering had low silhouette scores, meaning natural separation was weak.</a:t>
            </a:r>
            <a:endParaRPr lang="en-US" dirty="0"/>
          </a:p>
          <a:p>
            <a:pPr marL="285750" indent="-285750">
              <a:buFont typeface="Arial" panose="020B0604020202020204" pitchFamily="34" charset="0"/>
              <a:buChar char="•"/>
            </a:pPr>
            <a:r>
              <a:rPr lang="en-US" sz="1800" dirty="0">
                <a:solidFill>
                  <a:srgbClr val="0B1F3A"/>
                </a:solidFill>
              </a:rPr>
              <a:t>The data captures statistical profile, but not context such as team role or defensive assignments.</a:t>
            </a:r>
            <a:endParaRPr lang="en-US" sz="1800" dirty="0"/>
          </a:p>
        </p:txBody>
      </p:sp>
      <p:sp>
        <p:nvSpPr>
          <p:cNvPr id="7" name="Shape 5"/>
          <p:cNvSpPr/>
          <p:nvPr/>
        </p:nvSpPr>
        <p:spPr>
          <a:xfrm>
            <a:off x="521208" y="4323806"/>
            <a:ext cx="5760720" cy="1793530"/>
          </a:xfrm>
          <a:prstGeom prst="roundRect">
            <a:avLst>
              <a:gd name="adj" fmla="val 2051"/>
            </a:avLst>
          </a:prstGeom>
          <a:solidFill>
            <a:schemeClr val="accent1">
              <a:lumMod val="20000"/>
              <a:lumOff val="80000"/>
              <a:alpha val="78894"/>
            </a:schemeClr>
          </a:solidFill>
          <a:ln w="10160">
            <a:solidFill>
              <a:srgbClr val="D1D5DB">
                <a:alpha val="80000"/>
              </a:srgbClr>
            </a:solidFill>
            <a:prstDash val="solid"/>
          </a:ln>
        </p:spPr>
        <p:txBody>
          <a:bodyPr/>
          <a:lstStyle/>
          <a:p>
            <a:endParaRPr lang="en-US"/>
          </a:p>
        </p:txBody>
      </p:sp>
      <p:sp>
        <p:nvSpPr>
          <p:cNvPr id="8" name="Text 6"/>
          <p:cNvSpPr/>
          <p:nvPr/>
        </p:nvSpPr>
        <p:spPr>
          <a:xfrm>
            <a:off x="868680" y="4754880"/>
            <a:ext cx="4608576" cy="171509"/>
          </a:xfrm>
          <a:prstGeom prst="rect">
            <a:avLst/>
          </a:prstGeom>
          <a:noFill/>
          <a:ln/>
        </p:spPr>
        <p:txBody>
          <a:bodyPr wrap="square" lIns="0" tIns="0" rIns="0" bIns="0" rtlCol="0" anchor="ctr"/>
          <a:lstStyle/>
          <a:p>
            <a:pPr marL="0" indent="0" algn="ctr">
              <a:buNone/>
            </a:pPr>
            <a:r>
              <a:rPr lang="en-US" sz="2200" b="1" dirty="0">
                <a:solidFill>
                  <a:srgbClr val="0B1F3A"/>
                </a:solidFill>
              </a:rPr>
              <a:t>Key Insight</a:t>
            </a:r>
            <a:endParaRPr lang="en-US" sz="2200" dirty="0"/>
          </a:p>
        </p:txBody>
      </p:sp>
      <p:sp>
        <p:nvSpPr>
          <p:cNvPr id="9" name="Text 7"/>
          <p:cNvSpPr/>
          <p:nvPr/>
        </p:nvSpPr>
        <p:spPr>
          <a:xfrm>
            <a:off x="932688" y="5212080"/>
            <a:ext cx="4464558" cy="735037"/>
          </a:xfrm>
          <a:prstGeom prst="rect">
            <a:avLst/>
          </a:prstGeom>
          <a:noFill/>
          <a:ln/>
        </p:spPr>
        <p:txBody>
          <a:bodyPr wrap="square" lIns="635" tIns="635" rIns="635" bIns="635" rtlCol="0" anchor="ctr">
            <a:normAutofit fontScale="92500"/>
          </a:bodyPr>
          <a:lstStyle/>
          <a:p>
            <a:pPr marL="0" indent="0" algn="ctr">
              <a:buNone/>
            </a:pPr>
            <a:r>
              <a:rPr lang="en-US" sz="2000" dirty="0"/>
              <a:t>Position labels are predictable, but player roles are more continuous than discrete.</a:t>
            </a:r>
          </a:p>
        </p:txBody>
      </p:sp>
      <p:sp>
        <p:nvSpPr>
          <p:cNvPr id="11" name="Text 8"/>
          <p:cNvSpPr/>
          <p:nvPr/>
        </p:nvSpPr>
        <p:spPr>
          <a:xfrm>
            <a:off x="11475720" y="6519672"/>
            <a:ext cx="320040" cy="182880"/>
          </a:xfrm>
          <a:prstGeom prst="rect">
            <a:avLst/>
          </a:prstGeom>
          <a:noFill/>
          <a:ln/>
        </p:spPr>
        <p:txBody>
          <a:bodyPr wrap="square" lIns="0" tIns="0" rIns="0" bIns="0" rtlCol="0" anchor="ctr"/>
          <a:lstStyle/>
          <a:p>
            <a:pPr marL="0" indent="0" algn="r">
              <a:buNone/>
            </a:pPr>
            <a:r>
              <a:rPr lang="en-US" sz="800" dirty="0">
                <a:solidFill>
                  <a:srgbClr val="4B5563"/>
                </a:solidFill>
              </a:rPr>
              <a:t>14</a:t>
            </a:r>
            <a:endParaRPr lang="en-US" sz="800" dirty="0"/>
          </a:p>
        </p:txBody>
      </p:sp>
      <p:pic>
        <p:nvPicPr>
          <p:cNvPr id="10" name="Picture 9" descr="Air Ball Steph Curry Meme | TikTok">
            <a:extLst>
              <a:ext uri="{FF2B5EF4-FFF2-40B4-BE49-F238E27FC236}">
                <a16:creationId xmlns:a16="http://schemas.microsoft.com/office/drawing/2014/main" id="{5DAF2EF9-9032-82CE-FE0A-C10C766F2B67}"/>
              </a:ext>
            </a:extLst>
          </p:cNvPr>
          <p:cNvPicPr>
            <a:picLocks noChangeAspect="1"/>
          </p:cNvPicPr>
          <p:nvPr/>
        </p:nvPicPr>
        <p:blipFill>
          <a:blip r:embed="rId3"/>
          <a:stretch>
            <a:fillRect/>
          </a:stretch>
        </p:blipFill>
        <p:spPr>
          <a:xfrm>
            <a:off x="7040880" y="1264979"/>
            <a:ext cx="4852357" cy="485235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02060"/>
          </a:solidFill>
          <a:ln w="12700">
            <a:solidFill>
              <a:srgbClr val="F2A900">
                <a:alpha val="0"/>
              </a:srgbClr>
            </a:solidFill>
            <a:prstDash val="solid"/>
          </a:ln>
        </p:spPr>
        <p:txBody>
          <a:bodyPr/>
          <a:lstStyle/>
          <a:p>
            <a:endParaRPr lang="en-US"/>
          </a:p>
        </p:txBody>
      </p:sp>
      <p:sp>
        <p:nvSpPr>
          <p:cNvPr id="3" name="Shape 1"/>
          <p:cNvSpPr/>
          <p:nvPr/>
        </p:nvSpPr>
        <p:spPr>
          <a:xfrm>
            <a:off x="0" y="6812280"/>
            <a:ext cx="12191695" cy="45720"/>
          </a:xfrm>
          <a:prstGeom prst="rect">
            <a:avLst/>
          </a:prstGeom>
          <a:solidFill>
            <a:srgbClr val="0B1F3A"/>
          </a:solidFill>
          <a:ln w="12700">
            <a:solidFill>
              <a:srgbClr val="0B1F3A">
                <a:alpha val="0"/>
              </a:srgbClr>
            </a:solidFill>
            <a:prstDash val="solid"/>
          </a:ln>
        </p:spPr>
        <p:txBody>
          <a:bodyPr/>
          <a:lstStyle/>
          <a:p>
            <a:endParaRPr lang="en-US"/>
          </a:p>
        </p:txBody>
      </p:sp>
      <p:sp>
        <p:nvSpPr>
          <p:cNvPr id="4" name="Text 2"/>
          <p:cNvSpPr/>
          <p:nvPr/>
        </p:nvSpPr>
        <p:spPr>
          <a:xfrm>
            <a:off x="502920" y="347472"/>
            <a:ext cx="8138160" cy="457200"/>
          </a:xfrm>
          <a:prstGeom prst="rect">
            <a:avLst/>
          </a:prstGeom>
          <a:noFill/>
          <a:ln/>
        </p:spPr>
        <p:txBody>
          <a:bodyPr wrap="square" lIns="0" tIns="0" rIns="0" bIns="0" rtlCol="0" anchor="ctr"/>
          <a:lstStyle/>
          <a:p>
            <a:pPr marL="0" indent="0">
              <a:buNone/>
            </a:pPr>
            <a:r>
              <a:rPr lang="en-US" sz="2700" b="1" dirty="0">
                <a:solidFill>
                  <a:srgbClr val="0B1F3A"/>
                </a:solidFill>
                <a:latin typeface="Aptos Display" pitchFamily="34" charset="0"/>
                <a:ea typeface="Aptos Display" pitchFamily="34" charset="-122"/>
                <a:cs typeface="Aptos Display" pitchFamily="34" charset="-120"/>
              </a:rPr>
              <a:t>Possible improvements</a:t>
            </a:r>
            <a:endParaRPr lang="en-US" sz="2700" dirty="0"/>
          </a:p>
        </p:txBody>
      </p:sp>
      <p:sp>
        <p:nvSpPr>
          <p:cNvPr id="5" name="Text 3"/>
          <p:cNvSpPr/>
          <p:nvPr/>
        </p:nvSpPr>
        <p:spPr>
          <a:xfrm>
            <a:off x="521208" y="832104"/>
            <a:ext cx="8503920" cy="274320"/>
          </a:xfrm>
          <a:prstGeom prst="rect">
            <a:avLst/>
          </a:prstGeom>
          <a:noFill/>
          <a:ln/>
        </p:spPr>
        <p:txBody>
          <a:bodyPr wrap="square" lIns="0" tIns="0" rIns="0" bIns="0" rtlCol="0" anchor="ctr"/>
          <a:lstStyle/>
          <a:p>
            <a:pPr marL="0" indent="0">
              <a:buNone/>
            </a:pPr>
            <a:r>
              <a:rPr lang="en-US" sz="1250" dirty="0">
                <a:solidFill>
                  <a:srgbClr val="4B5563"/>
                </a:solidFill>
              </a:rPr>
              <a:t>How the analysis could be extended</a:t>
            </a:r>
            <a:endParaRPr lang="en-US" sz="1250" dirty="0"/>
          </a:p>
        </p:txBody>
      </p:sp>
      <p:sp>
        <p:nvSpPr>
          <p:cNvPr id="17" name="Text 14"/>
          <p:cNvSpPr/>
          <p:nvPr/>
        </p:nvSpPr>
        <p:spPr>
          <a:xfrm>
            <a:off x="11475720" y="6519672"/>
            <a:ext cx="320040" cy="182880"/>
          </a:xfrm>
          <a:prstGeom prst="rect">
            <a:avLst/>
          </a:prstGeom>
          <a:noFill/>
          <a:ln/>
        </p:spPr>
        <p:txBody>
          <a:bodyPr wrap="square" lIns="0" tIns="0" rIns="0" bIns="0" rtlCol="0" anchor="ctr"/>
          <a:lstStyle/>
          <a:p>
            <a:pPr marL="0" indent="0" algn="r">
              <a:buNone/>
            </a:pPr>
            <a:r>
              <a:rPr lang="en-US" sz="800" dirty="0">
                <a:solidFill>
                  <a:srgbClr val="4B5563"/>
                </a:solidFill>
              </a:rPr>
              <a:t>15</a:t>
            </a:r>
            <a:endParaRPr lang="en-US" sz="800" dirty="0"/>
          </a:p>
        </p:txBody>
      </p:sp>
      <p:sp>
        <p:nvSpPr>
          <p:cNvPr id="20" name="TextBox 19">
            <a:extLst>
              <a:ext uri="{FF2B5EF4-FFF2-40B4-BE49-F238E27FC236}">
                <a16:creationId xmlns:a16="http://schemas.microsoft.com/office/drawing/2014/main" id="{27787ED3-08D8-2842-5EB5-FB5D41EFCA3F}"/>
              </a:ext>
            </a:extLst>
          </p:cNvPr>
          <p:cNvSpPr txBox="1"/>
          <p:nvPr/>
        </p:nvSpPr>
        <p:spPr>
          <a:xfrm>
            <a:off x="502920" y="1291269"/>
            <a:ext cx="6493304" cy="4801314"/>
          </a:xfrm>
          <a:prstGeom prst="rect">
            <a:avLst/>
          </a:prstGeom>
          <a:noFill/>
        </p:spPr>
        <p:txBody>
          <a:bodyPr wrap="square">
            <a:spAutoFit/>
          </a:bodyPr>
          <a:lstStyle/>
          <a:p>
            <a:r>
              <a:rPr lang="en-US" dirty="0"/>
              <a:t>Several improvements could strengthen both predictive performance and interpretability:</a:t>
            </a:r>
          </a:p>
          <a:p>
            <a:endParaRPr lang="en-US" dirty="0"/>
          </a:p>
          <a:p>
            <a:pPr marL="285750" indent="-285750">
              <a:buFont typeface="Arial" panose="020B0604020202020204" pitchFamily="34" charset="0"/>
              <a:buChar char="•"/>
            </a:pPr>
            <a:r>
              <a:rPr lang="en-US" dirty="0"/>
              <a:t>Feature Engineering</a:t>
            </a:r>
          </a:p>
          <a:p>
            <a:pPr marL="742950" lvl="1" indent="-285750">
              <a:buFont typeface="Arial" panose="020B0604020202020204" pitchFamily="34" charset="0"/>
              <a:buChar char="•"/>
            </a:pPr>
            <a:r>
              <a:rPr lang="en-US" dirty="0"/>
              <a:t>Apply feature selection or PCA to reduce redundancy (e.g., TS% vs </a:t>
            </a:r>
            <a:r>
              <a:rPr lang="en-US" dirty="0" err="1"/>
              <a:t>eFG</a:t>
            </a:r>
            <a:r>
              <a:rPr lang="en-US" dirty="0"/>
              <a:t>%) </a:t>
            </a:r>
          </a:p>
          <a:p>
            <a:pPr marL="742950" lvl="1" indent="-285750">
              <a:buFont typeface="Arial" panose="020B0604020202020204" pitchFamily="34" charset="0"/>
              <a:buChar char="•"/>
            </a:pPr>
            <a:r>
              <a:rPr lang="en-US" dirty="0"/>
              <a:t>Improve model interpretability and reduce noise </a:t>
            </a:r>
          </a:p>
          <a:p>
            <a:pPr marL="285750" indent="-285750">
              <a:buFont typeface="Arial" panose="020B0604020202020204" pitchFamily="34" charset="0"/>
              <a:buChar char="•"/>
            </a:pPr>
            <a:r>
              <a:rPr lang="en-US" dirty="0"/>
              <a:t>Add More Context</a:t>
            </a:r>
          </a:p>
          <a:p>
            <a:pPr marL="742950" lvl="1" indent="-285750">
              <a:buFont typeface="Arial" panose="020B0604020202020204" pitchFamily="34" charset="0"/>
              <a:buChar char="•"/>
            </a:pPr>
            <a:r>
              <a:rPr lang="en-US" dirty="0"/>
              <a:t>Include role-based variables (usage rate, lineup role) </a:t>
            </a:r>
          </a:p>
          <a:p>
            <a:pPr marL="742950" lvl="1" indent="-285750">
              <a:buFont typeface="Arial" panose="020B0604020202020204" pitchFamily="34" charset="0"/>
              <a:buChar char="•"/>
            </a:pPr>
            <a:r>
              <a:rPr lang="en-US" dirty="0"/>
              <a:t>Add defensive metrics and team system information </a:t>
            </a:r>
          </a:p>
          <a:p>
            <a:pPr marL="742950" lvl="1" indent="-285750">
              <a:buFont typeface="Arial" panose="020B0604020202020204" pitchFamily="34" charset="0"/>
              <a:buChar char="•"/>
            </a:pPr>
            <a:r>
              <a:rPr lang="en-US" dirty="0"/>
              <a:t>Capture factors not reflected in box score stats </a:t>
            </a:r>
          </a:p>
          <a:p>
            <a:pPr marL="285750" indent="-285750">
              <a:buFont typeface="Arial" panose="020B0604020202020204" pitchFamily="34" charset="0"/>
              <a:buChar char="•"/>
            </a:pPr>
            <a:r>
              <a:rPr lang="en-US" dirty="0"/>
              <a:t>More Advanced Models</a:t>
            </a:r>
          </a:p>
          <a:p>
            <a:pPr marL="742950" lvl="1" indent="-285750">
              <a:buFont typeface="Arial" panose="020B0604020202020204" pitchFamily="34" charset="0"/>
              <a:buChar char="•"/>
            </a:pPr>
            <a:r>
              <a:rPr lang="en-US" dirty="0"/>
              <a:t>Use Random Forests or Neural Networks </a:t>
            </a:r>
          </a:p>
          <a:p>
            <a:pPr marL="742950" lvl="1" indent="-285750">
              <a:buFont typeface="Arial" panose="020B0604020202020204" pitchFamily="34" charset="0"/>
              <a:buChar char="•"/>
            </a:pPr>
            <a:r>
              <a:rPr lang="en-US" dirty="0"/>
              <a:t>Capture non-linear interactions between features </a:t>
            </a:r>
          </a:p>
          <a:p>
            <a:pPr marL="285750" indent="-285750">
              <a:buFont typeface="Arial" panose="020B0604020202020204" pitchFamily="34" charset="0"/>
              <a:buChar char="•"/>
            </a:pPr>
            <a:r>
              <a:rPr lang="en-US" dirty="0"/>
              <a:t>Improved Clustering Methods</a:t>
            </a:r>
          </a:p>
          <a:p>
            <a:pPr marL="742950" lvl="1" indent="-285750">
              <a:buFont typeface="Arial" panose="020B0604020202020204" pitchFamily="34" charset="0"/>
              <a:buChar char="•"/>
            </a:pPr>
            <a:r>
              <a:rPr lang="en-US" dirty="0"/>
              <a:t>Apply DBSCAN or model-based clustering </a:t>
            </a:r>
          </a:p>
          <a:p>
            <a:pPr marL="742950" lvl="1" indent="-285750">
              <a:buFont typeface="Arial" panose="020B0604020202020204" pitchFamily="34" charset="0"/>
              <a:buChar char="•"/>
            </a:pPr>
            <a:r>
              <a:rPr lang="en-US" dirty="0"/>
              <a:t>Better handle overlapping and uneven player groups</a:t>
            </a:r>
          </a:p>
        </p:txBody>
      </p:sp>
      <p:pic>
        <p:nvPicPr>
          <p:cNvPr id="21" name="Picture 20" descr="Nba China Games - Yao Ming Portrait by Andrew D. Bernstein">
            <a:extLst>
              <a:ext uri="{FF2B5EF4-FFF2-40B4-BE49-F238E27FC236}">
                <a16:creationId xmlns:a16="http://schemas.microsoft.com/office/drawing/2014/main" id="{94090970-9086-037D-2548-5D2858133E1B}"/>
              </a:ext>
            </a:extLst>
          </p:cNvPr>
          <p:cNvPicPr>
            <a:picLocks noChangeAspect="1"/>
          </p:cNvPicPr>
          <p:nvPr/>
        </p:nvPicPr>
        <p:blipFill>
          <a:blip r:embed="rId3"/>
          <a:stretch>
            <a:fillRect/>
          </a:stretch>
        </p:blipFill>
        <p:spPr>
          <a:xfrm>
            <a:off x="7527851" y="934312"/>
            <a:ext cx="4267909" cy="523788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F2A900"/>
          </a:solidFill>
          <a:ln w="12700">
            <a:solidFill>
              <a:srgbClr val="F2A900">
                <a:alpha val="0"/>
              </a:srgbClr>
            </a:solidFill>
            <a:prstDash val="solid"/>
          </a:ln>
        </p:spPr>
        <p:txBody>
          <a:bodyPr/>
          <a:lstStyle/>
          <a:p>
            <a:endParaRPr lang="en-US"/>
          </a:p>
        </p:txBody>
      </p:sp>
      <p:sp>
        <p:nvSpPr>
          <p:cNvPr id="3" name="Shape 1"/>
          <p:cNvSpPr/>
          <p:nvPr/>
        </p:nvSpPr>
        <p:spPr>
          <a:xfrm>
            <a:off x="0" y="6812280"/>
            <a:ext cx="12191695" cy="45720"/>
          </a:xfrm>
          <a:prstGeom prst="rect">
            <a:avLst/>
          </a:prstGeom>
          <a:solidFill>
            <a:srgbClr val="F2A900"/>
          </a:solidFill>
          <a:ln w="12700">
            <a:solidFill>
              <a:srgbClr val="F2A900">
                <a:alpha val="0"/>
              </a:srgbClr>
            </a:solidFill>
            <a:prstDash val="solid"/>
          </a:ln>
        </p:spPr>
        <p:txBody>
          <a:bodyPr/>
          <a:lstStyle/>
          <a:p>
            <a:endParaRPr lang="en-US"/>
          </a:p>
        </p:txBody>
      </p:sp>
      <p:sp>
        <p:nvSpPr>
          <p:cNvPr id="4" name="Text 2"/>
          <p:cNvSpPr/>
          <p:nvPr/>
        </p:nvSpPr>
        <p:spPr>
          <a:xfrm>
            <a:off x="685800" y="868680"/>
            <a:ext cx="4114800" cy="502920"/>
          </a:xfrm>
          <a:prstGeom prst="rect">
            <a:avLst/>
          </a:prstGeom>
          <a:noFill/>
          <a:ln/>
        </p:spPr>
        <p:txBody>
          <a:bodyPr wrap="square" lIns="0" tIns="0" rIns="0" bIns="0" rtlCol="0" anchor="ctr"/>
          <a:lstStyle/>
          <a:p>
            <a:pPr marL="0" indent="0">
              <a:buNone/>
            </a:pPr>
            <a:r>
              <a:rPr lang="en-US" sz="3600" b="1" dirty="0">
                <a:solidFill>
                  <a:srgbClr val="FFFFFF"/>
                </a:solidFill>
              </a:rPr>
              <a:t>Conclusion</a:t>
            </a:r>
            <a:endParaRPr lang="en-US" sz="3600" dirty="0"/>
          </a:p>
        </p:txBody>
      </p:sp>
      <p:sp>
        <p:nvSpPr>
          <p:cNvPr id="5" name="Shape 3"/>
          <p:cNvSpPr/>
          <p:nvPr/>
        </p:nvSpPr>
        <p:spPr>
          <a:xfrm>
            <a:off x="685800" y="1600200"/>
            <a:ext cx="3291840" cy="0"/>
          </a:xfrm>
          <a:prstGeom prst="line">
            <a:avLst/>
          </a:prstGeom>
          <a:noFill/>
          <a:ln w="38100">
            <a:solidFill>
              <a:srgbClr val="F2A900"/>
            </a:solidFill>
            <a:prstDash val="solid"/>
          </a:ln>
        </p:spPr>
        <p:txBody>
          <a:bodyPr/>
          <a:lstStyle/>
          <a:p>
            <a:endParaRPr lang="en-US"/>
          </a:p>
        </p:txBody>
      </p:sp>
      <p:sp>
        <p:nvSpPr>
          <p:cNvPr id="6" name="Text 4"/>
          <p:cNvSpPr/>
          <p:nvPr/>
        </p:nvSpPr>
        <p:spPr>
          <a:xfrm>
            <a:off x="777240" y="2148840"/>
            <a:ext cx="3200400" cy="320040"/>
          </a:xfrm>
          <a:prstGeom prst="rect">
            <a:avLst/>
          </a:prstGeom>
          <a:noFill/>
          <a:ln/>
        </p:spPr>
        <p:txBody>
          <a:bodyPr wrap="square" lIns="0" tIns="0" rIns="0" bIns="0" rtlCol="0" anchor="ctr"/>
          <a:lstStyle/>
          <a:p>
            <a:pPr marL="0" indent="0">
              <a:buNone/>
            </a:pPr>
            <a:r>
              <a:rPr lang="en-US" sz="1800" b="1" dirty="0">
                <a:solidFill>
                  <a:srgbClr val="F2A900"/>
                </a:solidFill>
              </a:rPr>
              <a:t>Main answer:</a:t>
            </a:r>
            <a:endParaRPr lang="en-US" sz="1800" dirty="0"/>
          </a:p>
        </p:txBody>
      </p:sp>
      <p:sp>
        <p:nvSpPr>
          <p:cNvPr id="7" name="Text 5"/>
          <p:cNvSpPr/>
          <p:nvPr/>
        </p:nvSpPr>
        <p:spPr>
          <a:xfrm>
            <a:off x="777240" y="2560320"/>
            <a:ext cx="6488974" cy="594360"/>
          </a:xfrm>
          <a:prstGeom prst="rect">
            <a:avLst/>
          </a:prstGeom>
          <a:noFill/>
          <a:ln/>
        </p:spPr>
        <p:txBody>
          <a:bodyPr wrap="square" lIns="0" tIns="0" rIns="0" bIns="0" rtlCol="0" anchor="ctr">
            <a:normAutofit fontScale="92500" lnSpcReduction="20000"/>
          </a:bodyPr>
          <a:lstStyle/>
          <a:p>
            <a:pPr marL="0" indent="0">
              <a:buNone/>
            </a:pPr>
            <a:r>
              <a:rPr lang="en-US" sz="2500" b="1" dirty="0">
                <a:solidFill>
                  <a:srgbClr val="FFFFFF"/>
                </a:solidFill>
              </a:rPr>
              <a:t>NBA statistical profiles can predict guard vs non-guard position with about 90% test accuracy.</a:t>
            </a:r>
            <a:endParaRPr lang="en-US" sz="2500" dirty="0"/>
          </a:p>
        </p:txBody>
      </p:sp>
      <p:sp>
        <p:nvSpPr>
          <p:cNvPr id="8" name="Text 6"/>
          <p:cNvSpPr/>
          <p:nvPr/>
        </p:nvSpPr>
        <p:spPr>
          <a:xfrm>
            <a:off x="777240" y="3703320"/>
            <a:ext cx="6244046" cy="502920"/>
          </a:xfrm>
          <a:prstGeom prst="rect">
            <a:avLst/>
          </a:prstGeom>
          <a:noFill/>
          <a:ln/>
        </p:spPr>
        <p:txBody>
          <a:bodyPr wrap="square" lIns="0" tIns="0" rIns="0" bIns="0" rtlCol="0" anchor="ctr">
            <a:normAutofit fontScale="92500" lnSpcReduction="20000"/>
          </a:bodyPr>
          <a:lstStyle/>
          <a:p>
            <a:pPr marL="0" indent="0">
              <a:buNone/>
            </a:pPr>
            <a:r>
              <a:rPr lang="en-US" sz="2100" dirty="0">
                <a:solidFill>
                  <a:srgbClr val="D7E7F7"/>
                </a:solidFill>
              </a:rPr>
              <a:t>But clustering shows that player roles overlap, reflecting the positional flexibility of modern basketball.</a:t>
            </a:r>
            <a:endParaRPr lang="en-US" sz="2100" dirty="0"/>
          </a:p>
        </p:txBody>
      </p:sp>
      <p:sp>
        <p:nvSpPr>
          <p:cNvPr id="9" name="Text 7"/>
          <p:cNvSpPr/>
          <p:nvPr/>
        </p:nvSpPr>
        <p:spPr>
          <a:xfrm>
            <a:off x="777240" y="5257800"/>
            <a:ext cx="2926080" cy="411480"/>
          </a:xfrm>
          <a:prstGeom prst="rect">
            <a:avLst/>
          </a:prstGeom>
          <a:noFill/>
          <a:ln/>
        </p:spPr>
        <p:txBody>
          <a:bodyPr wrap="square" lIns="0" tIns="0" rIns="0" bIns="0" rtlCol="0" anchor="ctr"/>
          <a:lstStyle/>
          <a:p>
            <a:pPr marL="0" indent="0">
              <a:buNone/>
            </a:pPr>
            <a:r>
              <a:rPr lang="en-US" sz="2600" b="1" dirty="0">
                <a:solidFill>
                  <a:srgbClr val="F2A900"/>
                </a:solidFill>
              </a:rPr>
              <a:t>Questions?</a:t>
            </a:r>
            <a:endParaRPr lang="en-US" sz="2600" dirty="0"/>
          </a:p>
        </p:txBody>
      </p:sp>
      <p:sp>
        <p:nvSpPr>
          <p:cNvPr id="11" name="Text 8"/>
          <p:cNvSpPr/>
          <p:nvPr/>
        </p:nvSpPr>
        <p:spPr>
          <a:xfrm>
            <a:off x="11475720" y="6519672"/>
            <a:ext cx="320040" cy="182880"/>
          </a:xfrm>
          <a:prstGeom prst="rect">
            <a:avLst/>
          </a:prstGeom>
          <a:noFill/>
          <a:ln/>
        </p:spPr>
        <p:txBody>
          <a:bodyPr wrap="square" lIns="0" tIns="0" rIns="0" bIns="0" rtlCol="0" anchor="ctr"/>
          <a:lstStyle/>
          <a:p>
            <a:pPr marL="0" indent="0" algn="r">
              <a:buNone/>
            </a:pPr>
            <a:r>
              <a:rPr lang="en-US" sz="800" dirty="0">
                <a:solidFill>
                  <a:srgbClr val="4B5563"/>
                </a:solidFill>
              </a:rPr>
              <a:t>16</a:t>
            </a:r>
            <a:endParaRPr lang="en-US" sz="800" dirty="0"/>
          </a:p>
        </p:txBody>
      </p:sp>
      <p:pic>
        <p:nvPicPr>
          <p:cNvPr id="12" name="Picture 11">
            <a:extLst>
              <a:ext uri="{FF2B5EF4-FFF2-40B4-BE49-F238E27FC236}">
                <a16:creationId xmlns:a16="http://schemas.microsoft.com/office/drawing/2014/main" id="{6DA8F688-3F07-466B-7D99-FFDE9A0B8BD6}"/>
              </a:ext>
            </a:extLst>
          </p:cNvPr>
          <p:cNvPicPr>
            <a:picLocks noChangeAspect="1"/>
          </p:cNvPicPr>
          <p:nvPr/>
        </p:nvPicPr>
        <p:blipFill>
          <a:blip r:embed="rId3"/>
          <a:stretch>
            <a:fillRect/>
          </a:stretch>
        </p:blipFill>
        <p:spPr>
          <a:xfrm>
            <a:off x="7266214" y="773166"/>
            <a:ext cx="4776218" cy="603911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C7580AF-EEA4-1064-EA13-B9B43B049A4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A6AE7C6-023E-D32E-EA1B-3A60C1AEBAE4}"/>
              </a:ext>
            </a:extLst>
          </p:cNvPr>
          <p:cNvSpPr/>
          <p:nvPr/>
        </p:nvSpPr>
        <p:spPr>
          <a:xfrm>
            <a:off x="0" y="0"/>
            <a:ext cx="12191695" cy="109728"/>
          </a:xfrm>
          <a:prstGeom prst="rect">
            <a:avLst/>
          </a:prstGeom>
          <a:solidFill>
            <a:schemeClr val="tx1"/>
          </a:solidFill>
          <a:ln w="12700">
            <a:solidFill>
              <a:srgbClr val="F2A900">
                <a:alpha val="0"/>
              </a:srgbClr>
            </a:solidFill>
            <a:prstDash val="solid"/>
          </a:ln>
        </p:spPr>
        <p:txBody>
          <a:bodyPr/>
          <a:lstStyle/>
          <a:p>
            <a:endParaRPr lang="en-US"/>
          </a:p>
        </p:txBody>
      </p:sp>
      <p:sp>
        <p:nvSpPr>
          <p:cNvPr id="3" name="Shape 1">
            <a:extLst>
              <a:ext uri="{FF2B5EF4-FFF2-40B4-BE49-F238E27FC236}">
                <a16:creationId xmlns:a16="http://schemas.microsoft.com/office/drawing/2014/main" id="{16BFD90C-0963-8071-A8C6-D2D1E19EA1C8}"/>
              </a:ext>
            </a:extLst>
          </p:cNvPr>
          <p:cNvSpPr/>
          <p:nvPr/>
        </p:nvSpPr>
        <p:spPr>
          <a:xfrm>
            <a:off x="0" y="6812280"/>
            <a:ext cx="12191695" cy="45720"/>
          </a:xfrm>
          <a:prstGeom prst="rect">
            <a:avLst/>
          </a:prstGeom>
          <a:solidFill>
            <a:srgbClr val="0B1F3A"/>
          </a:solidFill>
          <a:ln w="12700">
            <a:solidFill>
              <a:srgbClr val="0B1F3A">
                <a:alpha val="0"/>
              </a:srgbClr>
            </a:solidFill>
            <a:prstDash val="solid"/>
          </a:ln>
        </p:spPr>
        <p:txBody>
          <a:bodyPr/>
          <a:lstStyle/>
          <a:p>
            <a:endParaRPr lang="en-US"/>
          </a:p>
        </p:txBody>
      </p:sp>
      <p:sp>
        <p:nvSpPr>
          <p:cNvPr id="4" name="Text 2">
            <a:extLst>
              <a:ext uri="{FF2B5EF4-FFF2-40B4-BE49-F238E27FC236}">
                <a16:creationId xmlns:a16="http://schemas.microsoft.com/office/drawing/2014/main" id="{FB757A7E-65A0-3E6F-1792-B3CE69A77340}"/>
              </a:ext>
            </a:extLst>
          </p:cNvPr>
          <p:cNvSpPr/>
          <p:nvPr/>
        </p:nvSpPr>
        <p:spPr>
          <a:xfrm>
            <a:off x="502920" y="347472"/>
            <a:ext cx="8138160" cy="457200"/>
          </a:xfrm>
          <a:prstGeom prst="rect">
            <a:avLst/>
          </a:prstGeom>
          <a:noFill/>
          <a:ln/>
        </p:spPr>
        <p:txBody>
          <a:bodyPr wrap="square" lIns="0" tIns="0" rIns="0" bIns="0" rtlCol="0" anchor="ctr"/>
          <a:lstStyle/>
          <a:p>
            <a:pPr marL="0" indent="0">
              <a:buNone/>
            </a:pPr>
            <a:r>
              <a:rPr lang="en-US" sz="2700" b="1" dirty="0">
                <a:solidFill>
                  <a:srgbClr val="0B1F3A"/>
                </a:solidFill>
                <a:latin typeface="Aptos Display" pitchFamily="34" charset="0"/>
                <a:ea typeface="Aptos Display" pitchFamily="34" charset="-122"/>
                <a:cs typeface="Aptos Display" pitchFamily="34" charset="-120"/>
              </a:rPr>
              <a:t>References</a:t>
            </a:r>
            <a:endParaRPr lang="en-US" sz="2700" dirty="0"/>
          </a:p>
        </p:txBody>
      </p:sp>
      <p:sp>
        <p:nvSpPr>
          <p:cNvPr id="6" name="Text 4">
            <a:extLst>
              <a:ext uri="{FF2B5EF4-FFF2-40B4-BE49-F238E27FC236}">
                <a16:creationId xmlns:a16="http://schemas.microsoft.com/office/drawing/2014/main" id="{29D38BF8-099E-381C-EBB9-6D502B545FE4}"/>
              </a:ext>
            </a:extLst>
          </p:cNvPr>
          <p:cNvSpPr/>
          <p:nvPr/>
        </p:nvSpPr>
        <p:spPr>
          <a:xfrm>
            <a:off x="502920" y="1371600"/>
            <a:ext cx="11689080" cy="2991394"/>
          </a:xfrm>
          <a:prstGeom prst="rect">
            <a:avLst/>
          </a:prstGeom>
          <a:noFill/>
          <a:ln/>
        </p:spPr>
        <p:txBody>
          <a:bodyPr wrap="square" lIns="762" tIns="762" rIns="762" bIns="762" rtlCol="0" anchor="t">
            <a:normAutofit/>
          </a:bodyPr>
          <a:lstStyle/>
          <a:p>
            <a:r>
              <a:rPr lang="en-US" dirty="0">
                <a:solidFill>
                  <a:srgbClr val="0B1F3A"/>
                </a:solidFill>
                <a:hlinkClick r:id="rId3"/>
              </a:rPr>
              <a:t>https://www.facebook.com/groups/205905269249138/posts/762309966941996/</a:t>
            </a:r>
            <a:endParaRPr lang="en-US" dirty="0">
              <a:solidFill>
                <a:srgbClr val="0B1F3A"/>
              </a:solidFill>
            </a:endParaRPr>
          </a:p>
          <a:p>
            <a:r>
              <a:rPr lang="en-US" dirty="0">
                <a:hlinkClick r:id="rId4"/>
              </a:rPr>
              <a:t>https://uniqrenders.com/athletes/basketball/demar-derozan-sacramento-kings-nba-usa-american-basketball-players-7359</a:t>
            </a:r>
            <a:endParaRPr lang="en-US" dirty="0"/>
          </a:p>
          <a:p>
            <a:r>
              <a:rPr lang="en-US" dirty="0">
                <a:hlinkClick r:id="rId5"/>
              </a:rPr>
              <a:t>https://medium.com/learning-data/why-feature-scaling-is-essential-in-machine-learning-dfd6e7e51671</a:t>
            </a:r>
            <a:endParaRPr lang="en-US" dirty="0"/>
          </a:p>
          <a:p>
            <a:r>
              <a:rPr lang="en-US" dirty="0">
                <a:hlinkClick r:id="rId6"/>
              </a:rPr>
              <a:t>https://kritikalsolutions.com/wp-content/uploads/2024/02/image-4.png</a:t>
            </a:r>
            <a:endParaRPr lang="en-US" dirty="0"/>
          </a:p>
          <a:p>
            <a:r>
              <a:rPr lang="en-US" dirty="0">
                <a:hlinkClick r:id="rId7"/>
              </a:rPr>
              <a:t>https://www.sports-reference.com/stathead/basketball/player-season-finder.cgi?request=1&amp;order_by=pts_per_poss_75&amp;year_min=1982&amp;year_max=2026&amp;display_type=per_poss_75&amp;ccomp%5B1%5D=gt&amp;cval%5B1%5D=42&amp;cstat%5B1%5D=games\</a:t>
            </a:r>
            <a:endParaRPr lang="en-US" dirty="0"/>
          </a:p>
          <a:p>
            <a:endParaRPr lang="en-US" sz="1800" dirty="0"/>
          </a:p>
        </p:txBody>
      </p:sp>
      <p:sp>
        <p:nvSpPr>
          <p:cNvPr id="11" name="Text 8">
            <a:extLst>
              <a:ext uri="{FF2B5EF4-FFF2-40B4-BE49-F238E27FC236}">
                <a16:creationId xmlns:a16="http://schemas.microsoft.com/office/drawing/2014/main" id="{662FA9D9-DB85-2D9A-A230-4CE08B09B7EB}"/>
              </a:ext>
            </a:extLst>
          </p:cNvPr>
          <p:cNvSpPr/>
          <p:nvPr/>
        </p:nvSpPr>
        <p:spPr>
          <a:xfrm>
            <a:off x="11475720" y="6519672"/>
            <a:ext cx="320040" cy="182880"/>
          </a:xfrm>
          <a:prstGeom prst="rect">
            <a:avLst/>
          </a:prstGeom>
          <a:noFill/>
          <a:ln/>
        </p:spPr>
        <p:txBody>
          <a:bodyPr wrap="square" lIns="0" tIns="0" rIns="0" bIns="0" rtlCol="0" anchor="ctr"/>
          <a:lstStyle/>
          <a:p>
            <a:pPr marL="0" indent="0" algn="r">
              <a:buNone/>
            </a:pPr>
            <a:r>
              <a:rPr lang="en-US" sz="800" dirty="0">
                <a:solidFill>
                  <a:srgbClr val="4B5563"/>
                </a:solidFill>
              </a:rPr>
              <a:t>14</a:t>
            </a:r>
            <a:endParaRPr lang="en-US" sz="800" dirty="0"/>
          </a:p>
        </p:txBody>
      </p:sp>
    </p:spTree>
    <p:extLst>
      <p:ext uri="{BB962C8B-B14F-4D97-AF65-F5344CB8AC3E}">
        <p14:creationId xmlns:p14="http://schemas.microsoft.com/office/powerpoint/2010/main" val="16951484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245</TotalTime>
  <Words>2502</Words>
  <Application>Microsoft Macintosh PowerPoint</Application>
  <PresentationFormat>Widescreen</PresentationFormat>
  <Paragraphs>327</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Aptos Display</vt:lpstr>
      <vt:lpstr>Arial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NBA Player Positions Using Statistical Profiles</dc:title>
  <dc:subject>MATH 4323 NBA Player Position Classification Project</dc:subject>
  <dc:creator>OpenAI</dc:creator>
  <cp:lastModifiedBy>Farrakh, Waleed A</cp:lastModifiedBy>
  <cp:revision>11</cp:revision>
  <dcterms:created xsi:type="dcterms:W3CDTF">2026-05-04T04:57:20Z</dcterms:created>
  <dcterms:modified xsi:type="dcterms:W3CDTF">2026-05-04T09:03:57Z</dcterms:modified>
</cp:coreProperties>
</file>